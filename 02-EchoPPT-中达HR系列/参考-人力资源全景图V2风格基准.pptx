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68" r:id="rId4"/>
    <p:sldId id="269" r:id="rId6"/>
    <p:sldId id="270" r:id="rId7"/>
    <p:sldId id="272" r:id="rId8"/>
    <p:sldId id="271" r:id="rId9"/>
    <p:sldId id="273" r:id="rId10"/>
    <p:sldId id="275" r:id="rId11"/>
    <p:sldId id="276" r:id="rId12"/>
    <p:sldId id="282" r:id="rId13"/>
    <p:sldId id="278" r:id="rId14"/>
    <p:sldId id="281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75" userDrawn="1">
          <p15:clr>
            <a:srgbClr val="747775"/>
          </p15:clr>
        </p15:guide>
        <p15:guide id="2" pos="292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276"/>
    <a:srgbClr val="F5EEF5"/>
    <a:srgbClr val="3A2F40"/>
    <a:srgbClr val="7C5E7C"/>
    <a:srgbClr val="ED7D31"/>
    <a:srgbClr val="BC9EAE"/>
    <a:srgbClr val="E15027"/>
    <a:srgbClr val="C81709"/>
    <a:srgbClr val="F641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75"/>
        <p:guide pos="2926"/>
      </p:guideLst>
    </p:cSldViewPr>
  </p:slide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HR | </a:t>
            </a:r>
            <a:r>
              <a:rPr lang="zh-CN" altLang="en-US"/>
              <a:t>业务增长的</a:t>
            </a:r>
            <a:r>
              <a:rPr lang="zh-CN" altLang="en-US"/>
              <a:t>合伙人？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标准前置——先定「人才画像」再找人；招对人远比招到人更重要。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从需求到融入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结果反哺下一轮目标设定，绩效不是终点而是起点。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>
              <a:spcBef>
                <a:spcPts val="0"/>
              </a:spcBef>
              <a:spcAft>
                <a:spcPts val="400"/>
              </a:spcAft>
            </a:pP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>
              <a:spcBef>
                <a:spcPts val="0"/>
              </a:spcBef>
              <a:spcAft>
                <a:spcPts val="400"/>
              </a:spcAft>
            </a:pP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3" name="AutoShape 3"/>
          <p:cNvSpPr/>
          <p:nvPr>
            <p:ph type="body" sz="quarter" idx="2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762000" indent="-304800"/>
            <a:lvl3pPr marL="1168400" indent="-254000"/>
            <a:lvl4pPr marL="1600200" indent="-228600"/>
            <a:lvl5pPr marL="2057400" indent="-228600"/>
            <a:lvl6pPr marL="2514600" indent="-228600"/>
            <a:lvl7pPr marL="2971800" indent="-228600"/>
            <a:lvl8pPr marL="3429000" indent="-228600"/>
            <a:lvl9pPr marL="3886200" indent="-228600"/>
          </a:lstStyle>
          <a:p>
            <a:pPr marL="355600" indent="-355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编辑母版文本样式</a:t>
            </a:r>
            <a:endParaRPr lang="en-US" sz="28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762000" lvl="1" indent="-3048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Char char="○"/>
            </a:pPr>
            <a:r>
              <a:rPr lang="en-US" sz="2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第二级</a:t>
            </a:r>
            <a:endParaRPr lang="en-US" sz="2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1168400" lvl="2" indent="-2540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20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第三级</a:t>
            </a:r>
            <a:endParaRPr lang="en-US" sz="20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第四级</a:t>
            </a:r>
            <a:endParaRPr lang="en-US" sz="18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Char char="○"/>
            </a:pPr>
            <a:r>
              <a:rPr lang="en-US" sz="18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第五级</a:t>
            </a:r>
            <a:endParaRPr lang="en-US" sz="18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4" name="AutoShape 4"/>
          <p:cNvSpPr/>
          <p:nvPr>
            <p:ph type="body" sz="quarter" idx="3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1.png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pic>
        <p:nvPicPr>
          <p:cNvPr id="1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" name="Group 1"/>
          <p:cNvGrpSpPr/>
          <p:nvPr/>
        </p:nvGrpSpPr>
        <p:grpSpPr>
          <a:xfrm>
            <a:off x="7561943" y="-51975"/>
            <a:ext cx="4658913" cy="3063056"/>
            <a:chOff x="7561943" y="-51975"/>
            <a:chExt cx="4658913" cy="3063056"/>
          </a:xfrm>
        </p:grpSpPr>
        <p:sp>
          <p:nvSpPr>
            <p:cNvPr id="2" name="AutoShape 2"/>
            <p:cNvSpPr/>
            <p:nvPr/>
          </p:nvSpPr>
          <p:spPr>
            <a:xfrm>
              <a:off x="7561943" y="-51975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3" name="AutoShape 3"/>
            <p:cNvSpPr/>
            <p:nvPr/>
          </p:nvSpPr>
          <p:spPr>
            <a:xfrm>
              <a:off x="7561943" y="346580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7561943" y="74513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7561943" y="114369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7561943" y="154224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561943" y="194080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7561943" y="2339357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7561943" y="2737909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658378" y="-51975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8658378" y="346580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8658378" y="74513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8658378" y="114369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8658378" y="154224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8658378" y="194080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8658378" y="2339357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8658378" y="2737909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8110161" y="-51975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8110161" y="346580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8110161" y="74513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8110161" y="114369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8110161" y="154224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8110161" y="194080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8110161" y="2339357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8110161" y="2737909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9754813" y="-51975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9754813" y="346580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9754813" y="74513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9754813" y="114369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9754813" y="154224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9754813" y="194080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9754813" y="2339357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9754813" y="2737909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9206596" y="-51975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9206596" y="346580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9206596" y="74513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9206596" y="114369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9206596" y="154224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9206596" y="194080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41" name="AutoShape 41"/>
            <p:cNvSpPr/>
            <p:nvPr/>
          </p:nvSpPr>
          <p:spPr>
            <a:xfrm>
              <a:off x="9206596" y="2339357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9206596" y="2737909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10851249" y="-51975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10851249" y="346580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10851249" y="74513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46" name="AutoShape 46"/>
            <p:cNvSpPr/>
            <p:nvPr/>
          </p:nvSpPr>
          <p:spPr>
            <a:xfrm>
              <a:off x="10851249" y="114369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47" name="AutoShape 47"/>
            <p:cNvSpPr/>
            <p:nvPr/>
          </p:nvSpPr>
          <p:spPr>
            <a:xfrm>
              <a:off x="10851249" y="154224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10851249" y="194080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10851249" y="2339357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50" name="AutoShape 50"/>
            <p:cNvSpPr/>
            <p:nvPr/>
          </p:nvSpPr>
          <p:spPr>
            <a:xfrm>
              <a:off x="10851249" y="2737909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51" name="AutoShape 51"/>
            <p:cNvSpPr/>
            <p:nvPr/>
          </p:nvSpPr>
          <p:spPr>
            <a:xfrm>
              <a:off x="10303031" y="-51975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52" name="AutoShape 52"/>
            <p:cNvSpPr/>
            <p:nvPr/>
          </p:nvSpPr>
          <p:spPr>
            <a:xfrm>
              <a:off x="10303031" y="346580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53" name="AutoShape 53"/>
            <p:cNvSpPr/>
            <p:nvPr/>
          </p:nvSpPr>
          <p:spPr>
            <a:xfrm>
              <a:off x="10303031" y="74513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54" name="AutoShape 54"/>
            <p:cNvSpPr/>
            <p:nvPr/>
          </p:nvSpPr>
          <p:spPr>
            <a:xfrm>
              <a:off x="10303031" y="114369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55" name="AutoShape 55"/>
            <p:cNvSpPr/>
            <p:nvPr/>
          </p:nvSpPr>
          <p:spPr>
            <a:xfrm>
              <a:off x="10303031" y="154224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56" name="AutoShape 56"/>
            <p:cNvSpPr/>
            <p:nvPr/>
          </p:nvSpPr>
          <p:spPr>
            <a:xfrm>
              <a:off x="10303031" y="194080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57" name="AutoShape 57"/>
            <p:cNvSpPr/>
            <p:nvPr/>
          </p:nvSpPr>
          <p:spPr>
            <a:xfrm>
              <a:off x="10303031" y="2339357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58" name="AutoShape 58"/>
            <p:cNvSpPr/>
            <p:nvPr/>
          </p:nvSpPr>
          <p:spPr>
            <a:xfrm>
              <a:off x="10303031" y="2737909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59" name="AutoShape 59"/>
            <p:cNvSpPr/>
            <p:nvPr/>
          </p:nvSpPr>
          <p:spPr>
            <a:xfrm>
              <a:off x="11399466" y="-51975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60" name="AutoShape 60"/>
            <p:cNvSpPr/>
            <p:nvPr/>
          </p:nvSpPr>
          <p:spPr>
            <a:xfrm>
              <a:off x="11399466" y="346580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61" name="AutoShape 61"/>
            <p:cNvSpPr/>
            <p:nvPr/>
          </p:nvSpPr>
          <p:spPr>
            <a:xfrm>
              <a:off x="11399466" y="74513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62" name="AutoShape 62"/>
            <p:cNvSpPr/>
            <p:nvPr/>
          </p:nvSpPr>
          <p:spPr>
            <a:xfrm>
              <a:off x="11399466" y="114369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63" name="AutoShape 63"/>
            <p:cNvSpPr/>
            <p:nvPr/>
          </p:nvSpPr>
          <p:spPr>
            <a:xfrm>
              <a:off x="11399466" y="154224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64" name="AutoShape 64"/>
            <p:cNvSpPr/>
            <p:nvPr/>
          </p:nvSpPr>
          <p:spPr>
            <a:xfrm>
              <a:off x="11399466" y="194080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65" name="AutoShape 65"/>
            <p:cNvSpPr/>
            <p:nvPr/>
          </p:nvSpPr>
          <p:spPr>
            <a:xfrm>
              <a:off x="11399466" y="2339357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66" name="AutoShape 66"/>
            <p:cNvSpPr/>
            <p:nvPr/>
          </p:nvSpPr>
          <p:spPr>
            <a:xfrm>
              <a:off x="11399466" y="2737909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67" name="AutoShape 67"/>
            <p:cNvSpPr/>
            <p:nvPr/>
          </p:nvSpPr>
          <p:spPr>
            <a:xfrm>
              <a:off x="11947684" y="-51975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68" name="AutoShape 68"/>
            <p:cNvSpPr/>
            <p:nvPr/>
          </p:nvSpPr>
          <p:spPr>
            <a:xfrm>
              <a:off x="11947684" y="346580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69" name="AutoShape 69"/>
            <p:cNvSpPr/>
            <p:nvPr/>
          </p:nvSpPr>
          <p:spPr>
            <a:xfrm>
              <a:off x="11947684" y="74513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70" name="AutoShape 70"/>
            <p:cNvSpPr/>
            <p:nvPr/>
          </p:nvSpPr>
          <p:spPr>
            <a:xfrm>
              <a:off x="11947684" y="114369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71" name="AutoShape 71"/>
            <p:cNvSpPr/>
            <p:nvPr/>
          </p:nvSpPr>
          <p:spPr>
            <a:xfrm>
              <a:off x="11947684" y="1542246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72" name="AutoShape 72"/>
            <p:cNvSpPr/>
            <p:nvPr/>
          </p:nvSpPr>
          <p:spPr>
            <a:xfrm>
              <a:off x="11947684" y="1940801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73" name="AutoShape 73"/>
            <p:cNvSpPr/>
            <p:nvPr/>
          </p:nvSpPr>
          <p:spPr>
            <a:xfrm>
              <a:off x="11947684" y="2339357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  <p:sp>
          <p:nvSpPr>
            <p:cNvPr id="74" name="AutoShape 74"/>
            <p:cNvSpPr/>
            <p:nvPr/>
          </p:nvSpPr>
          <p:spPr>
            <a:xfrm>
              <a:off x="11947684" y="2737909"/>
              <a:ext cx="273172" cy="273172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C8A18">
                    <a:alpha val="25000"/>
                  </a:srgbClr>
                </a:gs>
              </a:gsLst>
              <a:lin ang="189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lang="en-US" sz="1100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-3" y="5063849"/>
            <a:ext cx="2181119" cy="1794151"/>
            <a:chOff x="-3" y="5063849"/>
            <a:chExt cx="2181119" cy="1794151"/>
          </a:xfrm>
        </p:grpSpPr>
        <p:grpSp>
          <p:nvGrpSpPr>
            <p:cNvPr id="76" name="Group 76"/>
            <p:cNvGrpSpPr/>
            <p:nvPr/>
          </p:nvGrpSpPr>
          <p:grpSpPr>
            <a:xfrm>
              <a:off x="-3" y="5063849"/>
              <a:ext cx="160007" cy="1794151"/>
              <a:chOff x="-3" y="5063849"/>
              <a:chExt cx="160007" cy="1794151"/>
            </a:xfrm>
          </p:grpSpPr>
          <p:sp>
            <p:nvSpPr>
              <p:cNvPr id="77" name="AutoShape 77"/>
              <p:cNvSpPr/>
              <p:nvPr/>
            </p:nvSpPr>
            <p:spPr>
              <a:xfrm>
                <a:off x="-3" y="5063849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8" name="AutoShape 78"/>
              <p:cNvSpPr/>
              <p:nvPr/>
            </p:nvSpPr>
            <p:spPr>
              <a:xfrm>
                <a:off x="-3" y="5297299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9" name="AutoShape 79"/>
              <p:cNvSpPr/>
              <p:nvPr/>
            </p:nvSpPr>
            <p:spPr>
              <a:xfrm>
                <a:off x="-3" y="553074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0" name="AutoShape 80"/>
              <p:cNvSpPr/>
              <p:nvPr/>
            </p:nvSpPr>
            <p:spPr>
              <a:xfrm>
                <a:off x="-3" y="576419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1" name="AutoShape 81"/>
              <p:cNvSpPr/>
              <p:nvPr/>
            </p:nvSpPr>
            <p:spPr>
              <a:xfrm>
                <a:off x="-3" y="599764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2" name="AutoShape 82"/>
              <p:cNvSpPr/>
              <p:nvPr/>
            </p:nvSpPr>
            <p:spPr>
              <a:xfrm>
                <a:off x="-3" y="6231095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3" name="AutoShape 83"/>
              <p:cNvSpPr/>
              <p:nvPr/>
            </p:nvSpPr>
            <p:spPr>
              <a:xfrm>
                <a:off x="-3" y="6464545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4" name="AutoShape 84"/>
              <p:cNvSpPr/>
              <p:nvPr/>
            </p:nvSpPr>
            <p:spPr>
              <a:xfrm>
                <a:off x="-3" y="6697993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08442" y="5063849"/>
              <a:ext cx="160007" cy="1794151"/>
              <a:chOff x="808442" y="5063849"/>
              <a:chExt cx="160007" cy="1794151"/>
            </a:xfrm>
          </p:grpSpPr>
          <p:sp>
            <p:nvSpPr>
              <p:cNvPr id="86" name="AutoShape 86"/>
              <p:cNvSpPr/>
              <p:nvPr/>
            </p:nvSpPr>
            <p:spPr>
              <a:xfrm>
                <a:off x="808442" y="5063849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7" name="AutoShape 87"/>
              <p:cNvSpPr/>
              <p:nvPr/>
            </p:nvSpPr>
            <p:spPr>
              <a:xfrm>
                <a:off x="808442" y="5297299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8" name="AutoShape 88"/>
              <p:cNvSpPr/>
              <p:nvPr/>
            </p:nvSpPr>
            <p:spPr>
              <a:xfrm>
                <a:off x="808442" y="553074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9" name="AutoShape 89"/>
              <p:cNvSpPr/>
              <p:nvPr/>
            </p:nvSpPr>
            <p:spPr>
              <a:xfrm>
                <a:off x="808442" y="576419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0" name="AutoShape 90"/>
              <p:cNvSpPr/>
              <p:nvPr/>
            </p:nvSpPr>
            <p:spPr>
              <a:xfrm>
                <a:off x="808442" y="599764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1" name="AutoShape 91"/>
              <p:cNvSpPr/>
              <p:nvPr/>
            </p:nvSpPr>
            <p:spPr>
              <a:xfrm>
                <a:off x="808442" y="6231095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2" name="AutoShape 92"/>
              <p:cNvSpPr/>
              <p:nvPr/>
            </p:nvSpPr>
            <p:spPr>
              <a:xfrm>
                <a:off x="808442" y="6464545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3" name="AutoShape 93"/>
              <p:cNvSpPr/>
              <p:nvPr/>
            </p:nvSpPr>
            <p:spPr>
              <a:xfrm>
                <a:off x="808442" y="6697993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404219" y="5063849"/>
              <a:ext cx="160007" cy="1794151"/>
              <a:chOff x="404219" y="5063849"/>
              <a:chExt cx="160007" cy="1794151"/>
            </a:xfrm>
          </p:grpSpPr>
          <p:sp>
            <p:nvSpPr>
              <p:cNvPr id="95" name="AutoShape 95"/>
              <p:cNvSpPr/>
              <p:nvPr/>
            </p:nvSpPr>
            <p:spPr>
              <a:xfrm>
                <a:off x="404219" y="5063849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6" name="AutoShape 96"/>
              <p:cNvSpPr/>
              <p:nvPr/>
            </p:nvSpPr>
            <p:spPr>
              <a:xfrm>
                <a:off x="404219" y="5297299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7" name="AutoShape 97"/>
              <p:cNvSpPr/>
              <p:nvPr/>
            </p:nvSpPr>
            <p:spPr>
              <a:xfrm>
                <a:off x="404219" y="553074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8" name="AutoShape 98"/>
              <p:cNvSpPr/>
              <p:nvPr/>
            </p:nvSpPr>
            <p:spPr>
              <a:xfrm>
                <a:off x="404219" y="576419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9" name="AutoShape 99"/>
              <p:cNvSpPr/>
              <p:nvPr/>
            </p:nvSpPr>
            <p:spPr>
              <a:xfrm>
                <a:off x="404219" y="599764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0" name="AutoShape 100"/>
              <p:cNvSpPr/>
              <p:nvPr/>
            </p:nvSpPr>
            <p:spPr>
              <a:xfrm>
                <a:off x="404219" y="6231095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1" name="AutoShape 101"/>
              <p:cNvSpPr/>
              <p:nvPr/>
            </p:nvSpPr>
            <p:spPr>
              <a:xfrm>
                <a:off x="404219" y="6464545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2" name="AutoShape 102"/>
              <p:cNvSpPr/>
              <p:nvPr/>
            </p:nvSpPr>
            <p:spPr>
              <a:xfrm>
                <a:off x="404219" y="6697993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1212664" y="5063849"/>
              <a:ext cx="160007" cy="1794151"/>
              <a:chOff x="1212664" y="5063849"/>
              <a:chExt cx="160007" cy="1794151"/>
            </a:xfrm>
          </p:grpSpPr>
          <p:sp>
            <p:nvSpPr>
              <p:cNvPr id="104" name="AutoShape 104"/>
              <p:cNvSpPr/>
              <p:nvPr/>
            </p:nvSpPr>
            <p:spPr>
              <a:xfrm>
                <a:off x="1212664" y="5063849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5" name="AutoShape 105"/>
              <p:cNvSpPr/>
              <p:nvPr/>
            </p:nvSpPr>
            <p:spPr>
              <a:xfrm>
                <a:off x="1212664" y="5297299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6" name="AutoShape 106"/>
              <p:cNvSpPr/>
              <p:nvPr/>
            </p:nvSpPr>
            <p:spPr>
              <a:xfrm>
                <a:off x="1212664" y="553074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7" name="AutoShape 107"/>
              <p:cNvSpPr/>
              <p:nvPr/>
            </p:nvSpPr>
            <p:spPr>
              <a:xfrm>
                <a:off x="1212664" y="576419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8" name="AutoShape 108"/>
              <p:cNvSpPr/>
              <p:nvPr/>
            </p:nvSpPr>
            <p:spPr>
              <a:xfrm>
                <a:off x="1212664" y="599764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9" name="AutoShape 109"/>
              <p:cNvSpPr/>
              <p:nvPr/>
            </p:nvSpPr>
            <p:spPr>
              <a:xfrm>
                <a:off x="1212664" y="6231095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0" name="AutoShape 110"/>
              <p:cNvSpPr/>
              <p:nvPr/>
            </p:nvSpPr>
            <p:spPr>
              <a:xfrm>
                <a:off x="1212664" y="6464545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1" name="AutoShape 111"/>
              <p:cNvSpPr/>
              <p:nvPr/>
            </p:nvSpPr>
            <p:spPr>
              <a:xfrm>
                <a:off x="1212664" y="6697993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1616887" y="5063849"/>
              <a:ext cx="160007" cy="1794151"/>
              <a:chOff x="1616887" y="5063849"/>
              <a:chExt cx="160007" cy="1794151"/>
            </a:xfrm>
          </p:grpSpPr>
          <p:sp>
            <p:nvSpPr>
              <p:cNvPr id="113" name="AutoShape 113"/>
              <p:cNvSpPr/>
              <p:nvPr/>
            </p:nvSpPr>
            <p:spPr>
              <a:xfrm>
                <a:off x="1616887" y="5063849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4" name="AutoShape 114"/>
              <p:cNvSpPr/>
              <p:nvPr/>
            </p:nvSpPr>
            <p:spPr>
              <a:xfrm>
                <a:off x="1616887" y="5297299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5" name="AutoShape 115"/>
              <p:cNvSpPr/>
              <p:nvPr/>
            </p:nvSpPr>
            <p:spPr>
              <a:xfrm>
                <a:off x="1616887" y="553074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6" name="AutoShape 116"/>
              <p:cNvSpPr/>
              <p:nvPr/>
            </p:nvSpPr>
            <p:spPr>
              <a:xfrm>
                <a:off x="1616887" y="576419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7" name="AutoShape 117"/>
              <p:cNvSpPr/>
              <p:nvPr/>
            </p:nvSpPr>
            <p:spPr>
              <a:xfrm>
                <a:off x="1616887" y="599764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8" name="AutoShape 118"/>
              <p:cNvSpPr/>
              <p:nvPr/>
            </p:nvSpPr>
            <p:spPr>
              <a:xfrm>
                <a:off x="1616887" y="6231095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9" name="AutoShape 119"/>
              <p:cNvSpPr/>
              <p:nvPr/>
            </p:nvSpPr>
            <p:spPr>
              <a:xfrm>
                <a:off x="1616887" y="6464545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0" name="AutoShape 120"/>
              <p:cNvSpPr/>
              <p:nvPr/>
            </p:nvSpPr>
            <p:spPr>
              <a:xfrm>
                <a:off x="1616887" y="6697993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2021109" y="5063849"/>
              <a:ext cx="160007" cy="1794151"/>
              <a:chOff x="2021109" y="5063849"/>
              <a:chExt cx="160007" cy="1794151"/>
            </a:xfrm>
          </p:grpSpPr>
          <p:sp>
            <p:nvSpPr>
              <p:cNvPr id="122" name="AutoShape 122"/>
              <p:cNvSpPr/>
              <p:nvPr/>
            </p:nvSpPr>
            <p:spPr>
              <a:xfrm>
                <a:off x="2021109" y="5063849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3" name="AutoShape 123"/>
              <p:cNvSpPr/>
              <p:nvPr/>
            </p:nvSpPr>
            <p:spPr>
              <a:xfrm>
                <a:off x="2021109" y="5297299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4" name="AutoShape 124"/>
              <p:cNvSpPr/>
              <p:nvPr/>
            </p:nvSpPr>
            <p:spPr>
              <a:xfrm>
                <a:off x="2021109" y="553074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5" name="AutoShape 125"/>
              <p:cNvSpPr/>
              <p:nvPr/>
            </p:nvSpPr>
            <p:spPr>
              <a:xfrm>
                <a:off x="2021109" y="576419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6" name="AutoShape 126"/>
              <p:cNvSpPr/>
              <p:nvPr/>
            </p:nvSpPr>
            <p:spPr>
              <a:xfrm>
                <a:off x="2021109" y="5997647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7" name="AutoShape 127"/>
              <p:cNvSpPr/>
              <p:nvPr/>
            </p:nvSpPr>
            <p:spPr>
              <a:xfrm>
                <a:off x="2021109" y="6231095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8" name="AutoShape 128"/>
              <p:cNvSpPr/>
              <p:nvPr/>
            </p:nvSpPr>
            <p:spPr>
              <a:xfrm>
                <a:off x="2021109" y="6464545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9" name="AutoShape 129"/>
              <p:cNvSpPr/>
              <p:nvPr/>
            </p:nvSpPr>
            <p:spPr>
              <a:xfrm>
                <a:off x="2021109" y="6697993"/>
                <a:ext cx="160007" cy="160007"/>
              </a:xfrm>
              <a:prstGeom prst="rect">
                <a:avLst/>
              </a:prstGeom>
              <a:gradFill rotWithShape="0">
                <a:gsLst>
                  <a:gs pos="31000">
                    <a:srgbClr val="FFFFFF">
                      <a:alpha val="800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81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</p:grpSp>
      </p:grpSp>
      <p:sp>
        <p:nvSpPr>
          <p:cNvPr id="130" name="AutoShape 130"/>
          <p:cNvSpPr/>
          <p:nvPr/>
        </p:nvSpPr>
        <p:spPr>
          <a:xfrm rot="-5400000">
            <a:off x="-204586" y="531610"/>
            <a:ext cx="513949" cy="104777"/>
          </a:xfrm>
          <a:prstGeom prst="rect">
            <a:avLst/>
          </a:prstGeom>
          <a:gradFill rotWithShape="1">
            <a:gsLst>
              <a:gs pos="0">
                <a:srgbClr val="C00000">
                  <a:alpha val="100000"/>
                </a:srgbClr>
              </a:gs>
              <a:gs pos="100000">
                <a:srgbClr val="DD8765">
                  <a:alpha val="100000"/>
                </a:srgbClr>
              </a:gs>
            </a:gsLst>
            <a:lin ang="540000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pic>
        <p:nvPicPr>
          <p:cNvPr id="131" name="Picture 13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072335" y="313283"/>
            <a:ext cx="926411" cy="77256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3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image" Target="../media/image2.png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3.xml"/><Relationship Id="rId25" Type="http://schemas.openxmlformats.org/officeDocument/2006/relationships/tags" Target="../tags/tag68.xml"/><Relationship Id="rId24" Type="http://schemas.openxmlformats.org/officeDocument/2006/relationships/tags" Target="../tags/tag67.xml"/><Relationship Id="rId23" Type="http://schemas.openxmlformats.org/officeDocument/2006/relationships/tags" Target="../tags/tag66.xml"/><Relationship Id="rId22" Type="http://schemas.openxmlformats.org/officeDocument/2006/relationships/tags" Target="../tags/tag65.xml"/><Relationship Id="rId21" Type="http://schemas.openxmlformats.org/officeDocument/2006/relationships/tags" Target="../tags/tag64.xml"/><Relationship Id="rId20" Type="http://schemas.openxmlformats.org/officeDocument/2006/relationships/tags" Target="../tags/tag63.xml"/><Relationship Id="rId2" Type="http://schemas.openxmlformats.org/officeDocument/2006/relationships/tags" Target="../tags/tag45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3.xml"/><Relationship Id="rId25" Type="http://schemas.openxmlformats.org/officeDocument/2006/relationships/tags" Target="../tags/tag93.xml"/><Relationship Id="rId24" Type="http://schemas.openxmlformats.org/officeDocument/2006/relationships/tags" Target="../tags/tag92.xml"/><Relationship Id="rId23" Type="http://schemas.openxmlformats.org/officeDocument/2006/relationships/tags" Target="../tags/tag91.xml"/><Relationship Id="rId22" Type="http://schemas.openxmlformats.org/officeDocument/2006/relationships/tags" Target="../tags/tag90.xml"/><Relationship Id="rId21" Type="http://schemas.openxmlformats.org/officeDocument/2006/relationships/tags" Target="../tags/tag89.xml"/><Relationship Id="rId20" Type="http://schemas.openxmlformats.org/officeDocument/2006/relationships/tags" Target="../tags/tag88.xml"/><Relationship Id="rId2" Type="http://schemas.openxmlformats.org/officeDocument/2006/relationships/tags" Target="../tags/tag70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917065" y="3023870"/>
            <a:ext cx="8312150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spc="100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人力资源全景</a:t>
            </a:r>
            <a:r>
              <a:rPr lang="zh-CN" altLang="en-US" sz="2800" b="1" spc="100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</a:t>
            </a:r>
            <a:r>
              <a:rPr lang="zh-CN" altLang="en-US" sz="2800" b="1" spc="100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：职能、分工与核心模块</a:t>
            </a:r>
            <a:r>
              <a:rPr lang="zh-CN" altLang="en-US" sz="2800" b="1" spc="100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2800" b="1" spc="100">
              <a:solidFill>
                <a:srgbClr val="E24D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958340" y="4203728"/>
            <a:ext cx="6600472" cy="3987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000" b="0" i="0" u="none" strike="noStrike" spc="1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人力资源部</a:t>
            </a:r>
            <a:r>
              <a:rPr lang="en-US" altLang="zh-CN" sz="2000" b="0" i="0" u="none" strike="noStrike" spc="1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J</a:t>
            </a:r>
            <a:r>
              <a:rPr lang="en-US" altLang="zh-CN" sz="2000" b="0" i="0" u="none" strike="noStrike" spc="1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udy</a:t>
            </a:r>
            <a:endParaRPr lang="en-US" altLang="zh-CN" sz="2000" b="0" i="0" u="none" strike="noStrike" spc="1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953260" y="4759960"/>
            <a:ext cx="1732915" cy="3987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 spc="1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2026年9月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582275" y="5630545"/>
            <a:ext cx="1054735" cy="521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9" name="矩形 8"/>
          <p:cNvSpPr/>
          <p:nvPr/>
        </p:nvSpPr>
        <p:spPr>
          <a:xfrm>
            <a:off x="8185150" y="5630545"/>
            <a:ext cx="3404870" cy="450215"/>
          </a:xfrm>
          <a:prstGeom prst="rect">
            <a:avLst/>
          </a:prstGeom>
          <a:solidFill>
            <a:srgbClr val="F64102"/>
          </a:solidFill>
          <a:ln>
            <a:solidFill>
              <a:srgbClr val="F6410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HR |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组织能力的构建者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>
            <p:custDataLst>
              <p:tags r:id="rId1"/>
            </p:custDataLst>
          </p:nvPr>
        </p:nvGrpSpPr>
        <p:grpSpPr>
          <a:xfrm>
            <a:off x="-3" y="-72295"/>
            <a:ext cx="12220859" cy="6909975"/>
            <a:chOff x="-3" y="-51975"/>
            <a:chExt cx="12220859" cy="6909975"/>
          </a:xfrm>
        </p:grpSpPr>
        <p:grpSp>
          <p:nvGrpSpPr>
            <p:cNvPr id="3" name="Group 3"/>
            <p:cNvGrpSpPr/>
            <p:nvPr/>
          </p:nvGrpSpPr>
          <p:grpSpPr>
            <a:xfrm>
              <a:off x="-3" y="0"/>
              <a:ext cx="12192004" cy="6858000"/>
              <a:chOff x="-3" y="0"/>
              <a:chExt cx="12192004" cy="6858000"/>
            </a:xfrm>
          </p:grpSpPr>
          <p:sp>
            <p:nvSpPr>
              <p:cNvPr id="4" name="AutoShape 4"/>
              <p:cNvSpPr/>
              <p:nvPr/>
            </p:nvSpPr>
            <p:spPr>
              <a:xfrm rot="10800000">
                <a:off x="0" y="0"/>
                <a:ext cx="12192001" cy="6858000"/>
              </a:xfrm>
              <a:prstGeom prst="rect">
                <a:avLst/>
              </a:prstGeom>
              <a:solidFill>
                <a:srgbClr val="F2F2F2">
                  <a:alpha val="100000"/>
                </a:srgbClr>
              </a:soli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grpSp>
            <p:nvGrpSpPr>
              <p:cNvPr id="5" name="Group 5"/>
              <p:cNvGrpSpPr/>
              <p:nvPr/>
            </p:nvGrpSpPr>
            <p:grpSpPr>
              <a:xfrm>
                <a:off x="-3" y="5063849"/>
                <a:ext cx="2181119" cy="1794151"/>
                <a:chOff x="-3" y="5063849"/>
                <a:chExt cx="2181119" cy="1794151"/>
              </a:xfrm>
            </p:grpSpPr>
            <p:grpSp>
              <p:nvGrpSpPr>
                <p:cNvPr id="6" name="Group 6"/>
                <p:cNvGrpSpPr/>
                <p:nvPr/>
              </p:nvGrpSpPr>
              <p:grpSpPr>
                <a:xfrm>
                  <a:off x="-3" y="5063849"/>
                  <a:ext cx="160007" cy="1794151"/>
                  <a:chOff x="-3" y="5063849"/>
                  <a:chExt cx="160007" cy="1794151"/>
                </a:xfrm>
              </p:grpSpPr>
              <p:sp>
                <p:nvSpPr>
                  <p:cNvPr id="7" name="AutoShape 7"/>
                  <p:cNvSpPr/>
                  <p:nvPr/>
                </p:nvSpPr>
                <p:spPr>
                  <a:xfrm>
                    <a:off x="-3" y="5063849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8" name="AutoShape 8"/>
                  <p:cNvSpPr/>
                  <p:nvPr/>
                </p:nvSpPr>
                <p:spPr>
                  <a:xfrm>
                    <a:off x="-3" y="5297299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9" name="AutoShape 9"/>
                  <p:cNvSpPr/>
                  <p:nvPr/>
                </p:nvSpPr>
                <p:spPr>
                  <a:xfrm>
                    <a:off x="-3" y="553074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10" name="AutoShape 10"/>
                  <p:cNvSpPr/>
                  <p:nvPr/>
                </p:nvSpPr>
                <p:spPr>
                  <a:xfrm>
                    <a:off x="-3" y="576419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11" name="AutoShape 11"/>
                  <p:cNvSpPr/>
                  <p:nvPr/>
                </p:nvSpPr>
                <p:spPr>
                  <a:xfrm>
                    <a:off x="-3" y="599764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12" name="AutoShape 12"/>
                  <p:cNvSpPr/>
                  <p:nvPr/>
                </p:nvSpPr>
                <p:spPr>
                  <a:xfrm>
                    <a:off x="-3" y="6231095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13" name="AutoShape 13"/>
                  <p:cNvSpPr/>
                  <p:nvPr/>
                </p:nvSpPr>
                <p:spPr>
                  <a:xfrm>
                    <a:off x="-3" y="6464545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14" name="AutoShape 14"/>
                  <p:cNvSpPr/>
                  <p:nvPr/>
                </p:nvSpPr>
                <p:spPr>
                  <a:xfrm>
                    <a:off x="-3" y="6697993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</p:grpSp>
            <p:grpSp>
              <p:nvGrpSpPr>
                <p:cNvPr id="15" name="Group 15"/>
                <p:cNvGrpSpPr/>
                <p:nvPr/>
              </p:nvGrpSpPr>
              <p:grpSpPr>
                <a:xfrm>
                  <a:off x="808442" y="5063849"/>
                  <a:ext cx="160007" cy="1794151"/>
                  <a:chOff x="808442" y="5063849"/>
                  <a:chExt cx="160007" cy="1794151"/>
                </a:xfrm>
              </p:grpSpPr>
              <p:sp>
                <p:nvSpPr>
                  <p:cNvPr id="16" name="AutoShape 16"/>
                  <p:cNvSpPr/>
                  <p:nvPr/>
                </p:nvSpPr>
                <p:spPr>
                  <a:xfrm>
                    <a:off x="808442" y="5063849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17" name="AutoShape 17"/>
                  <p:cNvSpPr/>
                  <p:nvPr/>
                </p:nvSpPr>
                <p:spPr>
                  <a:xfrm>
                    <a:off x="808442" y="5297299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18" name="AutoShape 18"/>
                  <p:cNvSpPr/>
                  <p:nvPr/>
                </p:nvSpPr>
                <p:spPr>
                  <a:xfrm>
                    <a:off x="808442" y="553074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19" name="AutoShape 19"/>
                  <p:cNvSpPr/>
                  <p:nvPr/>
                </p:nvSpPr>
                <p:spPr>
                  <a:xfrm>
                    <a:off x="808442" y="576419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20" name="AutoShape 20"/>
                  <p:cNvSpPr/>
                  <p:nvPr/>
                </p:nvSpPr>
                <p:spPr>
                  <a:xfrm>
                    <a:off x="808442" y="599764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21" name="AutoShape 21"/>
                  <p:cNvSpPr/>
                  <p:nvPr/>
                </p:nvSpPr>
                <p:spPr>
                  <a:xfrm>
                    <a:off x="808442" y="6231095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22" name="AutoShape 22"/>
                  <p:cNvSpPr/>
                  <p:nvPr/>
                </p:nvSpPr>
                <p:spPr>
                  <a:xfrm>
                    <a:off x="808442" y="6464545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23" name="AutoShape 23"/>
                  <p:cNvSpPr/>
                  <p:nvPr/>
                </p:nvSpPr>
                <p:spPr>
                  <a:xfrm>
                    <a:off x="808442" y="6697993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</p:grpSp>
            <p:grpSp>
              <p:nvGrpSpPr>
                <p:cNvPr id="24" name="Group 24"/>
                <p:cNvGrpSpPr/>
                <p:nvPr/>
              </p:nvGrpSpPr>
              <p:grpSpPr>
                <a:xfrm>
                  <a:off x="404219" y="5063849"/>
                  <a:ext cx="160007" cy="1794151"/>
                  <a:chOff x="404219" y="5063849"/>
                  <a:chExt cx="160007" cy="1794151"/>
                </a:xfrm>
              </p:grpSpPr>
              <p:sp>
                <p:nvSpPr>
                  <p:cNvPr id="25" name="AutoShape 25"/>
                  <p:cNvSpPr/>
                  <p:nvPr/>
                </p:nvSpPr>
                <p:spPr>
                  <a:xfrm>
                    <a:off x="404219" y="5063849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26" name="AutoShape 26"/>
                  <p:cNvSpPr/>
                  <p:nvPr/>
                </p:nvSpPr>
                <p:spPr>
                  <a:xfrm>
                    <a:off x="404219" y="5297299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27" name="AutoShape 27"/>
                  <p:cNvSpPr/>
                  <p:nvPr/>
                </p:nvSpPr>
                <p:spPr>
                  <a:xfrm>
                    <a:off x="404219" y="553074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28" name="AutoShape 28"/>
                  <p:cNvSpPr/>
                  <p:nvPr/>
                </p:nvSpPr>
                <p:spPr>
                  <a:xfrm>
                    <a:off x="404219" y="576419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29" name="AutoShape 29"/>
                  <p:cNvSpPr/>
                  <p:nvPr/>
                </p:nvSpPr>
                <p:spPr>
                  <a:xfrm>
                    <a:off x="404219" y="599764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30" name="AutoShape 30"/>
                  <p:cNvSpPr/>
                  <p:nvPr/>
                </p:nvSpPr>
                <p:spPr>
                  <a:xfrm>
                    <a:off x="404219" y="6231095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31" name="AutoShape 31"/>
                  <p:cNvSpPr/>
                  <p:nvPr/>
                </p:nvSpPr>
                <p:spPr>
                  <a:xfrm>
                    <a:off x="404219" y="6464545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32" name="AutoShape 32"/>
                  <p:cNvSpPr/>
                  <p:nvPr/>
                </p:nvSpPr>
                <p:spPr>
                  <a:xfrm>
                    <a:off x="404219" y="6697993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</p:grpSp>
            <p:grpSp>
              <p:nvGrpSpPr>
                <p:cNvPr id="33" name="Group 33"/>
                <p:cNvGrpSpPr/>
                <p:nvPr/>
              </p:nvGrpSpPr>
              <p:grpSpPr>
                <a:xfrm>
                  <a:off x="1212664" y="5063849"/>
                  <a:ext cx="160007" cy="1794151"/>
                  <a:chOff x="1212664" y="5063849"/>
                  <a:chExt cx="160007" cy="1794151"/>
                </a:xfrm>
              </p:grpSpPr>
              <p:sp>
                <p:nvSpPr>
                  <p:cNvPr id="34" name="AutoShape 34"/>
                  <p:cNvSpPr/>
                  <p:nvPr>
                    <p:custDataLst>
                      <p:tags r:id="rId2"/>
                    </p:custDataLst>
                  </p:nvPr>
                </p:nvSpPr>
                <p:spPr>
                  <a:xfrm>
                    <a:off x="1212664" y="5063849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35" name="AutoShape 35"/>
                  <p:cNvSpPr/>
                  <p:nvPr>
                    <p:custDataLst>
                      <p:tags r:id="rId3"/>
                    </p:custDataLst>
                  </p:nvPr>
                </p:nvSpPr>
                <p:spPr>
                  <a:xfrm>
                    <a:off x="1212664" y="5297299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36" name="AutoShape 36"/>
                  <p:cNvSpPr/>
                  <p:nvPr>
                    <p:custDataLst>
                      <p:tags r:id="rId4"/>
                    </p:custDataLst>
                  </p:nvPr>
                </p:nvSpPr>
                <p:spPr>
                  <a:xfrm>
                    <a:off x="1212664" y="553074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37" name="AutoShape 37"/>
                  <p:cNvSpPr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1212664" y="576419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38" name="AutoShape 38"/>
                  <p:cNvSpPr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1212664" y="599764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39" name="AutoShape 39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1212664" y="6231095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40" name="AutoShape 40"/>
                  <p:cNvSpPr/>
                  <p:nvPr/>
                </p:nvSpPr>
                <p:spPr>
                  <a:xfrm>
                    <a:off x="1212664" y="6464545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41" name="AutoShape 41"/>
                  <p:cNvSpPr/>
                  <p:nvPr/>
                </p:nvSpPr>
                <p:spPr>
                  <a:xfrm>
                    <a:off x="1212664" y="6697993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</p:grpSp>
            <p:grpSp>
              <p:nvGrpSpPr>
                <p:cNvPr id="42" name="Group 42"/>
                <p:cNvGrpSpPr/>
                <p:nvPr/>
              </p:nvGrpSpPr>
              <p:grpSpPr>
                <a:xfrm>
                  <a:off x="1616887" y="5063849"/>
                  <a:ext cx="160007" cy="1794151"/>
                  <a:chOff x="1616887" y="5063849"/>
                  <a:chExt cx="160007" cy="1794151"/>
                </a:xfrm>
              </p:grpSpPr>
              <p:sp>
                <p:nvSpPr>
                  <p:cNvPr id="43" name="AutoShape 43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1616887" y="5063849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44" name="AutoShape 44"/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1616887" y="5297299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45" name="AutoShape 45"/>
                  <p:cNvSpPr/>
                  <p:nvPr>
                    <p:custDataLst>
                      <p:tags r:id="rId10"/>
                    </p:custDataLst>
                  </p:nvPr>
                </p:nvSpPr>
                <p:spPr>
                  <a:xfrm>
                    <a:off x="1616887" y="553074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46" name="AutoShape 46"/>
                  <p:cNvSpPr/>
                  <p:nvPr>
                    <p:custDataLst>
                      <p:tags r:id="rId11"/>
                    </p:custDataLst>
                  </p:nvPr>
                </p:nvSpPr>
                <p:spPr>
                  <a:xfrm>
                    <a:off x="1616887" y="576419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47" name="AutoShape 47"/>
                  <p:cNvSpPr/>
                  <p:nvPr>
                    <p:custDataLst>
                      <p:tags r:id="rId12"/>
                    </p:custDataLst>
                  </p:nvPr>
                </p:nvSpPr>
                <p:spPr>
                  <a:xfrm>
                    <a:off x="1616887" y="599764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48" name="AutoShape 48"/>
                  <p:cNvSpPr/>
                  <p:nvPr>
                    <p:custDataLst>
                      <p:tags r:id="rId13"/>
                    </p:custDataLst>
                  </p:nvPr>
                </p:nvSpPr>
                <p:spPr>
                  <a:xfrm>
                    <a:off x="1616887" y="6231095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49" name="AutoShape 49"/>
                  <p:cNvSpPr/>
                  <p:nvPr/>
                </p:nvSpPr>
                <p:spPr>
                  <a:xfrm>
                    <a:off x="1616887" y="6464545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50" name="AutoShape 50"/>
                  <p:cNvSpPr/>
                  <p:nvPr/>
                </p:nvSpPr>
                <p:spPr>
                  <a:xfrm>
                    <a:off x="1616887" y="6697993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</p:grpSp>
            <p:grpSp>
              <p:nvGrpSpPr>
                <p:cNvPr id="51" name="Group 51"/>
                <p:cNvGrpSpPr/>
                <p:nvPr/>
              </p:nvGrpSpPr>
              <p:grpSpPr>
                <a:xfrm>
                  <a:off x="2021109" y="5063849"/>
                  <a:ext cx="160007" cy="1794151"/>
                  <a:chOff x="2021109" y="5063849"/>
                  <a:chExt cx="160007" cy="1794151"/>
                </a:xfrm>
              </p:grpSpPr>
              <p:sp>
                <p:nvSpPr>
                  <p:cNvPr id="52" name="AutoShape 52"/>
                  <p:cNvSpPr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2021109" y="5063849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53" name="AutoShape 53"/>
                  <p:cNvSpPr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2021109" y="5297299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54" name="AutoShape 54"/>
                  <p:cNvSpPr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2021109" y="553074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55" name="AutoShape 55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2021109" y="576419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56" name="AutoShape 56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2021109" y="5997647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57" name="AutoShape 57"/>
                  <p:cNvSpPr/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2021109" y="6231095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58" name="AutoShape 58"/>
                  <p:cNvSpPr/>
                  <p:nvPr/>
                </p:nvSpPr>
                <p:spPr>
                  <a:xfrm>
                    <a:off x="2021109" y="6464545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id="59" name="AutoShape 59"/>
                  <p:cNvSpPr/>
                  <p:nvPr/>
                </p:nvSpPr>
                <p:spPr>
                  <a:xfrm>
                    <a:off x="2021109" y="6697993"/>
                    <a:ext cx="160007" cy="160007"/>
                  </a:xfrm>
                  <a:prstGeom prst="rect">
                    <a:avLst/>
                  </a:prstGeom>
                  <a:gradFill rotWithShape="0">
                    <a:gsLst>
                      <a:gs pos="31000">
                        <a:srgbClr val="FFFFFF">
                          <a:alpha val="8000"/>
                        </a:srgbClr>
                      </a:gs>
                      <a:gs pos="100000">
                        <a:srgbClr val="FC8A18">
                          <a:alpha val="25000"/>
                        </a:srgbClr>
                      </a:gs>
                    </a:gsLst>
                    <a:lin ang="8100000"/>
                  </a:gradFill>
                  <a:ln w="12700" cap="flat">
                    <a:noFill/>
                    <a:prstDash val="solid"/>
                  </a:ln>
                </p:spPr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marL="0" indent="0" algn="ctr">
                      <a:lnSpc>
                        <a:spcPct val="100000"/>
                      </a:lnSpc>
                      <a:defRPr/>
                    </a:pPr>
                    <a:r>
                      <a:rPr lang="en-US" sz="1800" b="0" i="0" u="none" strike="noStrike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rPr>
                      <a:t> </a:t>
                    </a:r>
                    <a:endParaRPr lang="en-US" sz="1100"/>
                  </a:p>
                </p:txBody>
              </p:sp>
            </p:grpSp>
          </p:grpSp>
        </p:grpSp>
        <p:grpSp>
          <p:nvGrpSpPr>
            <p:cNvPr id="60" name="Group 60"/>
            <p:cNvGrpSpPr/>
            <p:nvPr/>
          </p:nvGrpSpPr>
          <p:grpSpPr>
            <a:xfrm>
              <a:off x="7561943" y="-51975"/>
              <a:ext cx="4658913" cy="3063056"/>
              <a:chOff x="7561943" y="-51975"/>
              <a:chExt cx="4658913" cy="3063056"/>
            </a:xfrm>
          </p:grpSpPr>
          <p:sp>
            <p:nvSpPr>
              <p:cNvPr id="61" name="AutoShape 61"/>
              <p:cNvSpPr/>
              <p:nvPr/>
            </p:nvSpPr>
            <p:spPr>
              <a:xfrm>
                <a:off x="7561943" y="-51975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62" name="AutoShape 62"/>
              <p:cNvSpPr/>
              <p:nvPr/>
            </p:nvSpPr>
            <p:spPr>
              <a:xfrm>
                <a:off x="7561943" y="346580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63" name="AutoShape 63"/>
              <p:cNvSpPr/>
              <p:nvPr/>
            </p:nvSpPr>
            <p:spPr>
              <a:xfrm>
                <a:off x="7561943" y="74513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64" name="AutoShape 64"/>
              <p:cNvSpPr/>
              <p:nvPr/>
            </p:nvSpPr>
            <p:spPr>
              <a:xfrm>
                <a:off x="7561943" y="114369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65" name="AutoShape 65"/>
              <p:cNvSpPr/>
              <p:nvPr/>
            </p:nvSpPr>
            <p:spPr>
              <a:xfrm>
                <a:off x="7561943" y="154224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66" name="AutoShape 66"/>
              <p:cNvSpPr/>
              <p:nvPr/>
            </p:nvSpPr>
            <p:spPr>
              <a:xfrm>
                <a:off x="7561943" y="194080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67" name="AutoShape 67"/>
              <p:cNvSpPr/>
              <p:nvPr/>
            </p:nvSpPr>
            <p:spPr>
              <a:xfrm>
                <a:off x="7561943" y="2339357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68" name="AutoShape 68"/>
              <p:cNvSpPr/>
              <p:nvPr/>
            </p:nvSpPr>
            <p:spPr>
              <a:xfrm>
                <a:off x="7561943" y="2737909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69" name="AutoShape 69"/>
              <p:cNvSpPr/>
              <p:nvPr/>
            </p:nvSpPr>
            <p:spPr>
              <a:xfrm>
                <a:off x="8658378" y="-51975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0" name="AutoShape 70"/>
              <p:cNvSpPr/>
              <p:nvPr/>
            </p:nvSpPr>
            <p:spPr>
              <a:xfrm>
                <a:off x="8658378" y="346580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1" name="AutoShape 71"/>
              <p:cNvSpPr/>
              <p:nvPr/>
            </p:nvSpPr>
            <p:spPr>
              <a:xfrm>
                <a:off x="8658378" y="74513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2" name="AutoShape 72"/>
              <p:cNvSpPr/>
              <p:nvPr/>
            </p:nvSpPr>
            <p:spPr>
              <a:xfrm>
                <a:off x="8658378" y="114369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3" name="AutoShape 73"/>
              <p:cNvSpPr/>
              <p:nvPr/>
            </p:nvSpPr>
            <p:spPr>
              <a:xfrm>
                <a:off x="8658378" y="154224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4" name="AutoShape 74"/>
              <p:cNvSpPr/>
              <p:nvPr/>
            </p:nvSpPr>
            <p:spPr>
              <a:xfrm>
                <a:off x="8658378" y="194080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5" name="AutoShape 75"/>
              <p:cNvSpPr/>
              <p:nvPr/>
            </p:nvSpPr>
            <p:spPr>
              <a:xfrm>
                <a:off x="8658378" y="2339357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6" name="AutoShape 76"/>
              <p:cNvSpPr/>
              <p:nvPr/>
            </p:nvSpPr>
            <p:spPr>
              <a:xfrm>
                <a:off x="8658378" y="2737909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7" name="AutoShape 77"/>
              <p:cNvSpPr/>
              <p:nvPr/>
            </p:nvSpPr>
            <p:spPr>
              <a:xfrm>
                <a:off x="8110161" y="-51975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8" name="AutoShape 78"/>
              <p:cNvSpPr/>
              <p:nvPr/>
            </p:nvSpPr>
            <p:spPr>
              <a:xfrm>
                <a:off x="8110161" y="346580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9" name="AutoShape 79"/>
              <p:cNvSpPr/>
              <p:nvPr/>
            </p:nvSpPr>
            <p:spPr>
              <a:xfrm>
                <a:off x="8110161" y="74513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0" name="AutoShape 80"/>
              <p:cNvSpPr/>
              <p:nvPr/>
            </p:nvSpPr>
            <p:spPr>
              <a:xfrm>
                <a:off x="8110161" y="114369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1" name="AutoShape 81"/>
              <p:cNvSpPr/>
              <p:nvPr/>
            </p:nvSpPr>
            <p:spPr>
              <a:xfrm>
                <a:off x="8110161" y="154224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2" name="AutoShape 82"/>
              <p:cNvSpPr/>
              <p:nvPr/>
            </p:nvSpPr>
            <p:spPr>
              <a:xfrm>
                <a:off x="8110161" y="194080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3" name="AutoShape 83"/>
              <p:cNvSpPr/>
              <p:nvPr/>
            </p:nvSpPr>
            <p:spPr>
              <a:xfrm>
                <a:off x="8110161" y="2339357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4" name="AutoShape 84"/>
              <p:cNvSpPr/>
              <p:nvPr/>
            </p:nvSpPr>
            <p:spPr>
              <a:xfrm>
                <a:off x="8110161" y="2737909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5" name="AutoShape 85"/>
              <p:cNvSpPr/>
              <p:nvPr/>
            </p:nvSpPr>
            <p:spPr>
              <a:xfrm>
                <a:off x="9754813" y="-51975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6" name="AutoShape 86"/>
              <p:cNvSpPr/>
              <p:nvPr/>
            </p:nvSpPr>
            <p:spPr>
              <a:xfrm>
                <a:off x="9754813" y="346580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7" name="AutoShape 87"/>
              <p:cNvSpPr/>
              <p:nvPr/>
            </p:nvSpPr>
            <p:spPr>
              <a:xfrm>
                <a:off x="9754813" y="74513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8" name="AutoShape 88"/>
              <p:cNvSpPr/>
              <p:nvPr/>
            </p:nvSpPr>
            <p:spPr>
              <a:xfrm>
                <a:off x="9754813" y="114369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9" name="AutoShape 89"/>
              <p:cNvSpPr/>
              <p:nvPr/>
            </p:nvSpPr>
            <p:spPr>
              <a:xfrm>
                <a:off x="9754813" y="154224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0" name="AutoShape 90"/>
              <p:cNvSpPr/>
              <p:nvPr/>
            </p:nvSpPr>
            <p:spPr>
              <a:xfrm>
                <a:off x="9754813" y="194080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1" name="AutoShape 91"/>
              <p:cNvSpPr/>
              <p:nvPr/>
            </p:nvSpPr>
            <p:spPr>
              <a:xfrm>
                <a:off x="9754813" y="2339357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2" name="AutoShape 92"/>
              <p:cNvSpPr/>
              <p:nvPr/>
            </p:nvSpPr>
            <p:spPr>
              <a:xfrm>
                <a:off x="9754813" y="2737909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3" name="AutoShape 93"/>
              <p:cNvSpPr/>
              <p:nvPr/>
            </p:nvSpPr>
            <p:spPr>
              <a:xfrm>
                <a:off x="9206596" y="-51975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4" name="AutoShape 94"/>
              <p:cNvSpPr/>
              <p:nvPr/>
            </p:nvSpPr>
            <p:spPr>
              <a:xfrm>
                <a:off x="9206596" y="346580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5" name="AutoShape 95"/>
              <p:cNvSpPr/>
              <p:nvPr/>
            </p:nvSpPr>
            <p:spPr>
              <a:xfrm>
                <a:off x="9206596" y="74513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6" name="AutoShape 96"/>
              <p:cNvSpPr/>
              <p:nvPr/>
            </p:nvSpPr>
            <p:spPr>
              <a:xfrm>
                <a:off x="9206596" y="114369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7" name="AutoShape 97"/>
              <p:cNvSpPr/>
              <p:nvPr/>
            </p:nvSpPr>
            <p:spPr>
              <a:xfrm>
                <a:off x="9206596" y="154224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8" name="AutoShape 98"/>
              <p:cNvSpPr/>
              <p:nvPr/>
            </p:nvSpPr>
            <p:spPr>
              <a:xfrm>
                <a:off x="9206596" y="194080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99" name="AutoShape 99"/>
              <p:cNvSpPr/>
              <p:nvPr/>
            </p:nvSpPr>
            <p:spPr>
              <a:xfrm>
                <a:off x="9206596" y="2339357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0" name="AutoShape 100"/>
              <p:cNvSpPr/>
              <p:nvPr/>
            </p:nvSpPr>
            <p:spPr>
              <a:xfrm>
                <a:off x="9206596" y="2737909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1" name="AutoShape 101"/>
              <p:cNvSpPr/>
              <p:nvPr/>
            </p:nvSpPr>
            <p:spPr>
              <a:xfrm>
                <a:off x="10851249" y="-51975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2" name="AutoShape 102"/>
              <p:cNvSpPr/>
              <p:nvPr/>
            </p:nvSpPr>
            <p:spPr>
              <a:xfrm>
                <a:off x="10851249" y="346580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3" name="AutoShape 103"/>
              <p:cNvSpPr/>
              <p:nvPr/>
            </p:nvSpPr>
            <p:spPr>
              <a:xfrm>
                <a:off x="10851249" y="74513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4" name="AutoShape 104"/>
              <p:cNvSpPr/>
              <p:nvPr/>
            </p:nvSpPr>
            <p:spPr>
              <a:xfrm>
                <a:off x="10851249" y="114369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5" name="AutoShape 105"/>
              <p:cNvSpPr/>
              <p:nvPr/>
            </p:nvSpPr>
            <p:spPr>
              <a:xfrm>
                <a:off x="10851249" y="154224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6" name="AutoShape 106"/>
              <p:cNvSpPr/>
              <p:nvPr/>
            </p:nvSpPr>
            <p:spPr>
              <a:xfrm>
                <a:off x="10851249" y="194080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7" name="AutoShape 107"/>
              <p:cNvSpPr/>
              <p:nvPr/>
            </p:nvSpPr>
            <p:spPr>
              <a:xfrm>
                <a:off x="10851249" y="2339357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8" name="AutoShape 108"/>
              <p:cNvSpPr/>
              <p:nvPr/>
            </p:nvSpPr>
            <p:spPr>
              <a:xfrm>
                <a:off x="10851249" y="2737909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09" name="AutoShape 109"/>
              <p:cNvSpPr/>
              <p:nvPr/>
            </p:nvSpPr>
            <p:spPr>
              <a:xfrm>
                <a:off x="10303031" y="-51975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0" name="AutoShape 110"/>
              <p:cNvSpPr/>
              <p:nvPr/>
            </p:nvSpPr>
            <p:spPr>
              <a:xfrm>
                <a:off x="10303031" y="346580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1" name="AutoShape 111"/>
              <p:cNvSpPr/>
              <p:nvPr/>
            </p:nvSpPr>
            <p:spPr>
              <a:xfrm>
                <a:off x="10303031" y="74513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2" name="AutoShape 112"/>
              <p:cNvSpPr/>
              <p:nvPr/>
            </p:nvSpPr>
            <p:spPr>
              <a:xfrm>
                <a:off x="10303031" y="114369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3" name="AutoShape 113"/>
              <p:cNvSpPr/>
              <p:nvPr/>
            </p:nvSpPr>
            <p:spPr>
              <a:xfrm>
                <a:off x="10303031" y="154224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4" name="AutoShape 114"/>
              <p:cNvSpPr/>
              <p:nvPr/>
            </p:nvSpPr>
            <p:spPr>
              <a:xfrm>
                <a:off x="10303031" y="194080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5" name="AutoShape 115"/>
              <p:cNvSpPr/>
              <p:nvPr/>
            </p:nvSpPr>
            <p:spPr>
              <a:xfrm>
                <a:off x="10303031" y="2339357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6" name="AutoShape 116"/>
              <p:cNvSpPr/>
              <p:nvPr/>
            </p:nvSpPr>
            <p:spPr>
              <a:xfrm>
                <a:off x="10303031" y="2737909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7" name="AutoShape 117"/>
              <p:cNvSpPr/>
              <p:nvPr/>
            </p:nvSpPr>
            <p:spPr>
              <a:xfrm>
                <a:off x="11399466" y="-51975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8" name="AutoShape 118"/>
              <p:cNvSpPr/>
              <p:nvPr/>
            </p:nvSpPr>
            <p:spPr>
              <a:xfrm>
                <a:off x="11399466" y="346580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19" name="AutoShape 119"/>
              <p:cNvSpPr/>
              <p:nvPr/>
            </p:nvSpPr>
            <p:spPr>
              <a:xfrm>
                <a:off x="11399466" y="74513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0" name="AutoShape 120"/>
              <p:cNvSpPr/>
              <p:nvPr/>
            </p:nvSpPr>
            <p:spPr>
              <a:xfrm>
                <a:off x="11399466" y="114369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1" name="AutoShape 121"/>
              <p:cNvSpPr/>
              <p:nvPr/>
            </p:nvSpPr>
            <p:spPr>
              <a:xfrm>
                <a:off x="11399466" y="154224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2" name="AutoShape 122"/>
              <p:cNvSpPr/>
              <p:nvPr/>
            </p:nvSpPr>
            <p:spPr>
              <a:xfrm>
                <a:off x="11399466" y="194080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3" name="AutoShape 123"/>
              <p:cNvSpPr/>
              <p:nvPr/>
            </p:nvSpPr>
            <p:spPr>
              <a:xfrm>
                <a:off x="11399466" y="2339357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4" name="AutoShape 124"/>
              <p:cNvSpPr/>
              <p:nvPr/>
            </p:nvSpPr>
            <p:spPr>
              <a:xfrm>
                <a:off x="11399466" y="2737909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5" name="AutoShape 125"/>
              <p:cNvSpPr/>
              <p:nvPr/>
            </p:nvSpPr>
            <p:spPr>
              <a:xfrm>
                <a:off x="11947684" y="-51975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6" name="AutoShape 126"/>
              <p:cNvSpPr/>
              <p:nvPr/>
            </p:nvSpPr>
            <p:spPr>
              <a:xfrm>
                <a:off x="11947684" y="346580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7" name="AutoShape 127"/>
              <p:cNvSpPr/>
              <p:nvPr/>
            </p:nvSpPr>
            <p:spPr>
              <a:xfrm>
                <a:off x="11947684" y="74513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8" name="AutoShape 128"/>
              <p:cNvSpPr/>
              <p:nvPr/>
            </p:nvSpPr>
            <p:spPr>
              <a:xfrm>
                <a:off x="11947684" y="114369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29" name="AutoShape 129"/>
              <p:cNvSpPr/>
              <p:nvPr/>
            </p:nvSpPr>
            <p:spPr>
              <a:xfrm>
                <a:off x="11947684" y="1542246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30" name="AutoShape 130"/>
              <p:cNvSpPr/>
              <p:nvPr/>
            </p:nvSpPr>
            <p:spPr>
              <a:xfrm>
                <a:off x="11947684" y="1940801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31" name="AutoShape 131"/>
              <p:cNvSpPr/>
              <p:nvPr/>
            </p:nvSpPr>
            <p:spPr>
              <a:xfrm>
                <a:off x="11947684" y="2339357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132" name="AutoShape 132"/>
              <p:cNvSpPr/>
              <p:nvPr/>
            </p:nvSpPr>
            <p:spPr>
              <a:xfrm>
                <a:off x="11947684" y="2737909"/>
                <a:ext cx="273172" cy="273172"/>
              </a:xfrm>
              <a:prstGeom prst="rect">
                <a:avLst/>
              </a:prstGeom>
              <a:gradFill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C8A18">
                      <a:alpha val="25000"/>
                    </a:srgbClr>
                  </a:gs>
                </a:gsLst>
                <a:lin ang="189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</p:grpSp>
      </p:grpSp>
      <p:grpSp>
        <p:nvGrpSpPr>
          <p:cNvPr id="133" name="Group 133"/>
          <p:cNvGrpSpPr/>
          <p:nvPr/>
        </p:nvGrpSpPr>
        <p:grpSpPr>
          <a:xfrm>
            <a:off x="851789" y="440532"/>
            <a:ext cx="3126434" cy="769441"/>
            <a:chOff x="947039" y="583407"/>
            <a:chExt cx="3126434" cy="769441"/>
          </a:xfrm>
        </p:grpSpPr>
        <p:sp>
          <p:nvSpPr>
            <p:cNvPr id="134" name="AutoShape 134"/>
            <p:cNvSpPr/>
            <p:nvPr/>
          </p:nvSpPr>
          <p:spPr>
            <a:xfrm>
              <a:off x="947039" y="583407"/>
              <a:ext cx="1471878" cy="76944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none" lIns="91440" tIns="45720" rIns="91440" bIns="4572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4400" b="1" i="0" u="none" strike="noStrike">
                  <a:gradFill rotWithShape="1">
                    <a:gsLst>
                      <a:gs pos="0">
                        <a:srgbClr val="C00000">
                          <a:alpha val="100000"/>
                        </a:srgbClr>
                      </a:gs>
                      <a:gs pos="100000">
                        <a:srgbClr val="ED7D31">
                          <a:alpha val="100000"/>
                        </a:srgbClr>
                      </a:gs>
                    </a:gsLst>
                    <a:lin ang="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目 录</a:t>
              </a:r>
              <a:endParaRPr lang="en-US" sz="1100"/>
            </a:p>
          </p:txBody>
        </p:sp>
        <p:sp>
          <p:nvSpPr>
            <p:cNvPr id="135" name="AutoShape 135"/>
            <p:cNvSpPr/>
            <p:nvPr/>
          </p:nvSpPr>
          <p:spPr>
            <a:xfrm>
              <a:off x="2418917" y="952694"/>
              <a:ext cx="1654556" cy="36933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none" lIns="91440" tIns="45720" rIns="91440" bIns="4572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gradFill rotWithShape="1">
                    <a:gsLst>
                      <a:gs pos="0">
                        <a:srgbClr val="C00000">
                          <a:alpha val="100000"/>
                        </a:srgbClr>
                      </a:gs>
                      <a:gs pos="100000">
                        <a:srgbClr val="ED7D31">
                          <a:alpha val="100000"/>
                        </a:srgbClr>
                      </a:gs>
                    </a:gsLst>
                    <a:lin ang="1080000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_CONTENTES</a:t>
              </a:r>
              <a:endParaRPr lang="en-US" sz="1100"/>
            </a:p>
          </p:txBody>
        </p:sp>
      </p:grpSp>
      <p:pic>
        <p:nvPicPr>
          <p:cNvPr id="136" name="Picture 136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10751821" y="168699"/>
            <a:ext cx="1195388" cy="99687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61" name="Rounded Rectangle 6"/>
          <p:cNvSpPr/>
          <p:nvPr/>
        </p:nvSpPr>
        <p:spPr>
          <a:xfrm>
            <a:off x="1033145" y="1640205"/>
            <a:ext cx="10236200" cy="841375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7"/>
          <p:cNvSpPr/>
          <p:nvPr>
            <p:custDataLst>
              <p:tags r:id="rId21"/>
            </p:custDataLst>
          </p:nvPr>
        </p:nvSpPr>
        <p:spPr>
          <a:xfrm>
            <a:off x="1033145" y="1640205"/>
            <a:ext cx="91440" cy="8412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8"/>
          <p:cNvSpPr txBox="1"/>
          <p:nvPr>
            <p:custDataLst>
              <p:tags r:id="rId22"/>
            </p:custDataLst>
          </p:nvPr>
        </p:nvSpPr>
        <p:spPr>
          <a:xfrm>
            <a:off x="1261745" y="1658493"/>
            <a:ext cx="1097280" cy="804672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0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TextBox 9"/>
          <p:cNvSpPr txBox="1"/>
          <p:nvPr>
            <p:custDataLst>
              <p:tags r:id="rId23"/>
            </p:custDataLst>
          </p:nvPr>
        </p:nvSpPr>
        <p:spPr>
          <a:xfrm>
            <a:off x="2404745" y="1777302"/>
            <a:ext cx="9144000" cy="56705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HR的</a:t>
            </a:r>
            <a:r>
              <a:rPr lang="zh-CN" sz="180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职能</a:t>
            </a:r>
            <a:endParaRPr lang="zh-CN" sz="1800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人力资源到底在做什么、创造什么价值</a:t>
            </a:r>
            <a:endParaRPr sz="125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" name="Rounded Rectangle 10"/>
          <p:cNvSpPr/>
          <p:nvPr/>
        </p:nvSpPr>
        <p:spPr>
          <a:xfrm>
            <a:off x="1033145" y="2591435"/>
            <a:ext cx="10236200" cy="841375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1"/>
          <p:cNvSpPr/>
          <p:nvPr>
            <p:custDataLst>
              <p:tags r:id="rId24"/>
            </p:custDataLst>
          </p:nvPr>
        </p:nvSpPr>
        <p:spPr>
          <a:xfrm>
            <a:off x="1033145" y="2591181"/>
            <a:ext cx="91440" cy="8412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2"/>
          <p:cNvSpPr txBox="1"/>
          <p:nvPr>
            <p:custDataLst>
              <p:tags r:id="rId25"/>
            </p:custDataLst>
          </p:nvPr>
        </p:nvSpPr>
        <p:spPr>
          <a:xfrm>
            <a:off x="1261745" y="2609469"/>
            <a:ext cx="1097280" cy="804672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0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TextBox 13"/>
          <p:cNvSpPr txBox="1"/>
          <p:nvPr>
            <p:custDataLst>
              <p:tags r:id="rId26"/>
            </p:custDataLst>
          </p:nvPr>
        </p:nvSpPr>
        <p:spPr>
          <a:xfrm>
            <a:off x="2404745" y="2728278"/>
            <a:ext cx="9144000" cy="56705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80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HR</a:t>
            </a:r>
            <a:r>
              <a:rPr lang="zh-CN" altLang="en-US" sz="180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80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</a:t>
            </a:r>
            <a:endParaRPr sz="1800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25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HR</a:t>
            </a:r>
            <a:r>
              <a:rPr lang="zh-CN" sz="125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团队介绍、</a:t>
            </a:r>
            <a:r>
              <a:rPr sz="125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如何各司其职</a:t>
            </a:r>
            <a:endParaRPr sz="125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" name="Rounded Rectangle 14"/>
          <p:cNvSpPr/>
          <p:nvPr/>
        </p:nvSpPr>
        <p:spPr>
          <a:xfrm>
            <a:off x="1033145" y="3542030"/>
            <a:ext cx="10236200" cy="841375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5"/>
          <p:cNvSpPr/>
          <p:nvPr>
            <p:custDataLst>
              <p:tags r:id="rId27"/>
            </p:custDataLst>
          </p:nvPr>
        </p:nvSpPr>
        <p:spPr>
          <a:xfrm>
            <a:off x="1033145" y="3542157"/>
            <a:ext cx="91440" cy="8412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6"/>
          <p:cNvSpPr txBox="1"/>
          <p:nvPr>
            <p:custDataLst>
              <p:tags r:id="rId28"/>
            </p:custDataLst>
          </p:nvPr>
        </p:nvSpPr>
        <p:spPr>
          <a:xfrm>
            <a:off x="1261745" y="3560445"/>
            <a:ext cx="1097280" cy="804672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0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" name="TextBox 17"/>
          <p:cNvSpPr txBox="1"/>
          <p:nvPr>
            <p:custDataLst>
              <p:tags r:id="rId29"/>
            </p:custDataLst>
          </p:nvPr>
        </p:nvSpPr>
        <p:spPr>
          <a:xfrm>
            <a:off x="2404745" y="3560445"/>
            <a:ext cx="9144000" cy="804672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招聘：标准与流程</a:t>
            </a:r>
            <a:endParaRPr sz="1800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招对人的标准，以及从需求到入职的全流程</a:t>
            </a:r>
            <a:endParaRPr sz="125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3" name="Rounded Rectangle 18"/>
          <p:cNvSpPr/>
          <p:nvPr/>
        </p:nvSpPr>
        <p:spPr>
          <a:xfrm>
            <a:off x="1033145" y="4493260"/>
            <a:ext cx="10236200" cy="841375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9"/>
          <p:cNvSpPr/>
          <p:nvPr>
            <p:custDataLst>
              <p:tags r:id="rId30"/>
            </p:custDataLst>
          </p:nvPr>
        </p:nvSpPr>
        <p:spPr>
          <a:xfrm>
            <a:off x="1033145" y="4493133"/>
            <a:ext cx="91440" cy="8412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20"/>
          <p:cNvSpPr txBox="1"/>
          <p:nvPr>
            <p:custDataLst>
              <p:tags r:id="rId31"/>
            </p:custDataLst>
          </p:nvPr>
        </p:nvSpPr>
        <p:spPr>
          <a:xfrm>
            <a:off x="1261745" y="4511421"/>
            <a:ext cx="1097280" cy="804672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30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" name="TextBox 21"/>
          <p:cNvSpPr txBox="1"/>
          <p:nvPr>
            <p:custDataLst>
              <p:tags r:id="rId32"/>
            </p:custDataLst>
          </p:nvPr>
        </p:nvSpPr>
        <p:spPr>
          <a:xfrm>
            <a:off x="2404745" y="4630230"/>
            <a:ext cx="9144000" cy="56705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绩效：</a:t>
            </a:r>
            <a:r>
              <a:rPr lang="zh-CN" sz="180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理念</a:t>
            </a:r>
            <a:r>
              <a:rPr sz="180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与流程</a:t>
            </a:r>
            <a:endParaRPr sz="1800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重新理解绩效，以及管理闭环怎么跑</a:t>
            </a:r>
            <a:endParaRPr sz="125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Rounded Rectangle 22"/>
          <p:cNvSpPr/>
          <p:nvPr/>
        </p:nvSpPr>
        <p:spPr>
          <a:xfrm>
            <a:off x="1033145" y="5443855"/>
            <a:ext cx="10236200" cy="841375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23"/>
          <p:cNvSpPr/>
          <p:nvPr>
            <p:custDataLst>
              <p:tags r:id="rId33"/>
            </p:custDataLst>
          </p:nvPr>
        </p:nvSpPr>
        <p:spPr>
          <a:xfrm>
            <a:off x="1033145" y="5444109"/>
            <a:ext cx="91440" cy="8412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24"/>
          <p:cNvSpPr txBox="1"/>
          <p:nvPr>
            <p:custDataLst>
              <p:tags r:id="rId34"/>
            </p:custDataLst>
          </p:nvPr>
        </p:nvSpPr>
        <p:spPr>
          <a:xfrm>
            <a:off x="1261745" y="5462397"/>
            <a:ext cx="1097280" cy="804672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30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" name="TextBox 25"/>
          <p:cNvSpPr txBox="1"/>
          <p:nvPr>
            <p:custDataLst>
              <p:tags r:id="rId35"/>
            </p:custDataLst>
          </p:nvPr>
        </p:nvSpPr>
        <p:spPr>
          <a:xfrm>
            <a:off x="2404745" y="5462397"/>
            <a:ext cx="9144000" cy="804672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HRBP：标准与职责</a:t>
            </a:r>
            <a:endParaRPr sz="1800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业务伙伴到底是干什么的、要具备什么</a:t>
            </a:r>
            <a:endParaRPr sz="125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2127334" y="1480366"/>
            <a:ext cx="8297304" cy="493486"/>
          </a:xfrm>
          <a:prstGeom prst="round2DiagRect">
            <a:avLst>
              <a:gd name="adj1" fmla="val 16666"/>
              <a:gd name="adj2" fmla="val 0"/>
            </a:avLst>
          </a:prstGeom>
          <a:gradFill rotWithShape="1">
            <a:gsLst>
              <a:gs pos="0">
                <a:srgbClr val="E05906">
                  <a:alpha val="100000"/>
                </a:srgbClr>
              </a:gs>
              <a:gs pos="67000">
                <a:srgbClr val="F4B183">
                  <a:alpha val="100000"/>
                </a:srgbClr>
              </a:gs>
              <a:gs pos="100000">
                <a:srgbClr val="EA8545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>
            <a:noFill/>
            <a:prstDash val="solid"/>
          </a:ln>
          <a:effectLst>
            <a:outerShdw blurRad="152400" dist="76200" dir="2700000" algn="tl" rotWithShape="0">
              <a:srgbClr val="E72525">
                <a:alpha val="3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algn="ctr">
              <a:lnSpc>
                <a:spcPct val="100000"/>
              </a:lnSpc>
              <a:spcAft>
                <a:spcPts val="400"/>
              </a:spcAft>
            </a:pPr>
            <a:r>
              <a:rPr sz="2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人力资源不</a:t>
            </a:r>
            <a:r>
              <a:rPr lang="zh-CN" sz="2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</a:t>
            </a:r>
            <a:r>
              <a:rPr sz="2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是「</a:t>
            </a:r>
            <a:r>
              <a:rPr lang="zh-CN" sz="2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招聘</a:t>
            </a:r>
            <a:r>
              <a:rPr sz="2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、办手续」，而是 </a:t>
            </a:r>
            <a:r>
              <a:rPr sz="2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组织能力的构建者。</a:t>
            </a:r>
            <a:endParaRPr lang="en-US" sz="2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214284" y="320168"/>
            <a:ext cx="1853565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HR</a:t>
            </a: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的职能</a:t>
            </a:r>
            <a:endParaRPr lang="zh-CN" altLang="en-US" sz="2800" b="1" i="0" u="none" strike="noStrike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Rounded Rectangle 7"/>
          <p:cNvSpPr/>
          <p:nvPr>
            <p:custDataLst>
              <p:tags r:id="rId1"/>
            </p:custDataLst>
          </p:nvPr>
        </p:nvSpPr>
        <p:spPr>
          <a:xfrm>
            <a:off x="731520" y="2834640"/>
            <a:ext cx="3456432" cy="31089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8"/>
          <p:cNvSpPr/>
          <p:nvPr>
            <p:custDataLst>
              <p:tags r:id="rId2"/>
            </p:custDataLst>
          </p:nvPr>
        </p:nvSpPr>
        <p:spPr>
          <a:xfrm>
            <a:off x="731520" y="2834640"/>
            <a:ext cx="3456432" cy="914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9"/>
          <p:cNvSpPr txBox="1"/>
          <p:nvPr>
            <p:custDataLst>
              <p:tags r:id="rId3"/>
            </p:custDataLst>
          </p:nvPr>
        </p:nvSpPr>
        <p:spPr>
          <a:xfrm>
            <a:off x="896112" y="3035808"/>
            <a:ext cx="3145536" cy="239458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  SELECT</a:t>
            </a:r>
            <a:endParaRPr sz="24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把</a:t>
            </a:r>
            <a:r>
              <a:rPr lang="zh-CN"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合适</a:t>
            </a:r>
            <a:r>
              <a:rPr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的人请进来</a:t>
            </a:r>
            <a:endParaRPr sz="18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建立人才标准与渠道</a:t>
            </a:r>
            <a:endParaRPr sz="18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招聘</a:t>
            </a:r>
            <a:r>
              <a:rPr lang="zh-CN"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在这个阶段</a:t>
            </a:r>
            <a:r>
              <a:rPr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是业务</a:t>
            </a:r>
            <a:r>
              <a:rPr lang="zh-CN"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</a:t>
            </a:r>
            <a:endParaRPr lang="zh-CN" sz="18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人力资源的</a:t>
            </a:r>
            <a:r>
              <a:rPr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第一工程</a:t>
            </a:r>
            <a:endParaRPr sz="18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0"/>
          <p:cNvSpPr/>
          <p:nvPr>
            <p:custDataLst>
              <p:tags r:id="rId4"/>
            </p:custDataLst>
          </p:nvPr>
        </p:nvSpPr>
        <p:spPr>
          <a:xfrm>
            <a:off x="4361688" y="2834640"/>
            <a:ext cx="3456432" cy="31089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12"/>
          <p:cNvSpPr txBox="1"/>
          <p:nvPr>
            <p:custDataLst>
              <p:tags r:id="rId5"/>
            </p:custDataLst>
          </p:nvPr>
        </p:nvSpPr>
        <p:spPr>
          <a:xfrm>
            <a:off x="4526280" y="3035808"/>
            <a:ext cx="3145536" cy="194310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 DEPLOY</a:t>
            </a:r>
            <a:endParaRPr sz="24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让对的人做对的事</a:t>
            </a:r>
            <a:endParaRPr sz="18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目标对齐与绩效牵引</a:t>
            </a:r>
            <a:endParaRPr sz="18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排兵布阵、能</a:t>
            </a:r>
            <a:r>
              <a:rPr lang="zh-CN"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</a:t>
            </a:r>
            <a:r>
              <a:rPr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</a:t>
            </a:r>
            <a:r>
              <a:rPr lang="zh-CN"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</a:t>
            </a:r>
            <a:endParaRPr lang="zh-CN" sz="18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13"/>
          <p:cNvSpPr/>
          <p:nvPr>
            <p:custDataLst>
              <p:tags r:id="rId6"/>
            </p:custDataLst>
          </p:nvPr>
        </p:nvSpPr>
        <p:spPr>
          <a:xfrm>
            <a:off x="7991856" y="2834640"/>
            <a:ext cx="3456432" cy="31089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15"/>
          <p:cNvSpPr txBox="1"/>
          <p:nvPr>
            <p:custDataLst>
              <p:tags r:id="rId7"/>
            </p:custDataLst>
          </p:nvPr>
        </p:nvSpPr>
        <p:spPr>
          <a:xfrm>
            <a:off x="8156448" y="3035808"/>
            <a:ext cx="3145536" cy="194310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育留  GROW</a:t>
            </a:r>
            <a:endParaRPr sz="24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让人持续</a:t>
            </a:r>
            <a:r>
              <a:rPr lang="zh-CN"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专业聚焦</a:t>
            </a:r>
            <a:endParaRPr sz="18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激励与保留</a:t>
            </a:r>
            <a:endParaRPr sz="18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文化与氛围建设</a:t>
            </a:r>
            <a:endParaRPr sz="18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8"/>
          <p:cNvSpPr/>
          <p:nvPr>
            <p:custDataLst>
              <p:tags r:id="rId8"/>
            </p:custDataLst>
          </p:nvPr>
        </p:nvSpPr>
        <p:spPr>
          <a:xfrm>
            <a:off x="4361815" y="2834640"/>
            <a:ext cx="3456432" cy="914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8"/>
          <p:cNvSpPr/>
          <p:nvPr>
            <p:custDataLst>
              <p:tags r:id="rId9"/>
            </p:custDataLst>
          </p:nvPr>
        </p:nvSpPr>
        <p:spPr>
          <a:xfrm>
            <a:off x="7992110" y="2834640"/>
            <a:ext cx="3456432" cy="914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13"/>
          <p:cNvSpPr/>
          <p:nvPr/>
        </p:nvSpPr>
        <p:spPr>
          <a:xfrm>
            <a:off x="214284" y="320168"/>
            <a:ext cx="1853565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HR</a:t>
            </a: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的分工</a:t>
            </a:r>
            <a:endParaRPr lang="zh-CN" altLang="en-US" sz="2800" b="1" i="0" u="none" strike="noStrike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1"/>
            </p:custDataLst>
          </p:nvPr>
        </p:nvSpPr>
        <p:spPr>
          <a:xfrm>
            <a:off x="10085070" y="2447925"/>
            <a:ext cx="2360295" cy="472440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lang="zh-CN"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</a:t>
            </a:r>
            <a:r>
              <a:rPr lang="zh-CN"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</a:t>
            </a:r>
            <a:endParaRPr lang="zh-CN"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9" name="组合 68"/>
          <p:cNvGrpSpPr/>
          <p:nvPr>
            <p:custDataLst>
              <p:tags r:id="rId2"/>
            </p:custDataLst>
          </p:nvPr>
        </p:nvGrpSpPr>
        <p:grpSpPr>
          <a:xfrm>
            <a:off x="973455" y="2398395"/>
            <a:ext cx="10194769" cy="2717033"/>
            <a:chOff x="1155" y="4650"/>
            <a:chExt cx="12096" cy="4279"/>
          </a:xfrm>
        </p:grpSpPr>
        <p:grpSp>
          <p:nvGrpSpPr>
            <p:cNvPr id="56" name="组合 55"/>
            <p:cNvGrpSpPr/>
            <p:nvPr/>
          </p:nvGrpSpPr>
          <p:grpSpPr>
            <a:xfrm>
              <a:off x="5315" y="4710"/>
              <a:ext cx="3788" cy="4219"/>
              <a:chOff x="-3888" y="7215"/>
              <a:chExt cx="5166" cy="3492"/>
            </a:xfrm>
          </p:grpSpPr>
          <p:sp>
            <p:nvSpPr>
              <p:cNvPr id="57" name="AutoShape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-3888" y="7215"/>
                <a:ext cx="5166" cy="3492"/>
              </a:xfrm>
              <a:prstGeom prst="roundRect">
                <a:avLst>
                  <a:gd name="adj" fmla="val 7254"/>
                </a:avLst>
              </a:prstGeom>
              <a:solidFill>
                <a:srgbClr val="FFFFFF">
                  <a:alpha val="100000"/>
                </a:srgbClr>
              </a:solidFill>
              <a:ln w="12700" cap="flat">
                <a:noFill/>
                <a:prstDash val="solid"/>
              </a:ln>
              <a:effectLst>
                <a:outerShdw blurRad="254000" dist="63500" dir="2700000" algn="tl" rotWithShape="0">
                  <a:srgbClr val="808080">
                    <a:alpha val="10000"/>
                  </a:srgbClr>
                </a:outerShdw>
              </a:effectLst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58" name="AutoShape 12"/>
              <p:cNvSpPr/>
              <p:nvPr>
                <p:custDataLst>
                  <p:tags r:id="rId4"/>
                </p:custDataLst>
              </p:nvPr>
            </p:nvSpPr>
            <p:spPr>
              <a:xfrm rot="10800000">
                <a:off x="-3888" y="8269"/>
                <a:ext cx="5166" cy="2325"/>
              </a:xfrm>
              <a:prstGeom prst="round2SameRect">
                <a:avLst>
                  <a:gd name="adj1" fmla="val 8442"/>
                  <a:gd name="adj2" fmla="val 0"/>
                </a:avLst>
              </a:prstGeom>
              <a:gradFill rotWithShape="1">
                <a:gsLst>
                  <a:gs pos="0">
                    <a:srgbClr val="FC8A18">
                      <a:alpha val="70000"/>
                    </a:srgbClr>
                  </a:gs>
                  <a:gs pos="100000">
                    <a:srgbClr val="F2F2F2">
                      <a:alpha val="10000"/>
                    </a:srgbClr>
                  </a:gs>
                </a:gsLst>
                <a:lin ang="54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>
              <a:off x="1155" y="4710"/>
              <a:ext cx="3788" cy="4219"/>
              <a:chOff x="-3888" y="7215"/>
              <a:chExt cx="5166" cy="3492"/>
            </a:xfrm>
          </p:grpSpPr>
          <p:sp>
            <p:nvSpPr>
              <p:cNvPr id="53" name="AutoShape 11"/>
              <p:cNvSpPr/>
              <p:nvPr>
                <p:custDataLst>
                  <p:tags r:id="rId5"/>
                </p:custDataLst>
              </p:nvPr>
            </p:nvSpPr>
            <p:spPr>
              <a:xfrm>
                <a:off x="-3888" y="7215"/>
                <a:ext cx="5166" cy="3492"/>
              </a:xfrm>
              <a:prstGeom prst="roundRect">
                <a:avLst>
                  <a:gd name="adj" fmla="val 7254"/>
                </a:avLst>
              </a:prstGeom>
              <a:solidFill>
                <a:srgbClr val="FFFFFF">
                  <a:alpha val="100000"/>
                </a:srgbClr>
              </a:solidFill>
              <a:ln w="12700" cap="flat">
                <a:noFill/>
                <a:prstDash val="solid"/>
              </a:ln>
              <a:effectLst>
                <a:outerShdw blurRad="254000" dist="63500" dir="2700000" algn="tl" rotWithShape="0">
                  <a:srgbClr val="808080">
                    <a:alpha val="10000"/>
                  </a:srgbClr>
                </a:outerShdw>
              </a:effectLst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54" name="AutoShape 12"/>
              <p:cNvSpPr/>
              <p:nvPr>
                <p:custDataLst>
                  <p:tags r:id="rId6"/>
                </p:custDataLst>
              </p:nvPr>
            </p:nvSpPr>
            <p:spPr>
              <a:xfrm rot="10800000">
                <a:off x="-3888" y="8269"/>
                <a:ext cx="5166" cy="2325"/>
              </a:xfrm>
              <a:prstGeom prst="round2SameRect">
                <a:avLst>
                  <a:gd name="adj1" fmla="val 8442"/>
                  <a:gd name="adj2" fmla="val 0"/>
                </a:avLst>
              </a:prstGeom>
              <a:gradFill rotWithShape="1">
                <a:gsLst>
                  <a:gs pos="0">
                    <a:srgbClr val="FC8A18">
                      <a:alpha val="70000"/>
                    </a:srgbClr>
                  </a:gs>
                  <a:gs pos="100000">
                    <a:srgbClr val="F2F2F2">
                      <a:alpha val="10000"/>
                    </a:srgbClr>
                  </a:gs>
                </a:gsLst>
                <a:lin ang="54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9462" y="4710"/>
              <a:ext cx="3789" cy="4218"/>
              <a:chOff x="-3805" y="7215"/>
              <a:chExt cx="5167" cy="3492"/>
            </a:xfrm>
          </p:grpSpPr>
          <p:sp>
            <p:nvSpPr>
              <p:cNvPr id="60" name="AutoShape 11"/>
              <p:cNvSpPr/>
              <p:nvPr>
                <p:custDataLst>
                  <p:tags r:id="rId7"/>
                </p:custDataLst>
              </p:nvPr>
            </p:nvSpPr>
            <p:spPr>
              <a:xfrm>
                <a:off x="-3804" y="7215"/>
                <a:ext cx="5166" cy="3492"/>
              </a:xfrm>
              <a:prstGeom prst="roundRect">
                <a:avLst>
                  <a:gd name="adj" fmla="val 7254"/>
                </a:avLst>
              </a:prstGeom>
              <a:solidFill>
                <a:srgbClr val="FFFFFF">
                  <a:alpha val="100000"/>
                </a:srgbClr>
              </a:solidFill>
              <a:ln w="12700" cap="flat">
                <a:noFill/>
                <a:prstDash val="solid"/>
              </a:ln>
              <a:effectLst>
                <a:outerShdw blurRad="254000" dist="63500" dir="2700000" algn="tl" rotWithShape="0">
                  <a:srgbClr val="808080">
                    <a:alpha val="10000"/>
                  </a:srgbClr>
                </a:outerShdw>
              </a:effectLst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61" name="AutoShape 12"/>
              <p:cNvSpPr/>
              <p:nvPr>
                <p:custDataLst>
                  <p:tags r:id="rId8"/>
                </p:custDataLst>
              </p:nvPr>
            </p:nvSpPr>
            <p:spPr>
              <a:xfrm rot="10800000">
                <a:off x="-3805" y="8269"/>
                <a:ext cx="5166" cy="2325"/>
              </a:xfrm>
              <a:prstGeom prst="round2SameRect">
                <a:avLst>
                  <a:gd name="adj1" fmla="val 8442"/>
                  <a:gd name="adj2" fmla="val 0"/>
                </a:avLst>
              </a:prstGeom>
              <a:gradFill rotWithShape="1">
                <a:gsLst>
                  <a:gs pos="0">
                    <a:srgbClr val="FC8A18">
                      <a:alpha val="70000"/>
                    </a:srgbClr>
                  </a:gs>
                  <a:gs pos="100000">
                    <a:srgbClr val="F2F2F2">
                      <a:alpha val="10000"/>
                    </a:srgbClr>
                  </a:gs>
                </a:gsLst>
                <a:lin ang="5400000"/>
              </a:gra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</p:grpSp>
        <p:sp>
          <p:nvSpPr>
            <p:cNvPr id="10" name="TextBox 9"/>
            <p:cNvSpPr txBox="1"/>
            <p:nvPr>
              <p:custDataLst>
                <p:tags r:id="rId9"/>
              </p:custDataLst>
            </p:nvPr>
          </p:nvSpPr>
          <p:spPr>
            <a:xfrm>
              <a:off x="1209" y="5681"/>
              <a:ext cx="3717" cy="501"/>
            </a:xfrm>
            <a:prstGeom prst="rect">
              <a:avLst/>
            </a:prstGeom>
            <a:noFill/>
          </p:spPr>
          <p:txBody>
            <a:bodyPr wrap="square" lIns="45720" tIns="36576" rIns="45720" bIns="36576" anchor="t" anchorCtr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lang="zh-CN" sz="1600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定规则</a:t>
              </a:r>
              <a:r>
                <a:rPr lang="en-US" altLang="zh-CN" sz="1600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· </a:t>
              </a:r>
              <a:r>
                <a:rPr lang="zh-CN" sz="1600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内部</a:t>
              </a:r>
              <a:r>
                <a:rPr sz="1600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专家</a:t>
              </a:r>
              <a:endParaRPr sz="1600">
                <a:solidFill>
                  <a:srgbClr val="F641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0"/>
            <p:cNvSpPr txBox="1"/>
            <p:nvPr>
              <p:custDataLst>
                <p:tags r:id="rId10"/>
              </p:custDataLst>
            </p:nvPr>
          </p:nvSpPr>
          <p:spPr>
            <a:xfrm>
              <a:off x="1427" y="6430"/>
              <a:ext cx="3342" cy="2048"/>
            </a:xfrm>
            <a:prstGeom prst="rect">
              <a:avLst/>
            </a:prstGeom>
            <a:noFill/>
          </p:spPr>
          <p:txBody>
            <a:bodyPr wrap="square" lIns="45720" tIns="36576" rIns="45720" bIns="36576" anchor="t" anchorCtr="0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政策与方案的设计者</a:t>
              </a:r>
              <a:endParaRPr sz="13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</a:t>
              </a:r>
              <a:r>
                <a:rPr lang="zh-CN"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招聘、</a:t>
              </a: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薪酬、绩效、职级体系</a:t>
              </a:r>
              <a:endParaRPr sz="13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重大组织与人才项目</a:t>
              </a:r>
              <a:endParaRPr sz="13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为全公司定标准、定框架</a:t>
              </a:r>
              <a:endParaRPr sz="13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4"/>
            <p:cNvSpPr txBox="1"/>
            <p:nvPr>
              <p:custDataLst>
                <p:tags r:id="rId11"/>
              </p:custDataLst>
            </p:nvPr>
          </p:nvSpPr>
          <p:spPr>
            <a:xfrm>
              <a:off x="9467" y="5725"/>
              <a:ext cx="3717" cy="501"/>
            </a:xfrm>
            <a:prstGeom prst="rect">
              <a:avLst/>
            </a:prstGeom>
            <a:noFill/>
          </p:spPr>
          <p:txBody>
            <a:bodyPr wrap="square" lIns="45720" tIns="36576" rIns="45720" bIns="36576" anchor="t" anchorCtr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lang="zh-CN" sz="1600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管事务</a:t>
              </a:r>
              <a:r>
                <a:rPr lang="en-US" altLang="zh-CN" sz="1600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· </a:t>
              </a:r>
              <a:r>
                <a:rPr sz="1600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共享服务</a:t>
              </a:r>
              <a:endParaRPr sz="1600">
                <a:solidFill>
                  <a:srgbClr val="F641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5"/>
            <p:cNvSpPr txBox="1"/>
            <p:nvPr>
              <p:custDataLst>
                <p:tags r:id="rId12"/>
              </p:custDataLst>
            </p:nvPr>
          </p:nvSpPr>
          <p:spPr>
            <a:xfrm>
              <a:off x="9733" y="6430"/>
              <a:ext cx="3342" cy="2048"/>
            </a:xfrm>
            <a:prstGeom prst="rect">
              <a:avLst/>
            </a:prstGeom>
            <a:noFill/>
          </p:spPr>
          <p:txBody>
            <a:bodyPr wrap="square" lIns="45720" tIns="36576" rIns="45720" bIns="36576" anchor="t" anchorCtr="0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标准化事务的处理中心</a:t>
              </a:r>
              <a:endParaRPr sz="13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入离</a:t>
              </a:r>
              <a:r>
                <a:rPr lang="zh-CN"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转调</a:t>
              </a: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、社保、证明</a:t>
              </a:r>
              <a:endParaRPr sz="13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系统支撑与数据服务</a:t>
              </a:r>
              <a:endParaRPr sz="13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让业务「办事不费劲」</a:t>
              </a:r>
              <a:endParaRPr sz="13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" name="TextBox 18"/>
            <p:cNvSpPr txBox="1"/>
            <p:nvPr>
              <p:custDataLst>
                <p:tags r:id="rId13"/>
              </p:custDataLst>
            </p:nvPr>
          </p:nvSpPr>
          <p:spPr>
            <a:xfrm>
              <a:off x="8897" y="4650"/>
              <a:ext cx="3717" cy="744"/>
            </a:xfrm>
            <a:prstGeom prst="rect">
              <a:avLst/>
            </a:prstGeom>
            <a:noFill/>
          </p:spPr>
          <p:txBody>
            <a:bodyPr wrap="square" lIns="45720" tIns="36576" rIns="45720" bIns="36576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2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HRBP</a:t>
              </a:r>
              <a:endPara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Box 19"/>
            <p:cNvSpPr txBox="1"/>
            <p:nvPr>
              <p:custDataLst>
                <p:tags r:id="rId14"/>
              </p:custDataLst>
            </p:nvPr>
          </p:nvSpPr>
          <p:spPr>
            <a:xfrm>
              <a:off x="5368" y="5681"/>
              <a:ext cx="3717" cy="501"/>
            </a:xfrm>
            <a:prstGeom prst="rect">
              <a:avLst/>
            </a:prstGeom>
            <a:noFill/>
          </p:spPr>
          <p:txBody>
            <a:bodyPr wrap="square" lIns="45720" tIns="36576" rIns="45720" bIns="36576" anchor="t" anchorCtr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lang="zh-CN" sz="1600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贴业务</a:t>
              </a:r>
              <a:r>
                <a:rPr lang="en-US" altLang="zh-CN" sz="1600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· </a:t>
              </a:r>
              <a:r>
                <a:rPr sz="1600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业务伙伴</a:t>
              </a:r>
              <a:endParaRPr sz="1600">
                <a:solidFill>
                  <a:srgbClr val="F641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0"/>
            <p:cNvSpPr txBox="1"/>
            <p:nvPr>
              <p:custDataLst>
                <p:tags r:id="rId15"/>
              </p:custDataLst>
            </p:nvPr>
          </p:nvSpPr>
          <p:spPr>
            <a:xfrm>
              <a:off x="5537" y="6430"/>
              <a:ext cx="3342" cy="2048"/>
            </a:xfrm>
            <a:prstGeom prst="rect">
              <a:avLst/>
            </a:prstGeom>
            <a:noFill/>
          </p:spPr>
          <p:txBody>
            <a:bodyPr wrap="square" lIns="45720" tIns="36576" rIns="45720" bIns="36576" anchor="t" anchorCtr="0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派驻业务的 HR 伙伴</a:t>
              </a:r>
              <a:endParaRPr sz="13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懂业务、连人才、推组织</a:t>
              </a:r>
              <a:r>
                <a:rPr lang="zh-CN"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、促文化</a:t>
              </a:r>
              <a:endParaRPr sz="13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把政策在一线落地</a:t>
              </a:r>
              <a:endParaRPr sz="13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管理层的贴身参谋</a:t>
              </a:r>
              <a:endParaRPr sz="13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369" y="4914"/>
              <a:ext cx="3375" cy="628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p>
              <a:pPr algn="ctr"/>
              <a:r>
                <a:rPr lang="en-US" altLang="zh-CN" sz="2000" b="1" u="sng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HR</a:t>
              </a:r>
              <a:r>
                <a:rPr lang="zh-CN" altLang="en-US" sz="2000" b="1" u="sng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模块</a:t>
              </a:r>
              <a:endParaRPr lang="zh-CN" altLang="en-US" sz="2000" b="1" u="sng">
                <a:solidFill>
                  <a:srgbClr val="F641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5526" y="4914"/>
              <a:ext cx="3375" cy="628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p>
              <a:pPr algn="ctr"/>
              <a:r>
                <a:rPr lang="en-US" altLang="zh-CN" sz="2000" b="1" u="sng">
                  <a:solidFill>
                    <a:srgbClr val="F64102"/>
                  </a:solidFill>
                </a:rPr>
                <a:t>HR</a:t>
              </a:r>
              <a:r>
                <a:rPr lang="en-US" altLang="zh-CN" sz="2000" b="1" u="sng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</a:rPr>
                <a:t>BP</a:t>
              </a:r>
              <a:endParaRPr lang="en-US" altLang="zh-CN" sz="2000" b="1" u="sng">
                <a:solidFill>
                  <a:srgbClr val="F6410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9664" y="4914"/>
              <a:ext cx="3375" cy="628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p>
              <a:pPr algn="ctr"/>
              <a:r>
                <a:rPr lang="zh-CN" altLang="en-US" sz="2000" b="1" u="sng">
                  <a:solidFill>
                    <a:srgbClr val="F64102"/>
                  </a:solidFill>
                  <a:latin typeface="微软雅黑" panose="020B0503020204020204" charset="-122"/>
                  <a:ea typeface="微软雅黑" panose="020B0503020204020204" charset="-122"/>
                </a:rPr>
                <a:t>员工关系</a:t>
              </a:r>
              <a:endParaRPr lang="zh-CN" altLang="en-US" sz="2000" b="1" u="sng">
                <a:solidFill>
                  <a:srgbClr val="F6410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0" name="AutoShape 3"/>
          <p:cNvSpPr/>
          <p:nvPr/>
        </p:nvSpPr>
        <p:spPr>
          <a:xfrm>
            <a:off x="4249420" y="840105"/>
            <a:ext cx="3620770" cy="539115"/>
          </a:xfrm>
          <a:prstGeom prst="roundRect">
            <a:avLst/>
          </a:prstGeom>
          <a:gradFill rotWithShape="1">
            <a:gsLst>
              <a:gs pos="0">
                <a:srgbClr val="E05906">
                  <a:alpha val="100000"/>
                </a:srgbClr>
              </a:gs>
              <a:gs pos="67000">
                <a:srgbClr val="F4B183">
                  <a:alpha val="100000"/>
                </a:srgbClr>
              </a:gs>
              <a:gs pos="100000">
                <a:srgbClr val="EA8545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>
            <a:noFill/>
            <a:prstDash val="solid"/>
          </a:ln>
          <a:effectLst>
            <a:outerShdw blurRad="152400" dist="76200" dir="2700000" algn="tl" rotWithShape="0">
              <a:srgbClr val="E72525">
                <a:alpha val="3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000" b="1" i="0" u="none" strike="noStrike" spc="1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人力资源部</a:t>
            </a:r>
            <a:r>
              <a:rPr lang="en-US" altLang="zh-CN" sz="2000" b="1" i="0" u="none" strike="noStrike" spc="1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altLang="zh-CN" sz="2000" b="1" i="0" u="none" strike="noStrike" spc="1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71" name="组合 70"/>
          <p:cNvGrpSpPr/>
          <p:nvPr>
            <p:custDataLst>
              <p:tags r:id="rId16"/>
            </p:custDataLst>
          </p:nvPr>
        </p:nvGrpSpPr>
        <p:grpSpPr>
          <a:xfrm>
            <a:off x="972820" y="5137150"/>
            <a:ext cx="10203197" cy="1357062"/>
            <a:chOff x="1155" y="6086"/>
            <a:chExt cx="12106" cy="2373"/>
          </a:xfrm>
        </p:grpSpPr>
        <p:grpSp>
          <p:nvGrpSpPr>
            <p:cNvPr id="72" name="组合 71"/>
            <p:cNvGrpSpPr/>
            <p:nvPr/>
          </p:nvGrpSpPr>
          <p:grpSpPr>
            <a:xfrm>
              <a:off x="5315" y="6086"/>
              <a:ext cx="3788" cy="2373"/>
              <a:chOff x="-3888" y="8354"/>
              <a:chExt cx="5166" cy="1964"/>
            </a:xfrm>
          </p:grpSpPr>
          <p:sp>
            <p:nvSpPr>
              <p:cNvPr id="73" name="AutoShape 11"/>
              <p:cNvSpPr/>
              <p:nvPr>
                <p:custDataLst>
                  <p:tags r:id="rId17"/>
                </p:custDataLst>
              </p:nvPr>
            </p:nvSpPr>
            <p:spPr>
              <a:xfrm>
                <a:off x="-3888" y="8354"/>
                <a:ext cx="5166" cy="1542"/>
              </a:xfrm>
              <a:prstGeom prst="roundRect">
                <a:avLst>
                  <a:gd name="adj" fmla="val 7254"/>
                </a:avLst>
              </a:prstGeom>
              <a:solidFill>
                <a:srgbClr val="FFFFFF">
                  <a:alpha val="100000"/>
                </a:srgbClr>
              </a:solidFill>
              <a:ln w="12700" cap="flat">
                <a:noFill/>
                <a:prstDash val="solid"/>
              </a:ln>
              <a:effectLst>
                <a:outerShdw blurRad="254000" dist="63500" dir="2700000" algn="tl" rotWithShape="0">
                  <a:srgbClr val="808080">
                    <a:alpha val="10000"/>
                  </a:srgbClr>
                </a:outerShdw>
              </a:effectLst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4" name="AutoShape 12"/>
              <p:cNvSpPr/>
              <p:nvPr>
                <p:custDataLst>
                  <p:tags r:id="rId18"/>
                </p:custDataLst>
              </p:nvPr>
            </p:nvSpPr>
            <p:spPr>
              <a:xfrm rot="10800000">
                <a:off x="-3888" y="8522"/>
                <a:ext cx="5166" cy="1796"/>
              </a:xfrm>
              <a:prstGeom prst="round2SameRect">
                <a:avLst>
                  <a:gd name="adj1" fmla="val 8442"/>
                  <a:gd name="adj2" fmla="val 0"/>
                </a:avLst>
              </a:prstGeom>
              <a:solidFill>
                <a:srgbClr val="F5EEF5"/>
              </a:soli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1155" y="6086"/>
              <a:ext cx="3788" cy="2373"/>
              <a:chOff x="-3888" y="8354"/>
              <a:chExt cx="5166" cy="1964"/>
            </a:xfrm>
          </p:grpSpPr>
          <p:sp>
            <p:nvSpPr>
              <p:cNvPr id="76" name="AutoShape 11"/>
              <p:cNvSpPr/>
              <p:nvPr>
                <p:custDataLst>
                  <p:tags r:id="rId19"/>
                </p:custDataLst>
              </p:nvPr>
            </p:nvSpPr>
            <p:spPr>
              <a:xfrm>
                <a:off x="-3888" y="8354"/>
                <a:ext cx="5166" cy="1542"/>
              </a:xfrm>
              <a:prstGeom prst="roundRect">
                <a:avLst>
                  <a:gd name="adj" fmla="val 7254"/>
                </a:avLst>
              </a:prstGeom>
              <a:solidFill>
                <a:srgbClr val="FFFFFF">
                  <a:alpha val="100000"/>
                </a:srgbClr>
              </a:solidFill>
              <a:ln w="12700" cap="flat">
                <a:noFill/>
                <a:prstDash val="solid"/>
              </a:ln>
              <a:effectLst>
                <a:outerShdw blurRad="254000" dist="63500" dir="2700000" algn="tl" rotWithShape="0">
                  <a:srgbClr val="808080">
                    <a:alpha val="10000"/>
                  </a:srgbClr>
                </a:outerShdw>
              </a:effectLst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77" name="AutoShape 12"/>
              <p:cNvSpPr/>
              <p:nvPr>
                <p:custDataLst>
                  <p:tags r:id="rId20"/>
                </p:custDataLst>
              </p:nvPr>
            </p:nvSpPr>
            <p:spPr>
              <a:xfrm rot="10800000">
                <a:off x="-3888" y="8522"/>
                <a:ext cx="5166" cy="1796"/>
              </a:xfrm>
              <a:prstGeom prst="round2SameRect">
                <a:avLst>
                  <a:gd name="adj1" fmla="val 8442"/>
                  <a:gd name="adj2" fmla="val 0"/>
                </a:avLst>
              </a:prstGeom>
              <a:solidFill>
                <a:srgbClr val="F5EEF5"/>
              </a:soli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9463" y="6086"/>
              <a:ext cx="3798" cy="2373"/>
              <a:chOff x="-3804" y="8354"/>
              <a:chExt cx="5180" cy="1964"/>
            </a:xfrm>
          </p:grpSpPr>
          <p:sp>
            <p:nvSpPr>
              <p:cNvPr id="79" name="AutoShape 11"/>
              <p:cNvSpPr/>
              <p:nvPr>
                <p:custDataLst>
                  <p:tags r:id="rId21"/>
                </p:custDataLst>
              </p:nvPr>
            </p:nvSpPr>
            <p:spPr>
              <a:xfrm>
                <a:off x="-3804" y="8354"/>
                <a:ext cx="5166" cy="1542"/>
              </a:xfrm>
              <a:prstGeom prst="roundRect">
                <a:avLst>
                  <a:gd name="adj" fmla="val 7254"/>
                </a:avLst>
              </a:prstGeom>
              <a:solidFill>
                <a:srgbClr val="FFFFFF">
                  <a:alpha val="100000"/>
                </a:srgbClr>
              </a:solidFill>
              <a:ln w="12700" cap="flat">
                <a:noFill/>
                <a:prstDash val="solid"/>
              </a:ln>
              <a:effectLst>
                <a:outerShdw blurRad="254000" dist="63500" dir="2700000" algn="tl" rotWithShape="0">
                  <a:srgbClr val="808080">
                    <a:alpha val="10000"/>
                  </a:srgbClr>
                </a:outerShdw>
              </a:effectLst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  <p:sp>
            <p:nvSpPr>
              <p:cNvPr id="80" name="AutoShape 12"/>
              <p:cNvSpPr/>
              <p:nvPr>
                <p:custDataLst>
                  <p:tags r:id="rId22"/>
                </p:custDataLst>
              </p:nvPr>
            </p:nvSpPr>
            <p:spPr>
              <a:xfrm rot="10800000">
                <a:off x="-3790" y="8520"/>
                <a:ext cx="5166" cy="1798"/>
              </a:xfrm>
              <a:prstGeom prst="round2SameRect">
                <a:avLst>
                  <a:gd name="adj1" fmla="val 8442"/>
                  <a:gd name="adj2" fmla="val 0"/>
                </a:avLst>
              </a:prstGeom>
              <a:solidFill>
                <a:srgbClr val="F5EEF5"/>
              </a:solidFill>
              <a:ln w="12700" cap="flat">
                <a:solidFill>
                  <a:schemeClr val="bg1"/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  <a:endParaRPr lang="en-US" sz="1100"/>
              </a:p>
            </p:txBody>
          </p:sp>
        </p:grpSp>
        <p:sp>
          <p:nvSpPr>
            <p:cNvPr id="82" name="TextBox 10"/>
            <p:cNvSpPr txBox="1"/>
            <p:nvPr>
              <p:custDataLst>
                <p:tags r:id="rId23"/>
              </p:custDataLst>
            </p:nvPr>
          </p:nvSpPr>
          <p:spPr>
            <a:xfrm>
              <a:off x="1367" y="6386"/>
              <a:ext cx="3517" cy="1996"/>
            </a:xfrm>
            <a:prstGeom prst="rect">
              <a:avLst/>
            </a:prstGeom>
            <a:noFill/>
          </p:spPr>
          <p:txBody>
            <a:bodyPr wrap="square" lIns="45720" tIns="36576" rIns="45720" bIns="36576" anchor="t" anchorCtr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</a:t>
              </a:r>
              <a:r>
                <a:rPr lang="zh-CN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招聘：</a:t>
              </a:r>
              <a:r>
                <a:rPr lang="zh-CN" altLang="en-US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罗会畅</a:t>
              </a:r>
              <a:r>
                <a:rPr lang="en-US" altLang="zh-CN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-HC</a:t>
              </a:r>
              <a:endParaRPr lang="en-US" altLang="zh-CN" sz="130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lang="en-US" altLang="zh-CN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  </a:t>
              </a:r>
              <a:r>
                <a:rPr lang="zh-CN" altLang="en-US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刘思程、陈馨兰</a:t>
              </a:r>
              <a:r>
                <a:rPr lang="en-US" altLang="zh-CN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-XM</a:t>
              </a:r>
              <a:r>
                <a:rPr lang="zh-CN" altLang="en-US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 </a:t>
              </a:r>
              <a:endParaRPr lang="en-US" altLang="zh-CN" sz="130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lang="en-US" altLang="zh-CN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  </a:t>
              </a:r>
              <a:r>
                <a:rPr lang="zh-CN" altLang="en-US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岑子欣、戴满豪、魏尔萱</a:t>
              </a:r>
              <a:r>
                <a:rPr lang="en-US" altLang="zh-CN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-GZ</a:t>
              </a:r>
              <a:endParaRPr lang="en-US" altLang="zh-CN" sz="130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</a:t>
              </a:r>
              <a:r>
                <a:rPr lang="zh-CN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培训：周银</a:t>
              </a:r>
              <a:r>
                <a:rPr lang="en-US" altLang="zh-CN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-XM</a:t>
              </a:r>
              <a:endParaRPr lang="en-US" altLang="zh-CN" sz="130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4" name="TextBox 15"/>
            <p:cNvSpPr txBox="1"/>
            <p:nvPr>
              <p:custDataLst>
                <p:tags r:id="rId24"/>
              </p:custDataLst>
            </p:nvPr>
          </p:nvSpPr>
          <p:spPr>
            <a:xfrm>
              <a:off x="9715" y="6537"/>
              <a:ext cx="3360" cy="932"/>
            </a:xfrm>
            <a:prstGeom prst="rect">
              <a:avLst/>
            </a:prstGeom>
            <a:noFill/>
          </p:spPr>
          <p:txBody>
            <a:bodyPr wrap="square" lIns="45720" tIns="36576" rIns="45720" bIns="36576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</a:t>
              </a:r>
              <a:r>
                <a:rPr lang="zh-CN" altLang="en-US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胡丹丹、李彤</a:t>
              </a:r>
              <a:r>
                <a:rPr lang="en-US" altLang="zh-CN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-XM</a:t>
              </a:r>
              <a:endParaRPr lang="zh-CN" altLang="en-US" sz="130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• </a:t>
              </a:r>
              <a:r>
                <a:rPr lang="zh-CN" altLang="en-US" sz="130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苏珍珍（产假）</a:t>
              </a:r>
              <a:r>
                <a:rPr lang="en-US" altLang="zh-CN" sz="130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-XM</a:t>
              </a:r>
              <a:endParaRPr lang="zh-CN" altLang="en-US" sz="130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endParaRPr lang="en-US" altLang="zh-CN" sz="130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7" name="TextBox 20"/>
            <p:cNvSpPr txBox="1"/>
            <p:nvPr>
              <p:custDataLst>
                <p:tags r:id="rId25"/>
              </p:custDataLst>
            </p:nvPr>
          </p:nvSpPr>
          <p:spPr>
            <a:xfrm>
              <a:off x="5537" y="6550"/>
              <a:ext cx="3342" cy="1698"/>
            </a:xfrm>
            <a:prstGeom prst="rect">
              <a:avLst/>
            </a:prstGeom>
            <a:noFill/>
          </p:spPr>
          <p:txBody>
            <a:bodyPr wrap="square" lIns="45720" tIns="36576" rIns="45720" bIns="36576" anchor="t" anchorCtr="0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</a:t>
              </a:r>
              <a:r>
                <a:rPr lang="zh-CN" altLang="en-US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品牌、货架、</a:t>
              </a:r>
              <a:r>
                <a:rPr lang="zh-CN" altLang="en-US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达播：陈文霞</a:t>
              </a:r>
              <a:r>
                <a:rPr lang="en-US" altLang="zh-CN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-GZ</a:t>
              </a:r>
              <a:endParaRPr lang="en-US" altLang="zh-CN" sz="130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• </a:t>
              </a:r>
              <a:r>
                <a:rPr lang="zh-CN" altLang="en-US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抖音、职能、</a:t>
              </a:r>
              <a:r>
                <a:rPr lang="zh-CN" altLang="en-US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长沙：邱秀腾</a:t>
              </a:r>
              <a:r>
                <a:rPr lang="en-US" altLang="zh-CN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-XM</a:t>
              </a:r>
              <a:endParaRPr lang="en-US" altLang="zh-CN" sz="130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lang="zh-CN" altLang="en-US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（工具</a:t>
              </a:r>
              <a:r>
                <a:rPr lang="zh-CN" altLang="en-US" sz="1300" b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统一）</a:t>
              </a:r>
              <a:endParaRPr lang="zh-CN" altLang="en-US" sz="130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91" name="直接连接符 90"/>
          <p:cNvCxnSpPr/>
          <p:nvPr/>
        </p:nvCxnSpPr>
        <p:spPr>
          <a:xfrm>
            <a:off x="2432050" y="1713865"/>
            <a:ext cx="7308000" cy="0"/>
          </a:xfrm>
          <a:prstGeom prst="line">
            <a:avLst/>
          </a:prstGeom>
          <a:ln w="3175">
            <a:solidFill>
              <a:srgbClr val="F6410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flipH="1">
            <a:off x="2432050" y="1716405"/>
            <a:ext cx="0" cy="648000"/>
          </a:xfrm>
          <a:prstGeom prst="line">
            <a:avLst/>
          </a:prstGeom>
          <a:ln w="3175">
            <a:solidFill>
              <a:srgbClr val="F6410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H="1">
            <a:off x="9740265" y="1718310"/>
            <a:ext cx="0" cy="648000"/>
          </a:xfrm>
          <a:prstGeom prst="line">
            <a:avLst/>
          </a:prstGeom>
          <a:ln w="3175">
            <a:solidFill>
              <a:srgbClr val="F6410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flipH="1">
            <a:off x="6074410" y="1426845"/>
            <a:ext cx="0" cy="900000"/>
          </a:xfrm>
          <a:prstGeom prst="line">
            <a:avLst/>
          </a:prstGeom>
          <a:ln w="3175">
            <a:solidFill>
              <a:srgbClr val="F6410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AutoShape 13"/>
          <p:cNvSpPr/>
          <p:nvPr/>
        </p:nvSpPr>
        <p:spPr>
          <a:xfrm>
            <a:off x="214284" y="320168"/>
            <a:ext cx="5626735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招聘</a:t>
            </a:r>
            <a:r>
              <a:rPr lang="en-US" altLang="zh-CN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标准：先画好像，再找对人</a:t>
            </a:r>
            <a:r>
              <a:rPr lang="en-US" altLang="zh-CN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zh-CN" altLang="en-US" sz="2800" b="1" i="0" u="none" strike="noStrike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7" name="Shape 5"/>
          <p:cNvSpPr/>
          <p:nvPr/>
        </p:nvSpPr>
        <p:spPr>
          <a:xfrm>
            <a:off x="469265" y="1627505"/>
            <a:ext cx="2989580" cy="2606040"/>
          </a:xfrm>
          <a:prstGeom prst="roundRect">
            <a:avLst>
              <a:gd name="adj" fmla="val 4211"/>
            </a:avLst>
          </a:prstGeom>
          <a:gradFill>
            <a:gsLst>
              <a:gs pos="50410">
                <a:srgbClr val="FB9B36"/>
              </a:gs>
              <a:gs pos="0">
                <a:srgbClr val="FE564D"/>
              </a:gs>
              <a:gs pos="100000">
                <a:srgbClr val="F9CA26"/>
              </a:gs>
            </a:gsLst>
            <a:lin ang="5400000" scaled="1"/>
          </a:gra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98" name="Text 6"/>
          <p:cNvSpPr/>
          <p:nvPr/>
        </p:nvSpPr>
        <p:spPr>
          <a:xfrm>
            <a:off x="789305" y="18237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第一标准</a:t>
            </a:r>
            <a:endParaRPr 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9" name="Text 7"/>
          <p:cNvSpPr/>
          <p:nvPr/>
        </p:nvSpPr>
        <p:spPr>
          <a:xfrm>
            <a:off x="789305" y="216204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价值观匹配</a:t>
            </a:r>
            <a:endParaRPr lang="en-US" sz="2800" dirty="0"/>
          </a:p>
        </p:txBody>
      </p:sp>
      <p:sp>
        <p:nvSpPr>
          <p:cNvPr id="100" name="Text 8"/>
          <p:cNvSpPr/>
          <p:nvPr/>
        </p:nvSpPr>
        <p:spPr>
          <a:xfrm>
            <a:off x="789305" y="278384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正道 · 利他 · 真实 · 情义</a:t>
            </a:r>
            <a:endParaRPr lang="en-US" sz="17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789305" y="322275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面试必问 · 背调必查</a:t>
            </a:r>
            <a:endParaRPr lang="en-US" sz="1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2" name="Shape 10"/>
          <p:cNvSpPr/>
          <p:nvPr/>
        </p:nvSpPr>
        <p:spPr>
          <a:xfrm>
            <a:off x="778510" y="3652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80018"/>
          </a:solidFill>
        </p:spPr>
      </p:sp>
      <p:sp>
        <p:nvSpPr>
          <p:cNvPr id="103" name="Text 11"/>
          <p:cNvSpPr/>
          <p:nvPr/>
        </p:nvSpPr>
        <p:spPr>
          <a:xfrm>
            <a:off x="789305" y="3652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不诚信：一票否决</a:t>
            </a:r>
            <a:endParaRPr lang="en-US" sz="1300" dirty="0"/>
          </a:p>
        </p:txBody>
      </p:sp>
      <p:sp>
        <p:nvSpPr>
          <p:cNvPr id="105" name="Text 13"/>
          <p:cNvSpPr/>
          <p:nvPr/>
        </p:nvSpPr>
        <p:spPr>
          <a:xfrm>
            <a:off x="3728720" y="197104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锐意进取</a:t>
            </a:r>
            <a:endParaRPr lang="en-US" sz="1900" dirty="0"/>
          </a:p>
        </p:txBody>
      </p:sp>
      <p:sp>
        <p:nvSpPr>
          <p:cNvPr id="106" name="Text 14"/>
          <p:cNvSpPr/>
          <p:nvPr/>
        </p:nvSpPr>
        <p:spPr>
          <a:xfrm>
            <a:off x="4995545" y="20167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想打胜仗、能扛目标，跟得上大促节奏</a:t>
            </a:r>
            <a:endParaRPr lang="en-US" sz="1400" dirty="0">
              <a:solidFill>
                <a:srgbClr val="3A2F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7" name="Shape 15"/>
          <p:cNvSpPr/>
          <p:nvPr/>
        </p:nvSpPr>
        <p:spPr>
          <a:xfrm>
            <a:off x="3728720" y="2537968"/>
            <a:ext cx="453600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108" name="Text 16"/>
          <p:cNvSpPr/>
          <p:nvPr/>
        </p:nvSpPr>
        <p:spPr>
          <a:xfrm>
            <a:off x="3728720" y="27208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求真务实</a:t>
            </a:r>
            <a:endParaRPr lang="en-US" sz="1900" dirty="0"/>
          </a:p>
        </p:txBody>
      </p:sp>
      <p:sp>
        <p:nvSpPr>
          <p:cNvPr id="109" name="Text 17"/>
          <p:cNvSpPr/>
          <p:nvPr/>
        </p:nvSpPr>
        <p:spPr>
          <a:xfrm>
            <a:off x="4995545" y="27665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用数据说话、不玩虚的，结果导向</a:t>
            </a:r>
            <a:endParaRPr lang="en-US" sz="1400" dirty="0"/>
          </a:p>
        </p:txBody>
      </p:sp>
      <p:sp>
        <p:nvSpPr>
          <p:cNvPr id="110" name="Shape 18"/>
          <p:cNvSpPr/>
          <p:nvPr/>
        </p:nvSpPr>
        <p:spPr>
          <a:xfrm>
            <a:off x="3728720" y="3287776"/>
            <a:ext cx="453600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111" name="Text 19"/>
          <p:cNvSpPr/>
          <p:nvPr/>
        </p:nvSpPr>
        <p:spPr>
          <a:xfrm>
            <a:off x="3728720" y="3470656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创造力强</a:t>
            </a:r>
            <a:endParaRPr lang="en-US" sz="1900" dirty="0"/>
          </a:p>
        </p:txBody>
      </p:sp>
      <p:sp>
        <p:nvSpPr>
          <p:cNvPr id="112" name="Text 20"/>
          <p:cNvSpPr/>
          <p:nvPr/>
        </p:nvSpPr>
        <p:spPr>
          <a:xfrm>
            <a:off x="4995545" y="351637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内容与玩法的源头活水，匹配年轻团队</a:t>
            </a:r>
            <a:endParaRPr lang="en-US" sz="1400" dirty="0"/>
          </a:p>
        </p:txBody>
      </p:sp>
      <p:sp>
        <p:nvSpPr>
          <p:cNvPr id="113" name="Shape 21"/>
          <p:cNvSpPr/>
          <p:nvPr/>
        </p:nvSpPr>
        <p:spPr>
          <a:xfrm>
            <a:off x="457200" y="5076825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5EEF5"/>
          </a:solidFill>
        </p:spPr>
      </p:sp>
      <p:sp>
        <p:nvSpPr>
          <p:cNvPr id="114" name="Text 22"/>
          <p:cNvSpPr/>
          <p:nvPr/>
        </p:nvSpPr>
        <p:spPr>
          <a:xfrm>
            <a:off x="731520" y="5287137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业务运营类</a:t>
            </a:r>
            <a:endParaRPr lang="en-US" sz="1600" b="1" u="sng" dirty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5" name="Text 23"/>
          <p:cNvSpPr/>
          <p:nvPr/>
        </p:nvSpPr>
        <p:spPr>
          <a:xfrm>
            <a:off x="731520" y="5689473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懂数据、懂平台玩法...</a:t>
            </a:r>
            <a:endParaRPr lang="en-US" sz="1250" dirty="0"/>
          </a:p>
        </p:txBody>
      </p:sp>
      <p:sp>
        <p:nvSpPr>
          <p:cNvPr id="116" name="Shape 24"/>
          <p:cNvSpPr/>
          <p:nvPr/>
        </p:nvSpPr>
        <p:spPr>
          <a:xfrm>
            <a:off x="4288536" y="5076825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5EEF5"/>
          </a:solidFill>
        </p:spPr>
      </p:sp>
      <p:sp>
        <p:nvSpPr>
          <p:cNvPr id="117" name="Text 25"/>
          <p:cNvSpPr/>
          <p:nvPr/>
        </p:nvSpPr>
        <p:spPr>
          <a:xfrm>
            <a:off x="4562856" y="5287137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品牌</a:t>
            </a:r>
            <a:r>
              <a:rPr lang="zh-CN" altLang="en-US" sz="1600" b="1" u="sng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策划</a:t>
            </a:r>
            <a:r>
              <a:rPr lang="en-US" sz="1600" b="1" u="sng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类</a:t>
            </a:r>
            <a:endParaRPr lang="en-US" sz="1600" b="1" u="sng" dirty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8" name="Text 26"/>
          <p:cNvSpPr/>
          <p:nvPr/>
        </p:nvSpPr>
        <p:spPr>
          <a:xfrm>
            <a:off x="4562856" y="5689473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懂审美、懂内容创意，做出品牌感...</a:t>
            </a:r>
            <a:endParaRPr lang="en-US" sz="1250" dirty="0"/>
          </a:p>
        </p:txBody>
      </p:sp>
      <p:sp>
        <p:nvSpPr>
          <p:cNvPr id="119" name="Shape 27"/>
          <p:cNvSpPr/>
          <p:nvPr/>
        </p:nvSpPr>
        <p:spPr>
          <a:xfrm>
            <a:off x="8119872" y="5076825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5EEF5"/>
          </a:solidFill>
        </p:spPr>
      </p:sp>
      <p:sp>
        <p:nvSpPr>
          <p:cNvPr id="120" name="Text 28"/>
          <p:cNvSpPr/>
          <p:nvPr/>
        </p:nvSpPr>
        <p:spPr>
          <a:xfrm>
            <a:off x="8394192" y="5287137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校招</a:t>
            </a:r>
            <a:endParaRPr lang="en-US" sz="1600" b="1" u="sng" dirty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1" name="Text 29"/>
          <p:cNvSpPr/>
          <p:nvPr/>
        </p:nvSpPr>
        <p:spPr>
          <a:xfrm>
            <a:off x="8394192" y="5689473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潜力＞经验，看文化契合与可塑性...</a:t>
            </a:r>
            <a:endParaRPr lang="en-US" sz="1250" dirty="0"/>
          </a:p>
        </p:txBody>
      </p:sp>
      <p:sp>
        <p:nvSpPr>
          <p:cNvPr id="122" name="Text 12"/>
          <p:cNvSpPr/>
          <p:nvPr/>
        </p:nvSpPr>
        <p:spPr>
          <a:xfrm>
            <a:off x="457200" y="44577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sz="160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</a:rPr>
              <a:t>各</a:t>
            </a:r>
            <a:r>
              <a:rPr lang="zh-CN" altLang="en-US" sz="160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</a:rPr>
              <a:t>条线细化人才画像（举例）</a:t>
            </a:r>
            <a:r>
              <a:rPr lang="en-US" altLang="zh-CN" sz="160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 sz="1600" b="1" dirty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427990" y="1094105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sz="160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</a:rPr>
              <a:t>各条线通用人才画像：</a:t>
            </a:r>
            <a:endParaRPr lang="zh-CN" altLang="en-US" sz="1600" b="1" dirty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>
            <a:alphaModFix amt="80000"/>
          </a:blip>
          <a:srcRect/>
          <a:stretch>
            <a:fillRect/>
          </a:stretch>
        </p:blipFill>
        <p:spPr>
          <a:xfrm>
            <a:off x="8549640" y="1219835"/>
            <a:ext cx="3185795" cy="281305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AutoShape 13"/>
          <p:cNvSpPr/>
          <p:nvPr/>
        </p:nvSpPr>
        <p:spPr>
          <a:xfrm>
            <a:off x="214284" y="320168"/>
            <a:ext cx="6028690" cy="9531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招聘</a:t>
            </a:r>
            <a:r>
              <a:rPr lang="en-US" altLang="zh-CN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流程：社招通用线</a:t>
            </a:r>
            <a:r>
              <a:rPr lang="en-US" altLang="zh-CN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+ </a:t>
            </a: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校招专线</a:t>
            </a:r>
            <a:endParaRPr lang="zh-CN" altLang="en-US" sz="2800" b="1" i="0" u="none" strike="noStrike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zh-CN" altLang="en-US" sz="2800" b="1" i="0" u="none" strike="noStrike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6400" y="1842897"/>
            <a:ext cx="21600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69544" y="2025777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9" name="Text 7"/>
          <p:cNvSpPr/>
          <p:nvPr/>
        </p:nvSpPr>
        <p:spPr>
          <a:xfrm>
            <a:off x="606044" y="202577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144" y="2501265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需求确认</a:t>
            </a:r>
            <a:endParaRPr lang="en-US" sz="1550" b="1" dirty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890" y="2867025"/>
            <a:ext cx="181927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依据业务策略确认人才策略</a:t>
            </a:r>
            <a:endParaRPr lang="zh-CN" altLang="en-US" sz="115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确认</a:t>
            </a:r>
            <a:r>
              <a:rPr lang="en-US" sz="115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编制与JD</a:t>
            </a:r>
            <a:endParaRPr lang="zh-CN" altLang="en-US" sz="115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61844" y="2501265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99588" y="1842897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37332" y="2025777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15" name="Text 13"/>
          <p:cNvSpPr/>
          <p:nvPr/>
        </p:nvSpPr>
        <p:spPr>
          <a:xfrm>
            <a:off x="3037332" y="202577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37332" y="2501265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寻访候选</a:t>
            </a:r>
            <a:endParaRPr lang="en-US" sz="1550" b="1" dirty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37332" y="2867025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内推 / 平台 / 猎头 / 校招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66132" y="2501265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103876" y="1842897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41620" y="2025777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1" name="Text 19"/>
          <p:cNvSpPr/>
          <p:nvPr/>
        </p:nvSpPr>
        <p:spPr>
          <a:xfrm>
            <a:off x="5341620" y="202577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1620" y="2501265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面试评估</a:t>
            </a:r>
            <a:endParaRPr lang="en-US" sz="1550" b="1" dirty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41620" y="2867025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HR面+业务面，2轮闭环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70420" y="2501265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408164" y="1842897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45908" y="2025777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7" name="Text 25"/>
          <p:cNvSpPr/>
          <p:nvPr/>
        </p:nvSpPr>
        <p:spPr>
          <a:xfrm>
            <a:off x="7645908" y="202577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45908" y="2501265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Offer审批</a:t>
            </a:r>
            <a:endParaRPr lang="en-US" sz="1550" b="1" dirty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645908" y="2867025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5个工作日内完成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474708" y="2501265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712452" y="1842897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950196" y="2025777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33" name="Text 31"/>
          <p:cNvSpPr/>
          <p:nvPr/>
        </p:nvSpPr>
        <p:spPr>
          <a:xfrm>
            <a:off x="9950196" y="202577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50196" y="2501265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入职融入</a:t>
            </a:r>
            <a:endParaRPr lang="en-US" sz="1550" b="1" dirty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950196" y="2867025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背调后入职</a:t>
            </a:r>
            <a:endParaRPr lang="en-US" sz="115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员工层</a:t>
            </a:r>
            <a:r>
              <a:rPr lang="en-US" altLang="zh-CN" sz="10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0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伙伴计划、上级</a:t>
            </a:r>
            <a:r>
              <a:rPr lang="en-US" sz="10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带教</a:t>
            </a:r>
            <a:r>
              <a:rPr lang="zh-CN" altLang="en-US" sz="10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10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管理层</a:t>
            </a:r>
            <a:r>
              <a:rPr lang="en-US" altLang="zh-CN" sz="10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0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专属融入计划</a:t>
            </a:r>
            <a:endParaRPr lang="zh-CN" altLang="en-US" sz="10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40030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C078A8"/>
          </a:solidFill>
        </p:spPr>
      </p:sp>
      <p:sp>
        <p:nvSpPr>
          <p:cNvPr id="38" name="Text 36"/>
          <p:cNvSpPr/>
          <p:nvPr/>
        </p:nvSpPr>
        <p:spPr>
          <a:xfrm>
            <a:off x="457200" y="400304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27届校招专线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94560" y="400304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78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8个岗位 · 4城同步</a:t>
            </a:r>
            <a:endParaRPr lang="en-US" sz="1500" dirty="0"/>
          </a:p>
        </p:txBody>
      </p:sp>
      <p:grpSp>
        <p:nvGrpSpPr>
          <p:cNvPr id="2" name="组合 1"/>
          <p:cNvGrpSpPr/>
          <p:nvPr/>
        </p:nvGrpSpPr>
        <p:grpSpPr>
          <a:xfrm>
            <a:off x="139700" y="4524375"/>
            <a:ext cx="8278495" cy="932815"/>
            <a:chOff x="0" y="7445"/>
            <a:chExt cx="18576" cy="1469"/>
          </a:xfrm>
        </p:grpSpPr>
        <p:sp>
          <p:nvSpPr>
            <p:cNvPr id="40" name="Shape 38"/>
            <p:cNvSpPr/>
            <p:nvPr/>
          </p:nvSpPr>
          <p:spPr>
            <a:xfrm>
              <a:off x="1440" y="8165"/>
              <a:ext cx="15696" cy="0"/>
            </a:xfrm>
            <a:prstGeom prst="line">
              <a:avLst/>
            </a:prstGeom>
            <a:noFill/>
            <a:ln w="25400">
              <a:solidFill>
                <a:srgbClr val="B997B9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1310" y="8075"/>
              <a:ext cx="238" cy="170"/>
            </a:xfrm>
            <a:prstGeom prst="ellipse">
              <a:avLst/>
            </a:prstGeom>
            <a:solidFill>
              <a:srgbClr val="C078A8"/>
            </a:solidFill>
            <a:ln w="25400">
              <a:solidFill>
                <a:srgbClr val="C078A8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0" y="7445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C078A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8月底</a:t>
              </a:r>
              <a:endParaRPr lang="en-US" sz="13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0" y="8453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6E627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职位发布</a:t>
              </a:r>
              <a:endParaRPr lang="en-US" sz="12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4450" y="8075"/>
              <a:ext cx="238" cy="17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B997B9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3139" y="7445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9–10月</a:t>
              </a:r>
              <a:endParaRPr lang="en-US" sz="130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3139" y="8453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6E627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宣讲·笔试·面试</a:t>
              </a:r>
              <a:endParaRPr lang="en-US" sz="125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7589" y="8075"/>
              <a:ext cx="238" cy="17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B997B9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6278" y="7445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11月</a:t>
              </a:r>
              <a:endParaRPr lang="en-US" sz="130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6278" y="8453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6E627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发放Offer</a:t>
              </a:r>
              <a:endParaRPr lang="en-US" sz="125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10728" y="8075"/>
              <a:ext cx="238" cy="17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B997B9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9418" y="7445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寒假</a:t>
              </a:r>
              <a:endParaRPr lang="en-US" sz="130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52" name="Text 50"/>
            <p:cNvSpPr/>
            <p:nvPr/>
          </p:nvSpPr>
          <p:spPr>
            <a:xfrm>
              <a:off x="9418" y="8453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6E627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实习见习</a:t>
              </a:r>
              <a:endParaRPr lang="en-US" sz="125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13867" y="8075"/>
              <a:ext cx="238" cy="17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B997B9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12557" y="7445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2027.7</a:t>
              </a:r>
              <a:endParaRPr lang="en-US" sz="130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12557" y="8453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6E627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入职报到</a:t>
              </a:r>
              <a:endParaRPr lang="en-US" sz="125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17006" y="8075"/>
              <a:ext cx="238" cy="17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B997B9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" name="Text 55"/>
            <p:cNvSpPr/>
            <p:nvPr/>
          </p:nvSpPr>
          <p:spPr>
            <a:xfrm>
              <a:off x="15696" y="7445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入职后</a:t>
              </a:r>
              <a:endParaRPr lang="en-US" sz="1300" b="1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58" name="Text 56"/>
            <p:cNvSpPr/>
            <p:nvPr/>
          </p:nvSpPr>
          <p:spPr>
            <a:xfrm>
              <a:off x="15696" y="8453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6E627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第7期集训营</a:t>
              </a:r>
              <a:endParaRPr lang="en-US" sz="1250" dirty="0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21880" b="26796"/>
          <a:stretch>
            <a:fillRect/>
          </a:stretch>
        </p:blipFill>
        <p:spPr>
          <a:xfrm>
            <a:off x="8678545" y="3811270"/>
            <a:ext cx="3825875" cy="26168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870440" y="6247765"/>
            <a:ext cx="1333500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 b="1" u="sng" baseline="3000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STAR</a:t>
            </a:r>
            <a:r>
              <a:rPr lang="zh-CN" altLang="en-US" sz="1800" b="1" u="sng" baseline="3000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提问法</a:t>
            </a:r>
            <a:endParaRPr lang="zh-CN" altLang="en-US" sz="1800" b="1" u="sng" baseline="3000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35"/>
          <p:cNvSpPr/>
          <p:nvPr/>
        </p:nvSpPr>
        <p:spPr>
          <a:xfrm>
            <a:off x="457200" y="1231265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C078A8"/>
          </a:solidFill>
        </p:spPr>
      </p:sp>
      <p:sp>
        <p:nvSpPr>
          <p:cNvPr id="60" name="Text 36"/>
          <p:cNvSpPr/>
          <p:nvPr/>
        </p:nvSpPr>
        <p:spPr>
          <a:xfrm>
            <a:off x="457200" y="1231265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社招通用线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AutoShape 13"/>
          <p:cNvSpPr/>
          <p:nvPr/>
        </p:nvSpPr>
        <p:spPr>
          <a:xfrm>
            <a:off x="393989" y="5899913"/>
            <a:ext cx="3985260" cy="3987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000" b="1" u="sng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精准社招</a:t>
            </a:r>
            <a:r>
              <a:rPr lang="en-US" altLang="zh-CN" sz="2000" b="1" u="sng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zh-CN" altLang="en-US" sz="2000" b="1" u="sng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精简校招</a:t>
            </a:r>
            <a:r>
              <a:rPr lang="en-US" altLang="zh-CN" sz="2000" b="1" u="sng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zh-CN" altLang="en-US" sz="2000" b="1" u="sng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蓄力人才</a:t>
            </a:r>
            <a:endParaRPr lang="zh-CN" altLang="en-US" sz="2000" b="1" u="sng" strike="noStrike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AutoShape 13"/>
          <p:cNvSpPr/>
          <p:nvPr/>
        </p:nvSpPr>
        <p:spPr>
          <a:xfrm>
            <a:off x="214284" y="320168"/>
            <a:ext cx="6981190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</a:t>
            </a:r>
            <a:r>
              <a:rPr lang="en-US" altLang="zh-CN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理念：绩效管理是为了更好</a:t>
            </a: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地带团队</a:t>
            </a:r>
            <a:endParaRPr lang="zh-CN" altLang="en-US" sz="2800" b="1" i="0" u="none" strike="noStrike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Shape 5"/>
          <p:cNvSpPr/>
          <p:nvPr/>
        </p:nvSpPr>
        <p:spPr>
          <a:xfrm>
            <a:off x="515620" y="1323340"/>
            <a:ext cx="5450205" cy="4959985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1" name="TextBox 8"/>
          <p:cNvSpPr txBox="1"/>
          <p:nvPr/>
        </p:nvSpPr>
        <p:spPr>
          <a:xfrm>
            <a:off x="820420" y="1656715"/>
            <a:ext cx="4663440" cy="147510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 =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目标对齐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sz="16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过程改进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价值分配</a:t>
            </a:r>
            <a:endParaRPr sz="16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Wingdings" panose="05000000000000000000" charset="0"/>
              <a:buChar char="n"/>
            </a:pPr>
            <a:r>
              <a:rPr lang="en-US" sz="135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对组织：战略落地的抓手</a:t>
            </a:r>
            <a:endParaRPr sz="1350" b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Wingdings" panose="05000000000000000000" charset="0"/>
              <a:buChar char="n"/>
            </a:pPr>
            <a:r>
              <a:rPr lang="en-US" sz="135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对管理者：带团队的抓手</a:t>
            </a:r>
            <a:endParaRPr sz="1350" b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Wingdings" panose="05000000000000000000" charset="0"/>
              <a:buChar char="n"/>
            </a:pPr>
            <a:r>
              <a:rPr lang="en-US" sz="135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对员工：成长与回报的依据</a:t>
            </a:r>
            <a:endParaRPr sz="1350" b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2" name="组合 61"/>
          <p:cNvGrpSpPr/>
          <p:nvPr>
            <p:custDataLst>
              <p:tags r:id="rId1"/>
            </p:custDataLst>
          </p:nvPr>
        </p:nvGrpSpPr>
        <p:grpSpPr>
          <a:xfrm>
            <a:off x="896620" y="3501390"/>
            <a:ext cx="4692015" cy="2442210"/>
            <a:chOff x="9792" y="3672"/>
            <a:chExt cx="8208" cy="5688"/>
          </a:xfrm>
        </p:grpSpPr>
        <p:sp>
          <p:nvSpPr>
            <p:cNvPr id="63" name="Rounded Rectangle 10"/>
            <p:cNvSpPr/>
            <p:nvPr>
              <p:custDataLst>
                <p:tags r:id="rId2"/>
              </p:custDataLst>
            </p:nvPr>
          </p:nvSpPr>
          <p:spPr>
            <a:xfrm>
              <a:off x="9792" y="3672"/>
              <a:ext cx="8208" cy="1800"/>
            </a:xfrm>
            <a:prstGeom prst="roundRect">
              <a:avLst/>
            </a:prstGeom>
            <a:solidFill>
              <a:srgbClr val="F2F2F2"/>
            </a:solidFill>
            <a:ln w="9525">
              <a:solidFill>
                <a:srgbClr val="D9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11"/>
            <p:cNvSpPr txBox="1"/>
            <p:nvPr>
              <p:custDataLst>
                <p:tags r:id="rId3"/>
              </p:custDataLst>
            </p:nvPr>
          </p:nvSpPr>
          <p:spPr>
            <a:xfrm>
              <a:off x="10080" y="3845"/>
              <a:ext cx="7776" cy="670"/>
            </a:xfrm>
            <a:prstGeom prst="rect">
              <a:avLst/>
            </a:prstGeom>
            <a:noFill/>
          </p:spPr>
          <p:txBody>
            <a:bodyPr wrap="square" lIns="45720" tIns="36576" rIns="45720" bIns="36576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400" b="1">
                  <a:solidFill>
                    <a:srgbClr val="ED7D3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✗ 绩效 = 年底打分</a:t>
              </a:r>
              <a:r>
                <a:rPr lang="en-US" sz="1400" b="1">
                  <a:solidFill>
                    <a:srgbClr val="ED7D3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?</a:t>
              </a:r>
              <a:endParaRPr lang="en-US" sz="14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5" name="TextBox 12"/>
            <p:cNvSpPr txBox="1"/>
            <p:nvPr>
              <p:custDataLst>
                <p:tags r:id="rId4"/>
              </p:custDataLst>
            </p:nvPr>
          </p:nvSpPr>
          <p:spPr>
            <a:xfrm>
              <a:off x="10080" y="4565"/>
              <a:ext cx="7776" cy="615"/>
            </a:xfrm>
            <a:prstGeom prst="rect">
              <a:avLst/>
            </a:prstGeom>
            <a:noFill/>
          </p:spPr>
          <p:txBody>
            <a:bodyPr wrap="square" lIns="45720" tIns="36576" rIns="45720" bIns="36576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25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 绩效是全年持续的对齐与改进</a:t>
              </a:r>
              <a:endParaRPr sz="125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6" name="Rounded Rectangle 13"/>
            <p:cNvSpPr/>
            <p:nvPr>
              <p:custDataLst>
                <p:tags r:id="rId5"/>
              </p:custDataLst>
            </p:nvPr>
          </p:nvSpPr>
          <p:spPr>
            <a:xfrm>
              <a:off x="9792" y="5616"/>
              <a:ext cx="8208" cy="1800"/>
            </a:xfrm>
            <a:prstGeom prst="roundRect">
              <a:avLst/>
            </a:prstGeom>
            <a:solidFill>
              <a:srgbClr val="F2F2F2"/>
            </a:solidFill>
            <a:ln w="9525">
              <a:solidFill>
                <a:srgbClr val="D9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14"/>
            <p:cNvSpPr txBox="1"/>
            <p:nvPr>
              <p:custDataLst>
                <p:tags r:id="rId6"/>
              </p:custDataLst>
            </p:nvPr>
          </p:nvSpPr>
          <p:spPr>
            <a:xfrm>
              <a:off x="10080" y="5789"/>
              <a:ext cx="7776" cy="670"/>
            </a:xfrm>
            <a:prstGeom prst="rect">
              <a:avLst/>
            </a:prstGeom>
            <a:noFill/>
          </p:spPr>
          <p:txBody>
            <a:bodyPr wrap="square" lIns="45720" tIns="36576" rIns="45720" bIns="36576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400" b="1">
                  <a:solidFill>
                    <a:srgbClr val="ED7D3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✗ 绩效 = HR 的事</a:t>
              </a:r>
              <a:r>
                <a:rPr lang="en-US" sz="1400" b="1">
                  <a:solidFill>
                    <a:srgbClr val="ED7D3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?</a:t>
              </a:r>
              <a:endParaRPr lang="en-US" sz="14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8" name="TextBox 15"/>
            <p:cNvSpPr txBox="1"/>
            <p:nvPr>
              <p:custDataLst>
                <p:tags r:id="rId7"/>
              </p:custDataLst>
            </p:nvPr>
          </p:nvSpPr>
          <p:spPr>
            <a:xfrm>
              <a:off x="10080" y="6509"/>
              <a:ext cx="7776" cy="615"/>
            </a:xfrm>
            <a:prstGeom prst="rect">
              <a:avLst/>
            </a:prstGeom>
            <a:noFill/>
          </p:spPr>
          <p:txBody>
            <a:bodyPr wrap="square" lIns="45720" tIns="36576" rIns="45720" bIns="36576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25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 管理者才是第一责任人</a:t>
              </a:r>
              <a:endParaRPr sz="125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9" name="Rounded Rectangle 16"/>
            <p:cNvSpPr/>
            <p:nvPr>
              <p:custDataLst>
                <p:tags r:id="rId8"/>
              </p:custDataLst>
            </p:nvPr>
          </p:nvSpPr>
          <p:spPr>
            <a:xfrm>
              <a:off x="9792" y="7560"/>
              <a:ext cx="8208" cy="1800"/>
            </a:xfrm>
            <a:prstGeom prst="roundRect">
              <a:avLst/>
            </a:prstGeom>
            <a:solidFill>
              <a:srgbClr val="F2F2F2"/>
            </a:solidFill>
            <a:ln w="9525">
              <a:solidFill>
                <a:srgbClr val="D9D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17"/>
            <p:cNvSpPr txBox="1"/>
            <p:nvPr>
              <p:custDataLst>
                <p:tags r:id="rId9"/>
              </p:custDataLst>
            </p:nvPr>
          </p:nvSpPr>
          <p:spPr>
            <a:xfrm>
              <a:off x="10080" y="7733"/>
              <a:ext cx="7776" cy="670"/>
            </a:xfrm>
            <a:prstGeom prst="rect">
              <a:avLst/>
            </a:prstGeom>
            <a:noFill/>
          </p:spPr>
          <p:txBody>
            <a:bodyPr wrap="square" lIns="45720" tIns="36576" rIns="45720" bIns="36576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400" b="1">
                  <a:solidFill>
                    <a:srgbClr val="ED7D3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✗ 指标越多越好</a:t>
              </a:r>
              <a:r>
                <a:rPr lang="en-US" sz="1400" b="1">
                  <a:solidFill>
                    <a:srgbClr val="ED7D3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?</a:t>
              </a:r>
              <a:endParaRPr lang="en-US" sz="14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1" name="TextBox 18"/>
            <p:cNvSpPr txBox="1"/>
            <p:nvPr>
              <p:custDataLst>
                <p:tags r:id="rId10"/>
              </p:custDataLst>
            </p:nvPr>
          </p:nvSpPr>
          <p:spPr>
            <a:xfrm>
              <a:off x="10080" y="8453"/>
              <a:ext cx="7776" cy="615"/>
            </a:xfrm>
            <a:prstGeom prst="rect">
              <a:avLst/>
            </a:prstGeom>
            <a:noFill/>
          </p:spPr>
          <p:txBody>
            <a:bodyPr wrap="square" lIns="45720" tIns="36576" rIns="45720" bIns="36576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250" b="0">
                  <a:solidFill>
                    <a:srgbClr val="44546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 少而准，对齐战略才是关键</a:t>
              </a:r>
              <a:endParaRPr sz="125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8" name="Text 5"/>
          <p:cNvSpPr/>
          <p:nvPr>
            <p:custDataLst>
              <p:tags r:id="rId11"/>
            </p:custDataLst>
          </p:nvPr>
        </p:nvSpPr>
        <p:spPr>
          <a:xfrm>
            <a:off x="6584315" y="1651889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7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01</a:t>
            </a:r>
            <a:endParaRPr lang="en-US" sz="3000" dirty="0"/>
          </a:p>
        </p:txBody>
      </p:sp>
      <p:sp>
        <p:nvSpPr>
          <p:cNvPr id="89" name="Text 6"/>
          <p:cNvSpPr/>
          <p:nvPr>
            <p:custDataLst>
              <p:tags r:id="rId12"/>
            </p:custDataLst>
          </p:nvPr>
        </p:nvSpPr>
        <p:spPr>
          <a:xfrm>
            <a:off x="7498715" y="1520825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对齐业务</a:t>
            </a:r>
            <a:endParaRPr lang="en-US" sz="2000" dirty="0"/>
          </a:p>
        </p:txBody>
      </p:sp>
      <p:sp>
        <p:nvSpPr>
          <p:cNvPr id="90" name="Text 7"/>
          <p:cNvSpPr/>
          <p:nvPr>
            <p:custDataLst>
              <p:tags r:id="rId13"/>
            </p:custDataLst>
          </p:nvPr>
        </p:nvSpPr>
        <p:spPr>
          <a:xfrm>
            <a:off x="7473315" y="1996440"/>
            <a:ext cx="425958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目标跟着经营节奏走</a:t>
            </a:r>
            <a:r>
              <a:rPr lang="en-US" sz="14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，全员</a:t>
            </a:r>
            <a:r>
              <a:rPr lang="zh-CN" altLang="en-US" sz="14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同向发力。</a:t>
            </a:r>
            <a:endParaRPr lang="zh-CN" altLang="en-US" sz="14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1" name="Shape 8"/>
          <p:cNvSpPr/>
          <p:nvPr>
            <p:custDataLst>
              <p:tags r:id="rId14"/>
            </p:custDataLst>
          </p:nvPr>
        </p:nvSpPr>
        <p:spPr>
          <a:xfrm>
            <a:off x="6584315" y="2453513"/>
            <a:ext cx="489600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92" name="Text 9"/>
          <p:cNvSpPr/>
          <p:nvPr>
            <p:custDataLst>
              <p:tags r:id="rId15"/>
            </p:custDataLst>
          </p:nvPr>
        </p:nvSpPr>
        <p:spPr>
          <a:xfrm>
            <a:off x="6584315" y="2870581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7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</a:t>
            </a:r>
            <a:endParaRPr lang="en-US" sz="3000" dirty="0"/>
          </a:p>
        </p:txBody>
      </p:sp>
      <p:sp>
        <p:nvSpPr>
          <p:cNvPr id="93" name="Text 10"/>
          <p:cNvSpPr/>
          <p:nvPr>
            <p:custDataLst>
              <p:tags r:id="rId16"/>
            </p:custDataLst>
          </p:nvPr>
        </p:nvSpPr>
        <p:spPr>
          <a:xfrm>
            <a:off x="7498715" y="2625217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轻形式 · 重反馈</a:t>
            </a:r>
            <a:endParaRPr lang="en-US" sz="2000" dirty="0"/>
          </a:p>
        </p:txBody>
      </p:sp>
      <p:sp>
        <p:nvSpPr>
          <p:cNvPr id="94" name="Text 11"/>
          <p:cNvSpPr/>
          <p:nvPr>
            <p:custDataLst>
              <p:tags r:id="rId17"/>
            </p:custDataLst>
          </p:nvPr>
        </p:nvSpPr>
        <p:spPr>
          <a:xfrm>
            <a:off x="7473315" y="3176905"/>
            <a:ext cx="400748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扁平管理、拒绝繁文缛节</a:t>
            </a:r>
            <a:r>
              <a:rPr lang="zh-CN" altLang="en-US" sz="14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。重视员工辅导与</a:t>
            </a:r>
            <a:r>
              <a:rPr lang="en-US" sz="14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反馈</a:t>
            </a:r>
            <a:r>
              <a:rPr lang="zh-CN" altLang="en-US" sz="14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，件件</a:t>
            </a:r>
            <a:r>
              <a:rPr lang="en-US" sz="14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有回音</a:t>
            </a:r>
            <a:r>
              <a:rPr lang="zh-CN" altLang="en-US" sz="14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。</a:t>
            </a:r>
            <a:endParaRPr lang="zh-CN" altLang="en-US" sz="14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5" name="Shape 12"/>
          <p:cNvSpPr/>
          <p:nvPr>
            <p:custDataLst>
              <p:tags r:id="rId18"/>
            </p:custDataLst>
          </p:nvPr>
        </p:nvSpPr>
        <p:spPr>
          <a:xfrm>
            <a:off x="6584315" y="3799205"/>
            <a:ext cx="489600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97" name="Text 13"/>
          <p:cNvSpPr/>
          <p:nvPr>
            <p:custDataLst>
              <p:tags r:id="rId19"/>
            </p:custDataLst>
          </p:nvPr>
        </p:nvSpPr>
        <p:spPr>
          <a:xfrm>
            <a:off x="6584315" y="4190873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7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</a:t>
            </a:r>
            <a:endParaRPr lang="en-US" sz="3000" dirty="0"/>
          </a:p>
        </p:txBody>
      </p:sp>
      <p:sp>
        <p:nvSpPr>
          <p:cNvPr id="98" name="Text 14"/>
          <p:cNvSpPr/>
          <p:nvPr>
            <p:custDataLst>
              <p:tags r:id="rId20"/>
            </p:custDataLst>
          </p:nvPr>
        </p:nvSpPr>
        <p:spPr>
          <a:xfrm>
            <a:off x="7498715" y="3996309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相对</a:t>
            </a:r>
            <a:r>
              <a:rPr lang="zh-CN" altLang="en-US" sz="200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公平</a:t>
            </a:r>
            <a:endParaRPr lang="zh-CN" altLang="en-US" sz="2000" b="1" dirty="0">
              <a:solidFill>
                <a:srgbClr val="3A2F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9" name="Text 15"/>
          <p:cNvSpPr/>
          <p:nvPr>
            <p:custDataLst>
              <p:tags r:id="rId21"/>
            </p:custDataLst>
          </p:nvPr>
        </p:nvSpPr>
        <p:spPr>
          <a:xfrm>
            <a:off x="7473315" y="4471670"/>
            <a:ext cx="386588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没有绝对公平，只有相对公平。提倡多劳多得、多创多得、多燃多得。</a:t>
            </a:r>
            <a:endParaRPr lang="zh-CN" altLang="en-US" sz="14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0" name="Shape 16"/>
          <p:cNvSpPr/>
          <p:nvPr>
            <p:custDataLst>
              <p:tags r:id="rId22"/>
            </p:custDataLst>
          </p:nvPr>
        </p:nvSpPr>
        <p:spPr>
          <a:xfrm>
            <a:off x="6584315" y="5106797"/>
            <a:ext cx="489600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101" name="Text 17"/>
          <p:cNvSpPr/>
          <p:nvPr>
            <p:custDataLst>
              <p:tags r:id="rId23"/>
            </p:custDataLst>
          </p:nvPr>
        </p:nvSpPr>
        <p:spPr>
          <a:xfrm>
            <a:off x="6584315" y="5434965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7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</a:t>
            </a:r>
            <a:endParaRPr lang="en-US" sz="3000" dirty="0"/>
          </a:p>
        </p:txBody>
      </p:sp>
      <p:sp>
        <p:nvSpPr>
          <p:cNvPr id="102" name="Text 18"/>
          <p:cNvSpPr/>
          <p:nvPr>
            <p:custDataLst>
              <p:tags r:id="rId24"/>
            </p:custDataLst>
          </p:nvPr>
        </p:nvSpPr>
        <p:spPr>
          <a:xfrm>
            <a:off x="7498715" y="5265801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发展导向</a:t>
            </a:r>
            <a:endParaRPr lang="en-US" sz="2000" dirty="0"/>
          </a:p>
        </p:txBody>
      </p:sp>
      <p:sp>
        <p:nvSpPr>
          <p:cNvPr id="103" name="Text 19"/>
          <p:cNvSpPr/>
          <p:nvPr>
            <p:custDataLst>
              <p:tags r:id="rId25"/>
            </p:custDataLst>
          </p:nvPr>
        </p:nvSpPr>
        <p:spPr>
          <a:xfrm>
            <a:off x="7473315" y="5741035"/>
            <a:ext cx="368871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绩效是成长的镜子，不是</a:t>
            </a:r>
            <a:r>
              <a:rPr lang="zh-CN" altLang="en-US" sz="14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秋后算账。以战代练，以评促长，达者为师。</a:t>
            </a:r>
            <a:endParaRPr lang="zh-CN" altLang="en-US" sz="14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8320" name="ïṩlíďè"/>
          <p:cNvSpPr/>
          <p:nvPr/>
        </p:nvSpPr>
        <p:spPr bwMode="auto">
          <a:xfrm flipH="1">
            <a:off x="4475480" y="2207260"/>
            <a:ext cx="864000" cy="864000"/>
          </a:xfrm>
          <a:custGeom>
            <a:avLst/>
            <a:gdLst>
              <a:gd name="T0" fmla="*/ 21812552 w 601358"/>
              <a:gd name="T1" fmla="*/ 17791142 h 600230"/>
              <a:gd name="T2" fmla="*/ 25134115 w 601358"/>
              <a:gd name="T3" fmla="*/ 18616560 h 600230"/>
              <a:gd name="T4" fmla="*/ 21766721 w 601358"/>
              <a:gd name="T5" fmla="*/ 21963940 h 600230"/>
              <a:gd name="T6" fmla="*/ 18567538 w 601358"/>
              <a:gd name="T7" fmla="*/ 25204322 h 600230"/>
              <a:gd name="T8" fmla="*/ 21812552 w 601358"/>
              <a:gd name="T9" fmla="*/ 28460002 h 600230"/>
              <a:gd name="T10" fmla="*/ 25057563 w 601358"/>
              <a:gd name="T11" fmla="*/ 25265467 h 600230"/>
              <a:gd name="T12" fmla="*/ 28425016 w 601358"/>
              <a:gd name="T13" fmla="*/ 21902796 h 600230"/>
              <a:gd name="T14" fmla="*/ 29236275 w 601358"/>
              <a:gd name="T15" fmla="*/ 25204322 h 600230"/>
              <a:gd name="T16" fmla="*/ 21812552 w 601358"/>
              <a:gd name="T17" fmla="*/ 32632787 h 600230"/>
              <a:gd name="T18" fmla="*/ 14388892 w 601358"/>
              <a:gd name="T19" fmla="*/ 25204322 h 600230"/>
              <a:gd name="T20" fmla="*/ 21812552 w 601358"/>
              <a:gd name="T21" fmla="*/ 17791142 h 600230"/>
              <a:gd name="T22" fmla="*/ 21812552 w 601358"/>
              <a:gd name="T23" fmla="*/ 10605170 h 600230"/>
              <a:gd name="T24" fmla="*/ 30370708 w 601358"/>
              <a:gd name="T25" fmla="*/ 13387406 h 600230"/>
              <a:gd name="T26" fmla="*/ 27354714 w 601358"/>
              <a:gd name="T27" fmla="*/ 16383687 h 600230"/>
              <a:gd name="T28" fmla="*/ 21812552 w 601358"/>
              <a:gd name="T29" fmla="*/ 14778539 h 600230"/>
              <a:gd name="T30" fmla="*/ 11371194 w 601358"/>
              <a:gd name="T31" fmla="*/ 25204419 h 600230"/>
              <a:gd name="T32" fmla="*/ 21812552 w 601358"/>
              <a:gd name="T33" fmla="*/ 35645569 h 600230"/>
              <a:gd name="T34" fmla="*/ 32269111 w 601358"/>
              <a:gd name="T35" fmla="*/ 25204419 h 600230"/>
              <a:gd name="T36" fmla="*/ 30646311 w 601358"/>
              <a:gd name="T37" fmla="*/ 19670451 h 600230"/>
              <a:gd name="T38" fmla="*/ 33662364 w 601358"/>
              <a:gd name="T39" fmla="*/ 16674192 h 600230"/>
              <a:gd name="T40" fmla="*/ 36433399 w 601358"/>
              <a:gd name="T41" fmla="*/ 25204419 h 600230"/>
              <a:gd name="T42" fmla="*/ 21812552 w 601358"/>
              <a:gd name="T43" fmla="*/ 39818954 h 600230"/>
              <a:gd name="T44" fmla="*/ 7191648 w 601358"/>
              <a:gd name="T45" fmla="*/ 25204419 h 600230"/>
              <a:gd name="T46" fmla="*/ 21812552 w 601358"/>
              <a:gd name="T47" fmla="*/ 10605170 h 600230"/>
              <a:gd name="T48" fmla="*/ 21813180 w 601358"/>
              <a:gd name="T49" fmla="*/ 3424579 h 600230"/>
              <a:gd name="T50" fmla="*/ 35498085 w 601358"/>
              <a:gd name="T51" fmla="*/ 8269481 h 600230"/>
              <a:gd name="T52" fmla="*/ 32513104 w 601358"/>
              <a:gd name="T53" fmla="*/ 11234545 h 600230"/>
              <a:gd name="T54" fmla="*/ 21813180 w 601358"/>
              <a:gd name="T55" fmla="*/ 7597027 h 600230"/>
              <a:gd name="T56" fmla="*/ 4178917 w 601358"/>
              <a:gd name="T57" fmla="*/ 25203788 h 600230"/>
              <a:gd name="T58" fmla="*/ 21813180 w 601358"/>
              <a:gd name="T59" fmla="*/ 42825729 h 600230"/>
              <a:gd name="T60" fmla="*/ 39462743 w 601358"/>
              <a:gd name="T61" fmla="*/ 25203788 h 600230"/>
              <a:gd name="T62" fmla="*/ 35804214 w 601358"/>
              <a:gd name="T63" fmla="*/ 14520532 h 600230"/>
              <a:gd name="T64" fmla="*/ 38789195 w 601358"/>
              <a:gd name="T65" fmla="*/ 11555465 h 600230"/>
              <a:gd name="T66" fmla="*/ 43641653 w 601358"/>
              <a:gd name="T67" fmla="*/ 25203788 h 600230"/>
              <a:gd name="T68" fmla="*/ 21813180 w 601358"/>
              <a:gd name="T69" fmla="*/ 46982890 h 600230"/>
              <a:gd name="T70" fmla="*/ 0 w 601358"/>
              <a:gd name="T71" fmla="*/ 25203788 h 600230"/>
              <a:gd name="T72" fmla="*/ 21813180 w 601358"/>
              <a:gd name="T73" fmla="*/ 3424579 h 600230"/>
              <a:gd name="T74" fmla="*/ 41591459 w 601358"/>
              <a:gd name="T75" fmla="*/ 0 h 600230"/>
              <a:gd name="T76" fmla="*/ 42984535 w 601358"/>
              <a:gd name="T77" fmla="*/ 1390961 h 600230"/>
              <a:gd name="T78" fmla="*/ 42984535 w 601358"/>
              <a:gd name="T79" fmla="*/ 4081097 h 600230"/>
              <a:gd name="T80" fmla="*/ 45678807 w 601358"/>
              <a:gd name="T81" fmla="*/ 4081097 h 600230"/>
              <a:gd name="T82" fmla="*/ 47071795 w 601358"/>
              <a:gd name="T83" fmla="*/ 5471952 h 600230"/>
              <a:gd name="T84" fmla="*/ 45678807 w 601358"/>
              <a:gd name="T85" fmla="*/ 6862906 h 600230"/>
              <a:gd name="T86" fmla="*/ 42173225 w 601358"/>
              <a:gd name="T87" fmla="*/ 6862906 h 600230"/>
              <a:gd name="T88" fmla="*/ 40933236 w 601358"/>
              <a:gd name="T89" fmla="*/ 8085703 h 600230"/>
              <a:gd name="T90" fmla="*/ 41576179 w 601358"/>
              <a:gd name="T91" fmla="*/ 8085703 h 600230"/>
              <a:gd name="T92" fmla="*/ 42969205 w 601358"/>
              <a:gd name="T93" fmla="*/ 9476668 h 600230"/>
              <a:gd name="T94" fmla="*/ 41576179 w 601358"/>
              <a:gd name="T95" fmla="*/ 10867540 h 600230"/>
              <a:gd name="T96" fmla="*/ 38147187 w 601358"/>
              <a:gd name="T97" fmla="*/ 10867540 h 600230"/>
              <a:gd name="T98" fmla="*/ 22808392 w 601358"/>
              <a:gd name="T99" fmla="*/ 26198268 h 600230"/>
              <a:gd name="T100" fmla="*/ 21813361 w 601358"/>
              <a:gd name="T101" fmla="*/ 26595665 h 600230"/>
              <a:gd name="T102" fmla="*/ 20833651 w 601358"/>
              <a:gd name="T103" fmla="*/ 26198268 h 600230"/>
              <a:gd name="T104" fmla="*/ 20833651 w 601358"/>
              <a:gd name="T105" fmla="*/ 24226515 h 600230"/>
              <a:gd name="T106" fmla="*/ 36111132 w 601358"/>
              <a:gd name="T107" fmla="*/ 8972252 h 600230"/>
              <a:gd name="T108" fmla="*/ 36111132 w 601358"/>
              <a:gd name="T109" fmla="*/ 5410821 h 600230"/>
              <a:gd name="T110" fmla="*/ 37504208 w 601358"/>
              <a:gd name="T111" fmla="*/ 4019867 h 600230"/>
              <a:gd name="T112" fmla="*/ 38897279 w 601358"/>
              <a:gd name="T113" fmla="*/ 5410821 h 600230"/>
              <a:gd name="T114" fmla="*/ 38897279 w 601358"/>
              <a:gd name="T115" fmla="*/ 6190390 h 600230"/>
              <a:gd name="T116" fmla="*/ 40198487 w 601358"/>
              <a:gd name="T117" fmla="*/ 4891155 h 600230"/>
              <a:gd name="T118" fmla="*/ 40198487 w 601358"/>
              <a:gd name="T119" fmla="*/ 1390961 h 600230"/>
              <a:gd name="T120" fmla="*/ 41591459 w 601358"/>
              <a:gd name="T121" fmla="*/ 0 h 600230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601358" h="600230">
                <a:moveTo>
                  <a:pt x="278663" y="227291"/>
                </a:moveTo>
                <a:cubicBezTo>
                  <a:pt x="293916" y="227291"/>
                  <a:pt x="308191" y="231392"/>
                  <a:pt x="321097" y="237836"/>
                </a:cubicBezTo>
                <a:lnTo>
                  <a:pt x="278077" y="280600"/>
                </a:lnTo>
                <a:cubicBezTo>
                  <a:pt x="255393" y="280991"/>
                  <a:pt x="237207" y="299346"/>
                  <a:pt x="237207" y="321998"/>
                </a:cubicBezTo>
                <a:cubicBezTo>
                  <a:pt x="237207" y="344845"/>
                  <a:pt x="255784" y="363591"/>
                  <a:pt x="278663" y="363591"/>
                </a:cubicBezTo>
                <a:cubicBezTo>
                  <a:pt x="301347" y="363591"/>
                  <a:pt x="319728" y="345235"/>
                  <a:pt x="320119" y="322779"/>
                </a:cubicBezTo>
                <a:lnTo>
                  <a:pt x="363139" y="279819"/>
                </a:lnTo>
                <a:cubicBezTo>
                  <a:pt x="369592" y="292512"/>
                  <a:pt x="373503" y="306767"/>
                  <a:pt x="373503" y="321998"/>
                </a:cubicBezTo>
                <a:cubicBezTo>
                  <a:pt x="373503" y="374331"/>
                  <a:pt x="331070" y="416900"/>
                  <a:pt x="278663" y="416900"/>
                </a:cubicBezTo>
                <a:cubicBezTo>
                  <a:pt x="226452" y="416900"/>
                  <a:pt x="183823" y="374331"/>
                  <a:pt x="183823" y="321998"/>
                </a:cubicBezTo>
                <a:cubicBezTo>
                  <a:pt x="183823" y="269860"/>
                  <a:pt x="226452" y="227291"/>
                  <a:pt x="278663" y="227291"/>
                </a:cubicBezTo>
                <a:close/>
                <a:moveTo>
                  <a:pt x="278663" y="135486"/>
                </a:moveTo>
                <a:cubicBezTo>
                  <a:pt x="319541" y="135486"/>
                  <a:pt x="357094" y="148766"/>
                  <a:pt x="387996" y="171031"/>
                </a:cubicBezTo>
                <a:lnTo>
                  <a:pt x="349466" y="209310"/>
                </a:lnTo>
                <a:cubicBezTo>
                  <a:pt x="328929" y="196420"/>
                  <a:pt x="304676" y="188803"/>
                  <a:pt x="278663" y="188803"/>
                </a:cubicBezTo>
                <a:cubicBezTo>
                  <a:pt x="205121" y="188803"/>
                  <a:pt x="145271" y="248566"/>
                  <a:pt x="145271" y="321999"/>
                </a:cubicBezTo>
                <a:cubicBezTo>
                  <a:pt x="145271" y="395432"/>
                  <a:pt x="205121" y="455390"/>
                  <a:pt x="278663" y="455390"/>
                </a:cubicBezTo>
                <a:cubicBezTo>
                  <a:pt x="352204" y="455390"/>
                  <a:pt x="412249" y="395627"/>
                  <a:pt x="412249" y="321999"/>
                </a:cubicBezTo>
                <a:cubicBezTo>
                  <a:pt x="412249" y="296024"/>
                  <a:pt x="404621" y="271806"/>
                  <a:pt x="391517" y="251300"/>
                </a:cubicBezTo>
                <a:lnTo>
                  <a:pt x="430048" y="213021"/>
                </a:lnTo>
                <a:cubicBezTo>
                  <a:pt x="452345" y="243683"/>
                  <a:pt x="465449" y="281376"/>
                  <a:pt x="465449" y="321999"/>
                </a:cubicBezTo>
                <a:cubicBezTo>
                  <a:pt x="465449" y="424923"/>
                  <a:pt x="381738" y="508707"/>
                  <a:pt x="278663" y="508707"/>
                </a:cubicBezTo>
                <a:cubicBezTo>
                  <a:pt x="175587" y="508707"/>
                  <a:pt x="91876" y="424923"/>
                  <a:pt x="91876" y="321999"/>
                </a:cubicBezTo>
                <a:cubicBezTo>
                  <a:pt x="91876" y="219270"/>
                  <a:pt x="175587" y="135486"/>
                  <a:pt x="278663" y="135486"/>
                </a:cubicBezTo>
                <a:close/>
                <a:moveTo>
                  <a:pt x="278671" y="43751"/>
                </a:moveTo>
                <a:cubicBezTo>
                  <a:pt x="344770" y="43751"/>
                  <a:pt x="405588" y="66986"/>
                  <a:pt x="453500" y="105647"/>
                </a:cubicBezTo>
                <a:lnTo>
                  <a:pt x="415366" y="143527"/>
                </a:lnTo>
                <a:cubicBezTo>
                  <a:pt x="377428" y="114629"/>
                  <a:pt x="330103" y="97056"/>
                  <a:pt x="278671" y="97056"/>
                </a:cubicBezTo>
                <a:cubicBezTo>
                  <a:pt x="154491" y="97056"/>
                  <a:pt x="53387" y="198003"/>
                  <a:pt x="53387" y="321991"/>
                </a:cubicBezTo>
                <a:cubicBezTo>
                  <a:pt x="53387" y="446173"/>
                  <a:pt x="154491" y="547120"/>
                  <a:pt x="278671" y="547120"/>
                </a:cubicBezTo>
                <a:cubicBezTo>
                  <a:pt x="403046" y="547120"/>
                  <a:pt x="504150" y="446173"/>
                  <a:pt x="504150" y="321991"/>
                </a:cubicBezTo>
                <a:cubicBezTo>
                  <a:pt x="504150" y="270638"/>
                  <a:pt x="486550" y="223582"/>
                  <a:pt x="457411" y="185507"/>
                </a:cubicBezTo>
                <a:lnTo>
                  <a:pt x="495545" y="147627"/>
                </a:lnTo>
                <a:cubicBezTo>
                  <a:pt x="534070" y="195269"/>
                  <a:pt x="557537" y="255994"/>
                  <a:pt x="557537" y="321991"/>
                </a:cubicBezTo>
                <a:cubicBezTo>
                  <a:pt x="557537" y="475462"/>
                  <a:pt x="432380" y="600230"/>
                  <a:pt x="278671" y="600230"/>
                </a:cubicBezTo>
                <a:cubicBezTo>
                  <a:pt x="124962" y="600230"/>
                  <a:pt x="0" y="475462"/>
                  <a:pt x="0" y="321991"/>
                </a:cubicBezTo>
                <a:cubicBezTo>
                  <a:pt x="0" y="168519"/>
                  <a:pt x="124962" y="43751"/>
                  <a:pt x="278671" y="43751"/>
                </a:cubicBezTo>
                <a:close/>
                <a:moveTo>
                  <a:pt x="531345" y="0"/>
                </a:moveTo>
                <a:cubicBezTo>
                  <a:pt x="541124" y="0"/>
                  <a:pt x="549142" y="8006"/>
                  <a:pt x="549142" y="17770"/>
                </a:cubicBezTo>
                <a:lnTo>
                  <a:pt x="549142" y="52138"/>
                </a:lnTo>
                <a:lnTo>
                  <a:pt x="583562" y="52138"/>
                </a:lnTo>
                <a:cubicBezTo>
                  <a:pt x="593340" y="52138"/>
                  <a:pt x="601358" y="59948"/>
                  <a:pt x="601358" y="69907"/>
                </a:cubicBezTo>
                <a:cubicBezTo>
                  <a:pt x="601358" y="79671"/>
                  <a:pt x="593340" y="87677"/>
                  <a:pt x="583562" y="87677"/>
                </a:cubicBezTo>
                <a:lnTo>
                  <a:pt x="538777" y="87677"/>
                </a:lnTo>
                <a:lnTo>
                  <a:pt x="522936" y="103299"/>
                </a:lnTo>
                <a:lnTo>
                  <a:pt x="531150" y="103299"/>
                </a:lnTo>
                <a:cubicBezTo>
                  <a:pt x="541124" y="103299"/>
                  <a:pt x="548946" y="111305"/>
                  <a:pt x="548946" y="121069"/>
                </a:cubicBezTo>
                <a:cubicBezTo>
                  <a:pt x="548946" y="130832"/>
                  <a:pt x="541124" y="138838"/>
                  <a:pt x="531150" y="138838"/>
                </a:cubicBezTo>
                <a:lnTo>
                  <a:pt x="487343" y="138838"/>
                </a:lnTo>
                <a:lnTo>
                  <a:pt x="291385" y="334696"/>
                </a:lnTo>
                <a:cubicBezTo>
                  <a:pt x="287865" y="338016"/>
                  <a:pt x="283367" y="339773"/>
                  <a:pt x="278673" y="339773"/>
                </a:cubicBezTo>
                <a:cubicBezTo>
                  <a:pt x="274175" y="339773"/>
                  <a:pt x="269677" y="338016"/>
                  <a:pt x="266157" y="334696"/>
                </a:cubicBezTo>
                <a:cubicBezTo>
                  <a:pt x="259116" y="327666"/>
                  <a:pt x="259116" y="316536"/>
                  <a:pt x="266157" y="309506"/>
                </a:cubicBezTo>
                <a:lnTo>
                  <a:pt x="461332" y="114625"/>
                </a:lnTo>
                <a:lnTo>
                  <a:pt x="461332" y="69126"/>
                </a:lnTo>
                <a:cubicBezTo>
                  <a:pt x="461332" y="59167"/>
                  <a:pt x="469155" y="51356"/>
                  <a:pt x="479129" y="51356"/>
                </a:cubicBezTo>
                <a:cubicBezTo>
                  <a:pt x="488907" y="51356"/>
                  <a:pt x="496926" y="59167"/>
                  <a:pt x="496926" y="69126"/>
                </a:cubicBezTo>
                <a:lnTo>
                  <a:pt x="496926" y="79085"/>
                </a:lnTo>
                <a:lnTo>
                  <a:pt x="513549" y="62487"/>
                </a:lnTo>
                <a:lnTo>
                  <a:pt x="513549" y="17770"/>
                </a:lnTo>
                <a:cubicBezTo>
                  <a:pt x="513549" y="8006"/>
                  <a:pt x="521567" y="0"/>
                  <a:pt x="531345" y="0"/>
                </a:cubicBezTo>
                <a:close/>
              </a:path>
            </a:pathLst>
          </a:custGeom>
          <a:gradFill>
            <a:gsLst>
              <a:gs pos="50410">
                <a:srgbClr val="FB9B36"/>
              </a:gs>
              <a:gs pos="0">
                <a:srgbClr val="FE564D"/>
              </a:gs>
              <a:gs pos="100000">
                <a:srgbClr val="F9CA2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AutoShape 13"/>
          <p:cNvSpPr/>
          <p:nvPr/>
        </p:nvSpPr>
        <p:spPr>
          <a:xfrm>
            <a:off x="214284" y="320168"/>
            <a:ext cx="3666490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</a:t>
            </a:r>
            <a:r>
              <a:rPr lang="en-US" altLang="zh-CN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流程：五步</a:t>
            </a: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闭环</a:t>
            </a:r>
            <a:endParaRPr lang="zh-CN" altLang="en-US" sz="2800" b="1" i="0" u="none" strike="noStrike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165225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1366393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9" name="Text 7"/>
          <p:cNvSpPr/>
          <p:nvPr/>
        </p:nvSpPr>
        <p:spPr>
          <a:xfrm>
            <a:off x="694944" y="136639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" y="1878457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目标设定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94690" y="2280920"/>
            <a:ext cx="181991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定目标、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通目标、谈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目标</a:t>
            </a:r>
            <a:endParaRPr lang="zh-CN" altLang="en-US" sz="12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遵循</a:t>
            </a:r>
            <a:r>
              <a:rPr lang="en-US" altLang="zh-CN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SMART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原则</a:t>
            </a:r>
            <a:endParaRPr lang="zh-CN" altLang="en-US" sz="12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23744" y="2125345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61488" y="1165225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99232" y="1366393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15" name="Text 13"/>
          <p:cNvSpPr/>
          <p:nvPr/>
        </p:nvSpPr>
        <p:spPr>
          <a:xfrm>
            <a:off x="2999232" y="136639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99232" y="1878457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过程跟进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999232" y="2280793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持续追踪与目标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对焦</a:t>
            </a:r>
            <a:endParaRPr lang="zh-CN" altLang="en-US" sz="12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及时有效地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反馈</a:t>
            </a:r>
            <a:endParaRPr lang="zh-CN" altLang="en-US" sz="12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抓准时机进行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辅导</a:t>
            </a:r>
            <a:endParaRPr lang="zh-CN" altLang="en-US" sz="12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28032" y="2125345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65776" y="1165225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1366393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1" name="Text 19"/>
          <p:cNvSpPr/>
          <p:nvPr/>
        </p:nvSpPr>
        <p:spPr>
          <a:xfrm>
            <a:off x="5303520" y="136639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1878457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评估校准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303520" y="2280793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绩效考评（打分与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排序）</a:t>
            </a:r>
            <a:endParaRPr lang="zh-CN" altLang="en-US" sz="12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altLang="zh-CN" sz="1200" b="1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271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正态分布，</a:t>
            </a:r>
            <a:r>
              <a:rPr lang="en-US" altLang="zh-CN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Leader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必须做出管理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选择</a:t>
            </a:r>
            <a:endParaRPr lang="zh-CN" altLang="en-US" sz="12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32320" y="2125345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97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▸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370064" y="1165225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07808" y="1366393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7" name="Text 25"/>
          <p:cNvSpPr/>
          <p:nvPr/>
        </p:nvSpPr>
        <p:spPr>
          <a:xfrm>
            <a:off x="7607808" y="136639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07808" y="1878457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反馈面谈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607808" y="2458593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一人一谈，面向成长</a:t>
            </a:r>
            <a:endParaRPr lang="en-US" sz="12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：管理期待，激发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潜能</a:t>
            </a:r>
            <a:endParaRPr lang="zh-CN" altLang="en-US" sz="12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altLang="zh-CN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7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：扬善砭过，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明确要求</a:t>
            </a:r>
            <a:endParaRPr lang="zh-CN" altLang="en-US" sz="12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altLang="zh-CN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：面向未来，正向引导</a:t>
            </a:r>
            <a:endParaRPr lang="en-US" sz="12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endParaRPr lang="zh-CN" alt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74352" y="1165225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912096" y="1366393"/>
            <a:ext cx="384048" cy="384048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33" name="Text 31"/>
          <p:cNvSpPr/>
          <p:nvPr/>
        </p:nvSpPr>
        <p:spPr>
          <a:xfrm>
            <a:off x="9912096" y="136639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12096" y="1878457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结果应用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912096" y="2280793"/>
            <a:ext cx="16276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奖金 / 调薪 / 晋升 / </a:t>
            </a:r>
            <a:endParaRPr lang="en-US" sz="12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绩效改进</a:t>
            </a:r>
            <a:r>
              <a:rPr lang="en-US" altLang="zh-CN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/ </a:t>
            </a:r>
            <a:r>
              <a:rPr 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淘汰</a:t>
            </a:r>
            <a:endParaRPr lang="en-US" sz="1200" dirty="0">
              <a:solidFill>
                <a:srgbClr val="6E62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1200" dirty="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</a:rPr>
              <a:t>心要仁慈，刀要快</a:t>
            </a:r>
            <a:endParaRPr lang="zh-CN" altLang="en-US" sz="1200" dirty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703052" y="3542665"/>
            <a:ext cx="0" cy="411480"/>
          </a:xfrm>
          <a:prstGeom prst="line">
            <a:avLst/>
          </a:prstGeom>
          <a:noFill/>
          <a:ln w="19050">
            <a:solidFill>
              <a:srgbClr val="B997B9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485900" y="3954145"/>
            <a:ext cx="9217152" cy="0"/>
          </a:xfrm>
          <a:prstGeom prst="line">
            <a:avLst/>
          </a:prstGeom>
          <a:noFill/>
          <a:ln w="19050">
            <a:solidFill>
              <a:srgbClr val="B997B9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485900" y="3542665"/>
            <a:ext cx="0" cy="411480"/>
          </a:xfrm>
          <a:prstGeom prst="line">
            <a:avLst/>
          </a:prstGeom>
          <a:noFill/>
          <a:ln w="19050">
            <a:solidFill>
              <a:srgbClr val="B997B9"/>
            </a:solidFill>
            <a:prstDash val="dash"/>
            <a:headEnd type="triangle"/>
          </a:ln>
        </p:spPr>
      </p:sp>
      <p:sp>
        <p:nvSpPr>
          <p:cNvPr id="39" name="Text 37"/>
          <p:cNvSpPr/>
          <p:nvPr/>
        </p:nvSpPr>
        <p:spPr>
          <a:xfrm>
            <a:off x="4956048" y="4018153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2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进入下一绩效周期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99110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落地节奏</a:t>
            </a:r>
            <a:endParaRPr lang="en-US" sz="1500" dirty="0"/>
          </a:p>
        </p:txBody>
      </p:sp>
      <p:grpSp>
        <p:nvGrpSpPr>
          <p:cNvPr id="3" name="组合 2"/>
          <p:cNvGrpSpPr/>
          <p:nvPr/>
        </p:nvGrpSpPr>
        <p:grpSpPr>
          <a:xfrm>
            <a:off x="1376680" y="4945380"/>
            <a:ext cx="7175500" cy="640080"/>
            <a:chOff x="2808" y="8208"/>
            <a:chExt cx="15350" cy="1008"/>
          </a:xfrm>
        </p:grpSpPr>
        <p:sp>
          <p:nvSpPr>
            <p:cNvPr id="41" name="Shape 39"/>
            <p:cNvSpPr/>
            <p:nvPr/>
          </p:nvSpPr>
          <p:spPr>
            <a:xfrm>
              <a:off x="2808" y="8208"/>
              <a:ext cx="4925" cy="1008"/>
            </a:xfrm>
            <a:prstGeom prst="roundRect">
              <a:avLst>
                <a:gd name="adj" fmla="val 17143"/>
              </a:avLst>
            </a:prstGeom>
            <a:solidFill>
              <a:srgbClr val="F5EEF5"/>
            </a:solidFill>
          </p:spPr>
        </p:sp>
        <p:sp>
          <p:nvSpPr>
            <p:cNvPr id="43" name="Shape 41"/>
            <p:cNvSpPr/>
            <p:nvPr/>
          </p:nvSpPr>
          <p:spPr>
            <a:xfrm>
              <a:off x="8021" y="8208"/>
              <a:ext cx="4925" cy="1008"/>
            </a:xfrm>
            <a:prstGeom prst="roundRect">
              <a:avLst>
                <a:gd name="adj" fmla="val 17143"/>
              </a:avLst>
            </a:prstGeom>
            <a:solidFill>
              <a:srgbClr val="F5EEF5"/>
            </a:solidFill>
          </p:spPr>
        </p:sp>
        <p:sp>
          <p:nvSpPr>
            <p:cNvPr id="45" name="Shape 43"/>
            <p:cNvSpPr/>
            <p:nvPr/>
          </p:nvSpPr>
          <p:spPr>
            <a:xfrm>
              <a:off x="13234" y="8208"/>
              <a:ext cx="4925" cy="1008"/>
            </a:xfrm>
            <a:prstGeom prst="roundRect">
              <a:avLst>
                <a:gd name="adj" fmla="val 17143"/>
              </a:avLst>
            </a:prstGeom>
            <a:solidFill>
              <a:srgbClr val="B997B9"/>
            </a:solidFill>
          </p:spPr>
          <p:txBody>
            <a:bodyPr/>
            <a:p>
              <a:endParaRPr lang="zh-CN" altLang="en-US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2808" y="8208"/>
              <a:ext cx="15350" cy="1008"/>
              <a:chOff x="2808" y="8208"/>
              <a:chExt cx="15350" cy="1008"/>
            </a:xfrm>
          </p:grpSpPr>
          <p:sp>
            <p:nvSpPr>
              <p:cNvPr id="42" name="Text 40"/>
              <p:cNvSpPr/>
              <p:nvPr/>
            </p:nvSpPr>
            <p:spPr>
              <a:xfrm>
                <a:off x="2808" y="8208"/>
                <a:ext cx="4925" cy="10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sz="1400" b="1" dirty="0">
                    <a:solidFill>
                      <a:srgbClr val="7C5E7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9月 </a:t>
                </a:r>
                <a:endParaRPr lang="en-US" sz="1400" b="1" dirty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zh-CN" altLang="en-US" sz="1200" b="1" dirty="0">
                    <a:solidFill>
                      <a:srgbClr val="7C5E7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绩效管理框架</a:t>
                </a:r>
                <a:r>
                  <a:rPr lang="zh-CN" altLang="en-US" sz="1200" b="1" dirty="0">
                    <a:solidFill>
                      <a:srgbClr val="7C5E7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梳理</a:t>
                </a:r>
                <a:endParaRPr lang="zh-CN" altLang="en-US" sz="1200" b="1" dirty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44" name="Text 42"/>
              <p:cNvSpPr/>
              <p:nvPr/>
            </p:nvSpPr>
            <p:spPr>
              <a:xfrm>
                <a:off x="8021" y="8208"/>
                <a:ext cx="4925" cy="10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sz="1400" b="1" dirty="0">
                    <a:solidFill>
                      <a:srgbClr val="7C5E7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10月 </a:t>
                </a:r>
                <a:endParaRPr lang="en-US" sz="1400" b="1" dirty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zh-CN" altLang="en-US" sz="1200" b="1" dirty="0">
                    <a:solidFill>
                      <a:srgbClr val="7C5E7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绩效制度、流程、指标库</a:t>
                </a:r>
                <a:endParaRPr lang="zh-CN" altLang="en-US" sz="1200" b="1" dirty="0">
                  <a:solidFill>
                    <a:srgbClr val="7C5E7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46" name="Text 44"/>
              <p:cNvSpPr/>
              <p:nvPr/>
            </p:nvSpPr>
            <p:spPr>
              <a:xfrm>
                <a:off x="13234" y="8208"/>
                <a:ext cx="4925" cy="10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11-12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月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 </a:t>
                </a:r>
                <a:endParaRPr lang="en-US" altLang="zh-CN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  <a:sym typeface="+mn-ea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试运行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&amp;</a:t>
                </a:r>
                <a:r>
                  <a:rPr lang="en-US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复盘修订</a:t>
                </a:r>
                <a:endParaRPr 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  <a:sym typeface="+mn-ea"/>
                </a:endParaRPr>
              </a:p>
            </p:txBody>
          </p:sp>
        </p:grpSp>
      </p:grpSp>
      <p:sp>
        <p:nvSpPr>
          <p:cNvPr id="4" name="AutoShape 13"/>
          <p:cNvSpPr/>
          <p:nvPr/>
        </p:nvSpPr>
        <p:spPr>
          <a:xfrm>
            <a:off x="381289" y="5997068"/>
            <a:ext cx="3383280" cy="3987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000" b="1" u="sng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为过程鼓掌，为结果买单。</a:t>
            </a:r>
            <a:endParaRPr lang="zh-CN" altLang="en-US" sz="2000" b="1" u="sng" strike="noStrike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6" name="图片 5" descr="四象限辅导-PPT"/>
          <p:cNvPicPr>
            <a:picLocks noChangeAspect="1"/>
          </p:cNvPicPr>
          <p:nvPr/>
        </p:nvPicPr>
        <p:blipFill>
          <a:blip r:embed="rId1"/>
          <a:srcRect l="9937" t="5722" b="4798"/>
          <a:stretch>
            <a:fillRect/>
          </a:stretch>
        </p:blipFill>
        <p:spPr>
          <a:xfrm>
            <a:off x="8833485" y="4069715"/>
            <a:ext cx="3263265" cy="2676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AutoShape 13"/>
          <p:cNvSpPr/>
          <p:nvPr/>
        </p:nvSpPr>
        <p:spPr>
          <a:xfrm>
            <a:off x="214284" y="320168"/>
            <a:ext cx="7510145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buNone/>
            </a:pPr>
            <a:r>
              <a:rPr lang="en-US" altLang="zh-CN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HRBP·</a:t>
            </a: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业务身边的</a:t>
            </a:r>
            <a:r>
              <a:rPr lang="en-US" altLang="zh-CN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HR</a:t>
            </a: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（既懂业务，又懂人）</a:t>
            </a:r>
            <a:endParaRPr lang="zh-CN" altLang="en-US" sz="2800" b="1" i="0" u="none" strike="noStrike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666750" y="1162050"/>
            <a:ext cx="2857500" cy="2381250"/>
          </a:xfrm>
          <a:prstGeom prst="roundRect">
            <a:avLst>
              <a:gd name="adj" fmla="val 5600"/>
            </a:avLst>
          </a:prstGeom>
          <a:gradFill>
            <a:gsLst>
              <a:gs pos="50410">
                <a:srgbClr val="FB9B36"/>
              </a:gs>
              <a:gs pos="0">
                <a:srgbClr val="FE564D"/>
              </a:gs>
              <a:gs pos="100000">
                <a:srgbClr val="F9CA26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876300" y="1371600"/>
            <a:ext cx="2438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为什么需要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HRBP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1028700" y="1733550"/>
            <a:ext cx="2286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多品牌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多平台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多城据点，业务复杂度已超出传统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HR 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职能</a:t>
            </a:r>
            <a:endParaRPr lang="zh-CN"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1028700" y="2314575"/>
            <a:ext cx="2286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直播「日销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大促」双节奏，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HR 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节奏必须贴着业务走</a:t>
            </a:r>
            <a:endParaRPr lang="zh-CN"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1028700" y="2895600"/>
            <a:ext cx="2286000" cy="466725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业务要的不是「后勤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HR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」，是并肩作战、听得懂业务的伙伴</a:t>
            </a:r>
            <a:endParaRPr lang="zh-CN"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695700" y="1162050"/>
            <a:ext cx="3857625" cy="1133475"/>
          </a:xfrm>
          <a:prstGeom prst="roundRect">
            <a:avLst>
              <a:gd name="adj" fmla="val 10084"/>
            </a:avLst>
          </a:prstGeom>
          <a:solidFill>
            <a:srgbClr val="F5EEF5"/>
          </a:solidFill>
          <a:ln w="6350">
            <a:noFill/>
            <a:prstDash val="solid"/>
          </a:ln>
        </p:spPr>
        <p:txBody>
          <a:bodyPr/>
          <a:p/>
        </p:txBody>
      </p:sp>
      <p:sp>
        <p:nvSpPr>
          <p:cNvPr id="14" name="圆角矩形 13"/>
          <p:cNvSpPr/>
          <p:nvPr/>
        </p:nvSpPr>
        <p:spPr>
          <a:xfrm>
            <a:off x="3924300" y="15367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E8702A"/>
          </a:solidFill>
        </p:spPr>
        <p:txBody>
          <a:bodyPr/>
          <a:p/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4076700" y="1479550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b="1">
                <a:solidFill>
                  <a:srgbClr val="2C2C2A"/>
                </a:solidFill>
                <a:latin typeface="微软雅黑" panose="020B0503020204020204" charset="-122"/>
                <a:ea typeface="微软雅黑" panose="020B0503020204020204" charset="-122"/>
              </a:rPr>
              <a:t>战略伙伴</a:t>
            </a:r>
            <a:endParaRPr lang="zh-CN" b="1">
              <a:solidFill>
                <a:srgbClr val="2C2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3924300" y="1746250"/>
            <a:ext cx="3552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参与业务规划、提前做人力盘点</a:t>
            </a:r>
            <a:endParaRPr lang="zh-CN" sz="108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667625" y="1162050"/>
            <a:ext cx="3857625" cy="1133475"/>
          </a:xfrm>
          <a:prstGeom prst="roundRect">
            <a:avLst>
              <a:gd name="adj" fmla="val 10084"/>
            </a:avLst>
          </a:prstGeom>
          <a:solidFill>
            <a:srgbClr val="F5EEF5"/>
          </a:solidFill>
          <a:ln w="6350">
            <a:noFill/>
            <a:prstDash val="solid"/>
          </a:ln>
        </p:spPr>
        <p:txBody>
          <a:bodyPr/>
          <a:p/>
        </p:txBody>
      </p:sp>
      <p:sp>
        <p:nvSpPr>
          <p:cNvPr id="18" name="圆角矩形 17"/>
          <p:cNvSpPr/>
          <p:nvPr/>
        </p:nvSpPr>
        <p:spPr>
          <a:xfrm>
            <a:off x="7896225" y="15367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E8702A"/>
          </a:solidFill>
        </p:spPr>
        <p:txBody>
          <a:bodyPr/>
          <a:p/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8048625" y="1479550"/>
            <a:ext cx="762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b="1">
                <a:solidFill>
                  <a:srgbClr val="2C2C2A"/>
                </a:solidFill>
                <a:latin typeface="微软雅黑" panose="020B0503020204020204" charset="-122"/>
                <a:ea typeface="微软雅黑" panose="020B0503020204020204" charset="-122"/>
              </a:rPr>
              <a:t>员工支持者</a:t>
            </a:r>
            <a:endParaRPr lang="zh-CN" b="1">
              <a:solidFill>
                <a:srgbClr val="2C2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7896225" y="1746250"/>
            <a:ext cx="3552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沟通关怀、留任与劳动关系维护</a:t>
            </a:r>
            <a:endParaRPr lang="zh-CN" sz="975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695700" y="2409825"/>
            <a:ext cx="3857625" cy="1133475"/>
          </a:xfrm>
          <a:prstGeom prst="roundRect">
            <a:avLst>
              <a:gd name="adj" fmla="val 10084"/>
            </a:avLst>
          </a:prstGeom>
          <a:solidFill>
            <a:srgbClr val="F5EEF5"/>
          </a:solidFill>
          <a:ln w="6350">
            <a:noFill/>
            <a:prstDash val="solid"/>
          </a:ln>
        </p:spPr>
        <p:txBody>
          <a:bodyPr/>
          <a:p/>
        </p:txBody>
      </p:sp>
      <p:sp>
        <p:nvSpPr>
          <p:cNvPr id="22" name="圆角矩形 21"/>
          <p:cNvSpPr/>
          <p:nvPr/>
        </p:nvSpPr>
        <p:spPr>
          <a:xfrm>
            <a:off x="3924300" y="27844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E8702A"/>
          </a:solidFill>
        </p:spPr>
        <p:txBody>
          <a:bodyPr/>
          <a:p/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4076700" y="2727325"/>
            <a:ext cx="762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b="1">
                <a:solidFill>
                  <a:srgbClr val="2C2C2A"/>
                </a:solidFill>
                <a:latin typeface="微软雅黑" panose="020B0503020204020204" charset="-122"/>
                <a:ea typeface="微软雅黑" panose="020B0503020204020204" charset="-122"/>
              </a:rPr>
              <a:t>变革推动者</a:t>
            </a:r>
            <a:endParaRPr lang="zh-CN" b="1">
              <a:solidFill>
                <a:srgbClr val="2C2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3924300" y="2994025"/>
            <a:ext cx="3552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新据点落地、组织调整的推动引擎</a:t>
            </a:r>
            <a:endParaRPr lang="zh-CN" sz="108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7667625" y="2409825"/>
            <a:ext cx="3857625" cy="1133475"/>
          </a:xfrm>
          <a:prstGeom prst="roundRect">
            <a:avLst>
              <a:gd name="adj" fmla="val 10084"/>
            </a:avLst>
          </a:prstGeom>
          <a:solidFill>
            <a:srgbClr val="F5EEF5"/>
          </a:solidFill>
          <a:ln w="6350">
            <a:noFill/>
            <a:prstDash val="solid"/>
          </a:ln>
        </p:spPr>
        <p:txBody>
          <a:bodyPr/>
          <a:p/>
        </p:txBody>
      </p:sp>
      <p:sp>
        <p:nvSpPr>
          <p:cNvPr id="26" name="圆角矩形 25"/>
          <p:cNvSpPr/>
          <p:nvPr/>
        </p:nvSpPr>
        <p:spPr>
          <a:xfrm>
            <a:off x="7896225" y="27844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E8702A"/>
          </a:solidFill>
        </p:spPr>
        <p:txBody>
          <a:bodyPr/>
          <a:p/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8048625" y="2727325"/>
            <a:ext cx="762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b="1">
                <a:solidFill>
                  <a:srgbClr val="2C2C2A"/>
                </a:solidFill>
                <a:latin typeface="微软雅黑" panose="020B0503020204020204" charset="-122"/>
                <a:ea typeface="微软雅黑" panose="020B0503020204020204" charset="-122"/>
              </a:rPr>
              <a:t>流程守护者</a:t>
            </a:r>
            <a:endParaRPr lang="zh-CN" b="1">
              <a:solidFill>
                <a:srgbClr val="2C2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7896225" y="2994025"/>
            <a:ext cx="3552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招人</a:t>
            </a:r>
            <a:r>
              <a:rPr lang="en-US" sz="108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8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用人</a:t>
            </a:r>
            <a:r>
              <a:rPr lang="en-US" sz="108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8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留人，落到一线不走样</a:t>
            </a:r>
            <a:endParaRPr lang="zh-CN" sz="108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66750" y="3841750"/>
            <a:ext cx="38100" cy="152400"/>
          </a:xfrm>
          <a:prstGeom prst="roundRect">
            <a:avLst>
              <a:gd name="adj" fmla="val 50000"/>
            </a:avLst>
          </a:prstGeom>
          <a:solidFill>
            <a:srgbClr val="E8702A"/>
          </a:solidFill>
        </p:spPr>
        <p:txBody>
          <a:bodyPr/>
          <a:p/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781050" y="3822700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微软雅黑" panose="020B0503020204020204" charset="-122"/>
                <a:ea typeface="微软雅黑" panose="020B0503020204020204" charset="-122"/>
              </a:rPr>
              <a:t>职能标准</a:t>
            </a:r>
            <a:endParaRPr lang="zh-CN" sz="1200" b="1">
              <a:solidFill>
                <a:srgbClr val="2C2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66750" y="4108450"/>
            <a:ext cx="2628900" cy="876300"/>
          </a:xfrm>
          <a:prstGeom prst="roundRect">
            <a:avLst>
              <a:gd name="adj" fmla="val 10870"/>
            </a:avLst>
          </a:prstGeom>
          <a:solidFill>
            <a:srgbClr val="F5EEF5"/>
          </a:solidFill>
        </p:spPr>
        <p:txBody>
          <a:bodyPr/>
          <a:p/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812800" y="4318000"/>
            <a:ext cx="2362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2571B"/>
                </a:solidFill>
                <a:latin typeface="微软雅黑" panose="020B0503020204020204" charset="-122"/>
                <a:ea typeface="微软雅黑" panose="020B0503020204020204" charset="-122"/>
              </a:rPr>
              <a:t>懂业务</a:t>
            </a:r>
            <a:endParaRPr lang="zh-CN" sz="1200" b="1">
              <a:solidFill>
                <a:srgbClr val="C2571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812800" y="4546600"/>
            <a:ext cx="2362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参会、读数据、识别人效痛点</a:t>
            </a:r>
            <a:endParaRPr lang="zh-CN" sz="100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3409950" y="4108450"/>
            <a:ext cx="2628900" cy="876300"/>
          </a:xfrm>
          <a:prstGeom prst="roundRect">
            <a:avLst>
              <a:gd name="adj" fmla="val 10870"/>
            </a:avLst>
          </a:prstGeom>
          <a:solidFill>
            <a:srgbClr val="F5EEF5"/>
          </a:solidFill>
        </p:spPr>
        <p:txBody>
          <a:bodyPr/>
          <a:p/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3556000" y="4318000"/>
            <a:ext cx="2362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2571B"/>
                </a:solidFill>
                <a:latin typeface="微软雅黑" panose="020B0503020204020204" charset="-122"/>
                <a:ea typeface="微软雅黑" panose="020B0503020204020204" charset="-122"/>
              </a:rPr>
              <a:t>推组织</a:t>
            </a:r>
            <a:endParaRPr lang="zh-CN" sz="1200" b="1">
              <a:solidFill>
                <a:srgbClr val="C2571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3556000" y="4546600"/>
            <a:ext cx="2362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搭班子、建结构、调机制流程</a:t>
            </a:r>
            <a:endParaRPr lang="zh-CN" sz="100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153150" y="4108450"/>
            <a:ext cx="2628900" cy="876300"/>
          </a:xfrm>
          <a:prstGeom prst="roundRect">
            <a:avLst>
              <a:gd name="adj" fmla="val 10870"/>
            </a:avLst>
          </a:prstGeom>
          <a:solidFill>
            <a:srgbClr val="F5EEF5"/>
          </a:solidFill>
        </p:spPr>
        <p:txBody>
          <a:bodyPr/>
          <a:p/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6299200" y="4318000"/>
            <a:ext cx="2362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2571B"/>
                </a:solidFill>
                <a:latin typeface="微软雅黑" panose="020B0503020204020204" charset="-122"/>
                <a:ea typeface="微软雅黑" panose="020B0503020204020204" charset="-122"/>
              </a:rPr>
              <a:t>选人才</a:t>
            </a:r>
            <a:endParaRPr lang="zh-CN" sz="1200" b="1">
              <a:solidFill>
                <a:srgbClr val="C2571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6299200" y="4546600"/>
            <a:ext cx="2362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育</a:t>
            </a:r>
            <a:r>
              <a:rPr lang="en-US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留在一线真正落地</a:t>
            </a:r>
            <a:endParaRPr lang="zh-CN" sz="100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896350" y="4108450"/>
            <a:ext cx="2628900" cy="876300"/>
          </a:xfrm>
          <a:prstGeom prst="roundRect">
            <a:avLst>
              <a:gd name="adj" fmla="val 10870"/>
            </a:avLst>
          </a:prstGeom>
          <a:solidFill>
            <a:srgbClr val="F5EEF5"/>
          </a:solidFill>
        </p:spPr>
        <p:txBody>
          <a:bodyPr/>
          <a:p/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9042400" y="4318000"/>
            <a:ext cx="2362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2571B"/>
                </a:solidFill>
                <a:latin typeface="微软雅黑" panose="020B0503020204020204" charset="-122"/>
                <a:ea typeface="微软雅黑" panose="020B0503020204020204" charset="-122"/>
              </a:rPr>
              <a:t>促文化</a:t>
            </a:r>
            <a:endParaRPr lang="zh-CN" sz="1200" b="1">
              <a:solidFill>
                <a:srgbClr val="C2571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9042400" y="4546600"/>
            <a:ext cx="2362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传导价值观、建设团队氛围</a:t>
            </a:r>
            <a:endParaRPr lang="zh-CN" sz="100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666750" y="5359400"/>
            <a:ext cx="38100" cy="152400"/>
          </a:xfrm>
          <a:prstGeom prst="roundRect">
            <a:avLst>
              <a:gd name="adj" fmla="val 50000"/>
            </a:avLst>
          </a:prstGeom>
          <a:solidFill>
            <a:srgbClr val="E8702A"/>
          </a:solidFill>
        </p:spPr>
        <p:txBody>
          <a:bodyPr/>
          <a:p/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781050" y="5340350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微软雅黑" panose="020B0503020204020204" charset="-122"/>
                <a:ea typeface="微软雅黑" panose="020B0503020204020204" charset="-122"/>
              </a:rPr>
              <a:t>工作节奏</a:t>
            </a:r>
            <a:endParaRPr lang="zh-CN" sz="1200" b="1">
              <a:solidFill>
                <a:srgbClr val="2C2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695325" y="5626100"/>
            <a:ext cx="26289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67" name="任意多边形 66"/>
          <p:cNvSpPr/>
          <p:nvPr/>
        </p:nvSpPr>
        <p:spPr>
          <a:xfrm>
            <a:off x="695325" y="5626100"/>
            <a:ext cx="2628900" cy="876300"/>
          </a:xfrm>
          <a:custGeom>
            <a:avLst/>
            <a:gdLst/>
            <a:ahLst/>
            <a:cxnLst/>
            <a:pathLst>
              <a:path w="276" h="9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7"/>
                </a:lnTo>
                <a:cubicBezTo>
                  <a:pt x="3" y="89"/>
                  <a:pt x="5" y="91"/>
                  <a:pt x="7" y="92"/>
                </a:cubicBezTo>
                <a:cubicBezTo>
                  <a:pt x="3" y="91"/>
                  <a:pt x="0" y="88"/>
                  <a:pt x="0" y="8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8702A"/>
          </a:solidFill>
        </p:spPr>
        <p:txBody>
          <a:bodyPr/>
          <a:p/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828675" y="5759450"/>
            <a:ext cx="2333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微软雅黑" panose="020B0503020204020204" charset="-122"/>
                <a:ea typeface="微软雅黑" panose="020B0503020204020204" charset="-122"/>
              </a:rPr>
              <a:t>每日</a:t>
            </a:r>
            <a:endParaRPr lang="zh-CN" sz="1200" b="1">
              <a:solidFill>
                <a:srgbClr val="2C2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828675" y="5988050"/>
            <a:ext cx="2333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1on1 · </a:t>
            </a: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面试</a:t>
            </a:r>
            <a:r>
              <a:rPr lang="en-US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业务现场</a:t>
            </a:r>
            <a:endParaRPr lang="zh-CN" sz="100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3438525" y="5626100"/>
            <a:ext cx="26289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72" name="任意多边形 71"/>
          <p:cNvSpPr/>
          <p:nvPr/>
        </p:nvSpPr>
        <p:spPr>
          <a:xfrm>
            <a:off x="3438525" y="5626100"/>
            <a:ext cx="2628900" cy="876300"/>
          </a:xfrm>
          <a:custGeom>
            <a:avLst/>
            <a:gdLst/>
            <a:ahLst/>
            <a:cxnLst/>
            <a:pathLst>
              <a:path w="276" h="9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7"/>
                </a:lnTo>
                <a:cubicBezTo>
                  <a:pt x="3" y="89"/>
                  <a:pt x="5" y="91"/>
                  <a:pt x="7" y="92"/>
                </a:cubicBezTo>
                <a:cubicBezTo>
                  <a:pt x="3" y="91"/>
                  <a:pt x="0" y="88"/>
                  <a:pt x="0" y="8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8702A"/>
          </a:solidFill>
        </p:spPr>
        <p:txBody>
          <a:bodyPr/>
          <a:p/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3571875" y="5759450"/>
            <a:ext cx="2333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微软雅黑" panose="020B0503020204020204" charset="-122"/>
                <a:ea typeface="微软雅黑" panose="020B0503020204020204" charset="-122"/>
              </a:rPr>
              <a:t>每周</a:t>
            </a:r>
            <a:endParaRPr lang="zh-CN" sz="1200" b="1">
              <a:solidFill>
                <a:srgbClr val="2C2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3571875" y="5988050"/>
            <a:ext cx="2333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业务对齐</a:t>
            </a:r>
            <a:r>
              <a:rPr lang="en-US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周复盘</a:t>
            </a:r>
            <a:endParaRPr lang="zh-CN" sz="100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6181725" y="5626100"/>
            <a:ext cx="26289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81" name="任意多边形 80"/>
          <p:cNvSpPr/>
          <p:nvPr/>
        </p:nvSpPr>
        <p:spPr>
          <a:xfrm>
            <a:off x="6181725" y="5626100"/>
            <a:ext cx="2628900" cy="876300"/>
          </a:xfrm>
          <a:custGeom>
            <a:avLst/>
            <a:gdLst/>
            <a:ahLst/>
            <a:cxnLst/>
            <a:pathLst>
              <a:path w="276" h="9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7"/>
                </a:lnTo>
                <a:cubicBezTo>
                  <a:pt x="3" y="89"/>
                  <a:pt x="5" y="91"/>
                  <a:pt x="7" y="92"/>
                </a:cubicBezTo>
                <a:cubicBezTo>
                  <a:pt x="3" y="91"/>
                  <a:pt x="0" y="88"/>
                  <a:pt x="0" y="8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8702A"/>
          </a:solidFill>
        </p:spPr>
        <p:txBody>
          <a:bodyPr/>
          <a:p/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6315075" y="5759450"/>
            <a:ext cx="2333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微软雅黑" panose="020B0503020204020204" charset="-122"/>
                <a:ea typeface="微软雅黑" panose="020B0503020204020204" charset="-122"/>
              </a:rPr>
              <a:t>每月</a:t>
            </a:r>
            <a:endParaRPr lang="zh-CN" sz="1200" b="1">
              <a:solidFill>
                <a:srgbClr val="2C2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6315075" y="5988050"/>
            <a:ext cx="2333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人力盘点</a:t>
            </a:r>
            <a:r>
              <a:rPr lang="en-US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入离职分析</a:t>
            </a:r>
            <a:endParaRPr lang="zh-CN" sz="100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8924925" y="5626100"/>
            <a:ext cx="26289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85" name="任意多边形 84"/>
          <p:cNvSpPr/>
          <p:nvPr/>
        </p:nvSpPr>
        <p:spPr>
          <a:xfrm>
            <a:off x="8924925" y="5626100"/>
            <a:ext cx="2628900" cy="876300"/>
          </a:xfrm>
          <a:custGeom>
            <a:avLst/>
            <a:gdLst/>
            <a:ahLst/>
            <a:cxnLst/>
            <a:pathLst>
              <a:path w="276" h="9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7"/>
                </a:lnTo>
                <a:cubicBezTo>
                  <a:pt x="3" y="89"/>
                  <a:pt x="5" y="91"/>
                  <a:pt x="7" y="92"/>
                </a:cubicBezTo>
                <a:cubicBezTo>
                  <a:pt x="3" y="91"/>
                  <a:pt x="0" y="88"/>
                  <a:pt x="0" y="8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8702A"/>
          </a:solidFill>
        </p:spPr>
        <p:txBody>
          <a:bodyPr/>
          <a:p/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9058275" y="5759450"/>
            <a:ext cx="2333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C2C2A"/>
                </a:solidFill>
                <a:latin typeface="微软雅黑" panose="020B0503020204020204" charset="-122"/>
                <a:ea typeface="微软雅黑" panose="020B0503020204020204" charset="-122"/>
              </a:rPr>
              <a:t>每季</a:t>
            </a:r>
            <a:endParaRPr lang="zh-CN" sz="1200" b="1">
              <a:solidFill>
                <a:srgbClr val="2C2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9058275" y="5988050"/>
            <a:ext cx="2333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组织诊断</a:t>
            </a:r>
            <a:r>
              <a:rPr lang="en-US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绩效复盘</a:t>
            </a:r>
            <a:r>
              <a:rPr lang="en-US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0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文化落地</a:t>
            </a:r>
            <a:endParaRPr lang="zh-CN" sz="100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876300" y="1809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</p:spPr>
        <p:txBody>
          <a:bodyPr/>
          <a:p/>
        </p:txBody>
      </p:sp>
      <p:sp>
        <p:nvSpPr>
          <p:cNvPr id="91" name="圆角矩形 90"/>
          <p:cNvSpPr/>
          <p:nvPr/>
        </p:nvSpPr>
        <p:spPr>
          <a:xfrm>
            <a:off x="876300" y="23907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</p:spPr>
        <p:txBody>
          <a:bodyPr/>
          <a:p/>
        </p:txBody>
      </p:sp>
      <p:sp>
        <p:nvSpPr>
          <p:cNvPr id="92" name="圆角矩形 91"/>
          <p:cNvSpPr/>
          <p:nvPr/>
        </p:nvSpPr>
        <p:spPr>
          <a:xfrm>
            <a:off x="876300" y="29718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AutoShape 13"/>
          <p:cNvSpPr/>
          <p:nvPr/>
        </p:nvSpPr>
        <p:spPr>
          <a:xfrm>
            <a:off x="214284" y="320168"/>
            <a:ext cx="1656080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推进</a:t>
            </a:r>
            <a:r>
              <a:rPr lang="zh-CN" altLang="en-US" sz="2800" b="1" i="0" u="none" strike="noStrike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节奏</a:t>
            </a:r>
            <a:endParaRPr lang="zh-CN" altLang="en-US" sz="2800" b="1" i="0" u="none" strike="noStrike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9446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" name="Shape 4"/>
          <p:cNvSpPr/>
          <p:nvPr/>
        </p:nvSpPr>
        <p:spPr>
          <a:xfrm>
            <a:off x="711708" y="166878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C078A8"/>
          </a:solidFill>
        </p:spPr>
      </p:sp>
      <p:sp>
        <p:nvSpPr>
          <p:cNvPr id="7" name="Text 5"/>
          <p:cNvSpPr/>
          <p:nvPr/>
        </p:nvSpPr>
        <p:spPr>
          <a:xfrm>
            <a:off x="749808" y="1668780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2026 Q4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217420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打胜仗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68096" y="3150108"/>
            <a:ext cx="91440" cy="91440"/>
          </a:xfrm>
          <a:prstGeom prst="ellipse">
            <a:avLst/>
          </a:prstGeom>
          <a:solidFill>
            <a:srgbClr val="C078A8"/>
          </a:solidFill>
        </p:spPr>
      </p:sp>
      <p:sp>
        <p:nvSpPr>
          <p:cNvPr id="10" name="Text 8"/>
          <p:cNvSpPr/>
          <p:nvPr/>
        </p:nvSpPr>
        <p:spPr>
          <a:xfrm>
            <a:off x="969264" y="30129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招聘达成</a:t>
            </a:r>
            <a:endParaRPr lang="zh-CN" altLang="en-US" dirty="0">
              <a:solidFill>
                <a:srgbClr val="3A2F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8096" y="3808476"/>
            <a:ext cx="91440" cy="91440"/>
          </a:xfrm>
          <a:prstGeom prst="ellipse">
            <a:avLst/>
          </a:prstGeom>
          <a:solidFill>
            <a:srgbClr val="C078A8"/>
          </a:solidFill>
        </p:spPr>
      </p:sp>
      <p:sp>
        <p:nvSpPr>
          <p:cNvPr id="12" name="Text 10"/>
          <p:cNvSpPr/>
          <p:nvPr/>
        </p:nvSpPr>
        <p:spPr>
          <a:xfrm>
            <a:off x="969264" y="367131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</a:rPr>
              <a:t>绩效规范</a:t>
            </a:r>
            <a:endParaRPr lang="zh-CN" altLang="en-US" dirty="0">
              <a:solidFill>
                <a:srgbClr val="3A2F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8096" y="4466844"/>
            <a:ext cx="91440" cy="91440"/>
          </a:xfrm>
          <a:prstGeom prst="ellipse">
            <a:avLst/>
          </a:prstGeom>
          <a:solidFill>
            <a:srgbClr val="C078A8"/>
          </a:solidFill>
        </p:spPr>
      </p:sp>
      <p:sp>
        <p:nvSpPr>
          <p:cNvPr id="14" name="Text 12"/>
          <p:cNvSpPr/>
          <p:nvPr/>
        </p:nvSpPr>
        <p:spPr>
          <a:xfrm>
            <a:off x="969264" y="432968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</a:rPr>
              <a:t>信任共盟</a:t>
            </a:r>
            <a:endParaRPr lang="zh-CN" altLang="en-US" dirty="0">
              <a:solidFill>
                <a:srgbClr val="3A2F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69080" y="2994660"/>
            <a:ext cx="2377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B997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▸</a:t>
            </a:r>
            <a:endParaRPr lang="en-US" dirty="0">
              <a:solidFill>
                <a:srgbClr val="B997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88536" y="139446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581144" y="166878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B997B9"/>
          </a:solidFill>
        </p:spPr>
      </p:sp>
      <p:sp>
        <p:nvSpPr>
          <p:cNvPr id="18" name="Text 16"/>
          <p:cNvSpPr/>
          <p:nvPr/>
        </p:nvSpPr>
        <p:spPr>
          <a:xfrm>
            <a:off x="4543044" y="1668780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2027 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上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半年</a:t>
            </a:r>
            <a:endParaRPr lang="zh-CN" alt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81144" y="2217420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</a:rPr>
              <a:t>建制度</a:t>
            </a:r>
            <a:endParaRPr lang="zh-CN" altLang="en-US" sz="2600" b="1" dirty="0">
              <a:solidFill>
                <a:srgbClr val="3A2F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99432" y="3150108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1" name="Text 19"/>
          <p:cNvSpPr/>
          <p:nvPr/>
        </p:nvSpPr>
        <p:spPr>
          <a:xfrm>
            <a:off x="4800600" y="30129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招聘制度及</a:t>
            </a:r>
            <a:r>
              <a:rPr lang="zh-CN" altLang="en-US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流程</a:t>
            </a:r>
            <a:endParaRPr lang="zh-CN" altLang="en-US" dirty="0">
              <a:solidFill>
                <a:srgbClr val="3A2F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99432" y="3808476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3" name="Text 21"/>
          <p:cNvSpPr/>
          <p:nvPr/>
        </p:nvSpPr>
        <p:spPr>
          <a:xfrm>
            <a:off x="4800600" y="367131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薪酬绩效制度及</a:t>
            </a:r>
            <a:r>
              <a:rPr lang="zh-CN" altLang="en-US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流程</a:t>
            </a:r>
            <a:endParaRPr lang="zh-CN" altLang="en-US" dirty="0">
              <a:solidFill>
                <a:srgbClr val="3A2F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99432" y="4466844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25" name="Text 23"/>
          <p:cNvSpPr/>
          <p:nvPr/>
        </p:nvSpPr>
        <p:spPr>
          <a:xfrm>
            <a:off x="4800600" y="432968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员工关系制度及</a:t>
            </a:r>
            <a:r>
              <a:rPr lang="zh-CN" altLang="en-US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流程</a:t>
            </a:r>
            <a:endParaRPr lang="zh-CN" altLang="en-US" dirty="0">
              <a:solidFill>
                <a:srgbClr val="3A2F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900416" y="2994660"/>
            <a:ext cx="23774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B997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▸</a:t>
            </a:r>
            <a:endParaRPr lang="en-US" dirty="0">
              <a:solidFill>
                <a:srgbClr val="B997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19872" y="139446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5EEF5"/>
          </a:solidFill>
          <a:effectLst>
            <a:outerShdw blurRad="88900" dist="25400" dir="5400000" algn="bl" rotWithShape="0">
              <a:srgbClr val="453252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12480" y="166878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B997B9"/>
          </a:solidFill>
        </p:spPr>
      </p:sp>
      <p:sp>
        <p:nvSpPr>
          <p:cNvPr id="29" name="Text 27"/>
          <p:cNvSpPr/>
          <p:nvPr/>
        </p:nvSpPr>
        <p:spPr>
          <a:xfrm>
            <a:off x="8374380" y="1668780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2027 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下半年</a:t>
            </a:r>
            <a:endParaRPr lang="zh-CN" alt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" name="Text 28"/>
          <p:cNvSpPr/>
          <p:nvPr/>
        </p:nvSpPr>
        <p:spPr>
          <a:xfrm>
            <a:off x="8412480" y="2217420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成体系</a:t>
            </a:r>
            <a:endParaRPr lang="en-US" sz="2600" b="1" dirty="0">
              <a:solidFill>
                <a:srgbClr val="3A2F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430768" y="3150108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32" name="Text 30"/>
          <p:cNvSpPr/>
          <p:nvPr/>
        </p:nvSpPr>
        <p:spPr>
          <a:xfrm>
            <a:off x="8631936" y="30129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招聘运营体系</a:t>
            </a:r>
            <a:endParaRPr lang="zh-CN" altLang="en-US" dirty="0">
              <a:solidFill>
                <a:srgbClr val="3A2F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430768" y="3808476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34" name="Text 32"/>
          <p:cNvSpPr/>
          <p:nvPr/>
        </p:nvSpPr>
        <p:spPr>
          <a:xfrm>
            <a:off x="8631936" y="367131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</a:rPr>
              <a:t>绩效盘点体系</a:t>
            </a:r>
            <a:endParaRPr lang="zh-CN" altLang="en-US" dirty="0">
              <a:solidFill>
                <a:srgbClr val="3A2F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430768" y="4466844"/>
            <a:ext cx="91440" cy="91440"/>
          </a:xfrm>
          <a:prstGeom prst="ellipse">
            <a:avLst/>
          </a:prstGeom>
          <a:solidFill>
            <a:srgbClr val="B997B9"/>
          </a:solidFill>
        </p:spPr>
      </p:sp>
      <p:sp>
        <p:nvSpPr>
          <p:cNvPr id="36" name="Text 34"/>
          <p:cNvSpPr/>
          <p:nvPr/>
        </p:nvSpPr>
        <p:spPr>
          <a:xfrm>
            <a:off x="8631936" y="432968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人才发展</a:t>
            </a:r>
            <a:r>
              <a:rPr lang="zh-CN" altLang="en-US" dirty="0">
                <a:solidFill>
                  <a:srgbClr val="3A2F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体系</a:t>
            </a:r>
            <a:endParaRPr lang="zh-CN" altLang="en-US" dirty="0">
              <a:solidFill>
                <a:srgbClr val="3A2F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86080" y="5591810"/>
            <a:ext cx="6096000" cy="560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给管理层的 3 </a:t>
            </a:r>
            <a:r>
              <a:rPr lang="zh-CN" sz="1500" b="1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点期待</a:t>
            </a:r>
            <a:endParaRPr sz="1500" b="1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lang="zh-CN" altLang="en-US" sz="130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606675" y="5549900"/>
            <a:ext cx="6096000" cy="947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 把 HR 当伙伴</a:t>
            </a:r>
            <a:endParaRPr sz="1300" b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 用人部门是招聘第一责任人，</a:t>
            </a:r>
            <a:r>
              <a:rPr lang="en-US" sz="130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HR</a:t>
            </a:r>
            <a:r>
              <a:rPr sz="130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是助攻</a:t>
            </a:r>
            <a:endParaRPr sz="1300" b="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 绩效常态化，别把问题攒到</a:t>
            </a:r>
            <a:r>
              <a:rPr lang="zh-CN" sz="130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辞退</a:t>
            </a:r>
            <a:r>
              <a:rPr lang="zh-CN" sz="1300">
                <a:solidFill>
                  <a:srgbClr val="7C5E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</a:t>
            </a:r>
            <a:endParaRPr lang="zh-CN" sz="1300">
              <a:solidFill>
                <a:srgbClr val="7C5E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129780" y="5549900"/>
            <a:ext cx="456438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lnSpc>
                <a:spcPct val="140000"/>
              </a:lnSpc>
              <a:buSzTx/>
              <a:defRPr/>
            </a:pPr>
            <a:r>
              <a:rPr lang="zh-CN" altLang="en-US" sz="2000" b="1" u="sng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HR 的价值，</a:t>
            </a:r>
            <a:endParaRPr lang="zh-CN" altLang="en-US" sz="2000" b="1" u="sng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r">
              <a:lnSpc>
                <a:spcPct val="140000"/>
              </a:lnSpc>
              <a:buSzTx/>
              <a:defRPr/>
            </a:pPr>
            <a:r>
              <a:rPr lang="zh-CN" altLang="en-US" sz="2000" b="1" u="sng" spc="100">
                <a:gradFill rotWithShape="1">
                  <a:gsLst>
                    <a:gs pos="0">
                      <a:srgbClr val="C00000">
                        <a:alpha val="100000"/>
                      </a:srgbClr>
                    </a:gs>
                    <a:gs pos="100000">
                      <a:srgbClr val="ED7D31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在于赋能业务，让人与组织一起变强。</a:t>
            </a:r>
            <a:endParaRPr lang="zh-CN" altLang="en-US" sz="2000" b="1" u="sng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r">
              <a:lnSpc>
                <a:spcPct val="140000"/>
              </a:lnSpc>
              <a:buSzTx/>
              <a:defRPr/>
            </a:pPr>
            <a:endParaRPr lang="zh-CN" altLang="en-US" sz="2000" b="1" u="sng" spc="100">
              <a:gradFill rotWithShape="1">
                <a:gsLst>
                  <a:gs pos="0">
                    <a:srgbClr val="C00000">
                      <a:alpha val="100000"/>
                    </a:srgbClr>
                  </a:gs>
                  <a:gs pos="100000">
                    <a:srgbClr val="ED7D31">
                      <a:alpha val="100000"/>
                    </a:srgbClr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941484" y="3310111"/>
            <a:ext cx="1672253" cy="5232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100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谢谢聆听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10502265" y="5545455"/>
              <a:ext cx="1244600" cy="68580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589260" y="5683885"/>
            <a:ext cx="1047750" cy="4191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Shape 5"/>
          <p:cNvSpPr/>
          <p:nvPr/>
        </p:nvSpPr>
        <p:spPr>
          <a:xfrm>
            <a:off x="2129028" y="3421380"/>
            <a:ext cx="1078992" cy="475488"/>
          </a:xfrm>
          <a:prstGeom prst="roundRect">
            <a:avLst>
              <a:gd name="adj" fmla="val 50000"/>
            </a:avLst>
          </a:prstGeom>
          <a:solidFill>
            <a:srgbClr val="F7AA7D"/>
          </a:solidFill>
        </p:spPr>
      </p:sp>
      <p:sp>
        <p:nvSpPr>
          <p:cNvPr id="12" name="Shape 7"/>
          <p:cNvSpPr/>
          <p:nvPr/>
        </p:nvSpPr>
        <p:spPr>
          <a:xfrm>
            <a:off x="3427476" y="3421380"/>
            <a:ext cx="1078992" cy="475488"/>
          </a:xfrm>
          <a:prstGeom prst="roundRect">
            <a:avLst>
              <a:gd name="adj" fmla="val 50000"/>
            </a:avLst>
          </a:prstGeom>
          <a:solidFill>
            <a:srgbClr val="F7AA7D"/>
          </a:solidFill>
        </p:spPr>
      </p:sp>
      <p:sp>
        <p:nvSpPr>
          <p:cNvPr id="15" name="Shape 9"/>
          <p:cNvSpPr/>
          <p:nvPr/>
        </p:nvSpPr>
        <p:spPr>
          <a:xfrm>
            <a:off x="4725924" y="3421380"/>
            <a:ext cx="1078992" cy="475488"/>
          </a:xfrm>
          <a:prstGeom prst="roundRect">
            <a:avLst>
              <a:gd name="adj" fmla="val 50000"/>
            </a:avLst>
          </a:prstGeom>
          <a:solidFill>
            <a:srgbClr val="F7AA7D"/>
          </a:solidFill>
        </p:spPr>
      </p:sp>
      <p:sp>
        <p:nvSpPr>
          <p:cNvPr id="17" name="Shape 11"/>
          <p:cNvSpPr/>
          <p:nvPr/>
        </p:nvSpPr>
        <p:spPr>
          <a:xfrm>
            <a:off x="6024372" y="3421380"/>
            <a:ext cx="1078992" cy="475488"/>
          </a:xfrm>
          <a:prstGeom prst="roundRect">
            <a:avLst>
              <a:gd name="adj" fmla="val 50000"/>
            </a:avLst>
          </a:prstGeom>
          <a:solidFill>
            <a:srgbClr val="F7AA7D"/>
          </a:solidFill>
        </p:spPr>
      </p:sp>
      <p:grpSp>
        <p:nvGrpSpPr>
          <p:cNvPr id="7" name="组合 6"/>
          <p:cNvGrpSpPr/>
          <p:nvPr/>
        </p:nvGrpSpPr>
        <p:grpSpPr>
          <a:xfrm>
            <a:off x="2129155" y="3421380"/>
            <a:ext cx="4973320" cy="474980"/>
            <a:chOff x="3353" y="5388"/>
            <a:chExt cx="7832" cy="748"/>
          </a:xfrm>
        </p:grpSpPr>
        <p:sp>
          <p:nvSpPr>
            <p:cNvPr id="9" name="Text 6"/>
            <p:cNvSpPr/>
            <p:nvPr/>
          </p:nvSpPr>
          <p:spPr>
            <a:xfrm>
              <a:off x="3353" y="5388"/>
              <a:ext cx="1699" cy="749"/>
            </a:xfrm>
            <a:prstGeom prst="rect">
              <a:avLst/>
            </a:prstGeom>
            <a:solidFill>
              <a:srgbClr val="F7AA7D"/>
            </a:solidFill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正道</a:t>
              </a:r>
              <a:endParaRPr 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13" name="Text 8"/>
            <p:cNvSpPr/>
            <p:nvPr/>
          </p:nvSpPr>
          <p:spPr>
            <a:xfrm>
              <a:off x="5398" y="5388"/>
              <a:ext cx="1699" cy="749"/>
            </a:xfrm>
            <a:prstGeom prst="rect">
              <a:avLst/>
            </a:prstGeom>
            <a:solidFill>
              <a:srgbClr val="F7AA7D"/>
            </a:solidFill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利他</a:t>
              </a:r>
              <a:endParaRPr 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16" name="Text 10"/>
            <p:cNvSpPr/>
            <p:nvPr/>
          </p:nvSpPr>
          <p:spPr>
            <a:xfrm>
              <a:off x="7442" y="5388"/>
              <a:ext cx="1699" cy="749"/>
            </a:xfrm>
            <a:prstGeom prst="rect">
              <a:avLst/>
            </a:prstGeom>
            <a:solidFill>
              <a:srgbClr val="F7AA7D"/>
            </a:solidFill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真实</a:t>
              </a:r>
              <a:endParaRPr 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18" name="Text 12"/>
            <p:cNvSpPr/>
            <p:nvPr/>
          </p:nvSpPr>
          <p:spPr>
            <a:xfrm>
              <a:off x="9487" y="5388"/>
              <a:ext cx="1699" cy="749"/>
            </a:xfrm>
            <a:prstGeom prst="rect">
              <a:avLst/>
            </a:prstGeom>
            <a:solidFill>
              <a:srgbClr val="F7AA7D"/>
            </a:solidFill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情义</a:t>
              </a:r>
              <a:endParaRPr 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2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3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4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5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6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7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8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9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10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11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12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13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14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15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16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17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18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19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20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21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22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23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24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25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26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27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28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29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30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31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32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33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34.xml><?xml version="1.0" encoding="utf-8"?>
<p:tagLst xmlns:p="http://schemas.openxmlformats.org/presentationml/2006/main">
  <p:tag name="KSO_WM_DIAGRAM_VIRTUALLY_FRAME" val="{&quot;height&quot;:546.5925196850394,&quot;left&quot;:-0.00023622047247044974,&quot;top&quot;:-8.192519685039361,&quot;width&quot;:962.2723622047245}"/>
</p:tagLst>
</file>

<file path=ppt/tags/tag35.xml><?xml version="1.0" encoding="utf-8"?>
<p:tagLst xmlns:p="http://schemas.openxmlformats.org/presentationml/2006/main">
  <p:tag name="KSO_WM_DIAGRAM_VIRTUALLY_FRAME" val="{&quot;height&quot;:244.8,&quot;left&quot;:57.6,&quot;top&quot;:223.2,&quot;width&quot;:843.86}"/>
</p:tagLst>
</file>

<file path=ppt/tags/tag36.xml><?xml version="1.0" encoding="utf-8"?>
<p:tagLst xmlns:p="http://schemas.openxmlformats.org/presentationml/2006/main">
  <p:tag name="KSO_WM_DIAGRAM_VIRTUALLY_FRAME" val="{&quot;height&quot;:244.8,&quot;left&quot;:57.6,&quot;top&quot;:223.2,&quot;width&quot;:843.86}"/>
</p:tagLst>
</file>

<file path=ppt/tags/tag37.xml><?xml version="1.0" encoding="utf-8"?>
<p:tagLst xmlns:p="http://schemas.openxmlformats.org/presentationml/2006/main">
  <p:tag name="KSO_WM_DIAGRAM_VIRTUALLY_FRAME" val="{&quot;height&quot;:244.8,&quot;left&quot;:57.6,&quot;top&quot;:223.2,&quot;width&quot;:843.86}"/>
</p:tagLst>
</file>

<file path=ppt/tags/tag38.xml><?xml version="1.0" encoding="utf-8"?>
<p:tagLst xmlns:p="http://schemas.openxmlformats.org/presentationml/2006/main">
  <p:tag name="KSO_WM_DIAGRAM_VIRTUALLY_FRAME" val="{&quot;height&quot;:244.8,&quot;left&quot;:57.6,&quot;top&quot;:223.2,&quot;width&quot;:843.86}"/>
</p:tagLst>
</file>

<file path=ppt/tags/tag39.xml><?xml version="1.0" encoding="utf-8"?>
<p:tagLst xmlns:p="http://schemas.openxmlformats.org/presentationml/2006/main">
  <p:tag name="KSO_WM_DIAGRAM_VIRTUALLY_FRAME" val="{&quot;height&quot;:244.8,&quot;left&quot;:57.6,&quot;top&quot;:223.2,&quot;width&quot;:843.86}"/>
</p:tagLst>
</file>

<file path=ppt/tags/tag40.xml><?xml version="1.0" encoding="utf-8"?>
<p:tagLst xmlns:p="http://schemas.openxmlformats.org/presentationml/2006/main">
  <p:tag name="KSO_WM_DIAGRAM_VIRTUALLY_FRAME" val="{&quot;height&quot;:244.8,&quot;left&quot;:57.6,&quot;top&quot;:223.2,&quot;width&quot;:843.86}"/>
</p:tagLst>
</file>

<file path=ppt/tags/tag41.xml><?xml version="1.0" encoding="utf-8"?>
<p:tagLst xmlns:p="http://schemas.openxmlformats.org/presentationml/2006/main">
  <p:tag name="KSO_WM_DIAGRAM_VIRTUALLY_FRAME" val="{&quot;height&quot;:244.8,&quot;left&quot;:57.6,&quot;top&quot;:223.2,&quot;width&quot;:843.86}"/>
</p:tagLst>
</file>

<file path=ppt/tags/tag42.xml><?xml version="1.0" encoding="utf-8"?>
<p:tagLst xmlns:p="http://schemas.openxmlformats.org/presentationml/2006/main">
  <p:tag name="KSO_WM_DIAGRAM_VIRTUALLY_FRAME" val="{&quot;height&quot;:244.8,&quot;left&quot;:57.6,&quot;top&quot;:223.2,&quot;width&quot;:843.86}"/>
</p:tagLst>
</file>

<file path=ppt/tags/tag43.xml><?xml version="1.0" encoding="utf-8"?>
<p:tagLst xmlns:p="http://schemas.openxmlformats.org/presentationml/2006/main">
  <p:tag name="KSO_WM_DIAGRAM_VIRTUALLY_FRAME" val="{&quot;height&quot;:244.8,&quot;left&quot;:57.6,&quot;top&quot;:223.2,&quot;width&quot;:843.86}"/>
</p:tagLst>
</file>

<file path=ppt/tags/tag44.xml><?xml version="1.0" encoding="utf-8"?>
<p:tagLst xmlns:p="http://schemas.openxmlformats.org/presentationml/2006/main">
  <p:tag name="KSO_WM_DIAGRAM_VIRTUALLY_FRAME" val="{&quot;height&quot;:336.55,&quot;left&quot;:57.6,&quot;top&quot;:140.4,&quot;width&quot;:616.3399999999999}"/>
</p:tagLst>
</file>

<file path=ppt/tags/tag45.xml><?xml version="1.0" encoding="utf-8"?>
<p:tagLst xmlns:p="http://schemas.openxmlformats.org/presentationml/2006/main">
  <p:tag name="KSO_WM_DIAGRAM_VIRTUALLY_FRAME" val="{&quot;height&quot;:214.11040354894104,&quot;left&quot;:86.64999999999996,&quot;top&quot;:209.85,&quot;width&quot;:805.7377219152783}"/>
</p:tagLst>
</file>

<file path=ppt/tags/tag46.xml><?xml version="1.0" encoding="utf-8"?>
<p:tagLst xmlns:p="http://schemas.openxmlformats.org/presentationml/2006/main">
  <p:tag name="KSO_WM_DIAGRAM_VIRTUALLY_FRAME" val="{&quot;height&quot;:373.7020472440945,&quot;left&quot;:49.5,&quot;top&quot;:107.6755905511811,&quot;width&quot;:850.5603937007875}"/>
</p:tagLst>
</file>

<file path=ppt/tags/tag47.xml><?xml version="1.0" encoding="utf-8"?>
<p:tagLst xmlns:p="http://schemas.openxmlformats.org/presentationml/2006/main">
  <p:tag name="KSO_WM_DIAGRAM_VIRTUALLY_FRAME" val="{&quot;height&quot;:373.7020472440945,&quot;left&quot;:49.5,&quot;top&quot;:107.6755905511811,&quot;width&quot;:850.5603937007875}"/>
</p:tagLst>
</file>

<file path=ppt/tags/tag48.xml><?xml version="1.0" encoding="utf-8"?>
<p:tagLst xmlns:p="http://schemas.openxmlformats.org/presentationml/2006/main">
  <p:tag name="KSO_WM_DIAGRAM_VIRTUALLY_FRAME" val="{&quot;height&quot;:373.7020472440945,&quot;left&quot;:49.5,&quot;top&quot;:107.6755905511811,&quot;width&quot;:850.5603937007875}"/>
</p:tagLst>
</file>

<file path=ppt/tags/tag49.xml><?xml version="1.0" encoding="utf-8"?>
<p:tagLst xmlns:p="http://schemas.openxmlformats.org/presentationml/2006/main">
  <p:tag name="KSO_WM_DIAGRAM_VIRTUALLY_FRAME" val="{&quot;height&quot;:373.7020472440945,&quot;left&quot;:49.5,&quot;top&quot;:107.6755905511811,&quot;width&quot;:850.5603937007875}"/>
</p:tagLst>
</file>

<file path=ppt/tags/tag50.xml><?xml version="1.0" encoding="utf-8"?>
<p:tagLst xmlns:p="http://schemas.openxmlformats.org/presentationml/2006/main">
  <p:tag name="KSO_WM_DIAGRAM_VIRTUALLY_FRAME" val="{&quot;height&quot;:373.7020472440945,&quot;left&quot;:49.5,&quot;top&quot;:107.6755905511811,&quot;width&quot;:850.5603937007875}"/>
</p:tagLst>
</file>

<file path=ppt/tags/tag51.xml><?xml version="1.0" encoding="utf-8"?>
<p:tagLst xmlns:p="http://schemas.openxmlformats.org/presentationml/2006/main">
  <p:tag name="KSO_WM_DIAGRAM_VIRTUALLY_FRAME" val="{&quot;height&quot;:373.7020472440945,&quot;left&quot;:49.5,&quot;top&quot;:107.6755905511811,&quot;width&quot;:850.5603937007875}"/>
</p:tagLst>
</file>

<file path=ppt/tags/tag52.xml><?xml version="1.0" encoding="utf-8"?>
<p:tagLst xmlns:p="http://schemas.openxmlformats.org/presentationml/2006/main">
  <p:tag name="KSO_WM_DIAGRAM_VIRTUALLY_FRAME" val="{&quot;height&quot;:214.11040354894104,&quot;left&quot;:86.64999999999996,&quot;top&quot;:209.85,&quot;width&quot;:805.7377219152783}"/>
</p:tagLst>
</file>

<file path=ppt/tags/tag53.xml><?xml version="1.0" encoding="utf-8"?>
<p:tagLst xmlns:p="http://schemas.openxmlformats.org/presentationml/2006/main">
  <p:tag name="KSO_WM_DIAGRAM_VIRTUALLY_FRAME" val="{&quot;height&quot;:214.11040354894104,&quot;left&quot;:86.64999999999996,&quot;top&quot;:209.85,&quot;width&quot;:805.7377219152783}"/>
</p:tagLst>
</file>

<file path=ppt/tags/tag54.xml><?xml version="1.0" encoding="utf-8"?>
<p:tagLst xmlns:p="http://schemas.openxmlformats.org/presentationml/2006/main">
  <p:tag name="KSO_WM_DIAGRAM_VIRTUALLY_FRAME" val="{&quot;height&quot;:214.11040354894104,&quot;left&quot;:86.64999999999996,&quot;top&quot;:209.85,&quot;width&quot;:805.7377219152783}"/>
</p:tagLst>
</file>

<file path=ppt/tags/tag55.xml><?xml version="1.0" encoding="utf-8"?>
<p:tagLst xmlns:p="http://schemas.openxmlformats.org/presentationml/2006/main">
  <p:tag name="KSO_WM_DIAGRAM_VIRTUALLY_FRAME" val="{&quot;height&quot;:214.11040354894104,&quot;left&quot;:86.64999999999996,&quot;top&quot;:209.85,&quot;width&quot;:805.7377219152783}"/>
</p:tagLst>
</file>

<file path=ppt/tags/tag56.xml><?xml version="1.0" encoding="utf-8"?>
<p:tagLst xmlns:p="http://schemas.openxmlformats.org/presentationml/2006/main">
  <p:tag name="KSO_WM_DIAGRAM_VIRTUALLY_FRAME" val="{&quot;height&quot;:336.55,&quot;left&quot;:57.6,&quot;top&quot;:140.4,&quot;width&quot;:616.3399999999999}"/>
</p:tagLst>
</file>

<file path=ppt/tags/tag57.xml><?xml version="1.0" encoding="utf-8"?>
<p:tagLst xmlns:p="http://schemas.openxmlformats.org/presentationml/2006/main">
  <p:tag name="KSO_WM_DIAGRAM_VIRTUALLY_FRAME" val="{&quot;height&quot;:214.11040354894104,&quot;left&quot;:86.64999999999996,&quot;top&quot;:209.85,&quot;width&quot;:805.7377219152783}"/>
</p:tagLst>
</file>

<file path=ppt/tags/tag58.xml><?xml version="1.0" encoding="utf-8"?>
<p:tagLst xmlns:p="http://schemas.openxmlformats.org/presentationml/2006/main">
  <p:tag name="KSO_WM_DIAGRAM_VIRTUALLY_FRAME" val="{&quot;height&quot;:214.11040354894104,&quot;left&quot;:86.64999999999996,&quot;top&quot;:209.85,&quot;width&quot;:805.7377219152783}"/>
</p:tagLst>
</file>

<file path=ppt/tags/tag59.xml><?xml version="1.0" encoding="utf-8"?>
<p:tagLst xmlns:p="http://schemas.openxmlformats.org/presentationml/2006/main">
  <p:tag name="KSO_WM_DIAGRAM_VIRTUALLY_FRAME" val="{&quot;height&quot;:214.11040354894104,&quot;left&quot;:86.64999999999996,&quot;top&quot;:209.85,&quot;width&quot;:805.7377219152783}"/>
</p:tagLst>
</file>

<file path=ppt/tags/tag60.xml><?xml version="1.0" encoding="utf-8"?>
<p:tagLst xmlns:p="http://schemas.openxmlformats.org/presentationml/2006/main">
  <p:tag name="KSO_WM_DIAGRAM_VIRTUALLY_FRAME" val="{&quot;height&quot;:373.7020472440945,&quot;left&quot;:49.5,&quot;top&quot;:107.6755905511811,&quot;width&quot;:850.5603937007875}"/>
</p:tagLst>
</file>

<file path=ppt/tags/tag61.xml><?xml version="1.0" encoding="utf-8"?>
<p:tagLst xmlns:p="http://schemas.openxmlformats.org/presentationml/2006/main">
  <p:tag name="KSO_WM_DIAGRAM_VIRTUALLY_FRAME" val="{&quot;height&quot;:373.7020472440945,&quot;left&quot;:49.5,&quot;top&quot;:107.6755905511811,&quot;width&quot;:850.5603937007875}"/>
</p:tagLst>
</file>

<file path=ppt/tags/tag62.xml><?xml version="1.0" encoding="utf-8"?>
<p:tagLst xmlns:p="http://schemas.openxmlformats.org/presentationml/2006/main">
  <p:tag name="KSO_WM_DIAGRAM_VIRTUALLY_FRAME" val="{&quot;height&quot;:373.7020472440945,&quot;left&quot;:49.5,&quot;top&quot;:107.6755905511811,&quot;width&quot;:850.5603937007875}"/>
</p:tagLst>
</file>

<file path=ppt/tags/tag63.xml><?xml version="1.0" encoding="utf-8"?>
<p:tagLst xmlns:p="http://schemas.openxmlformats.org/presentationml/2006/main">
  <p:tag name="KSO_WM_DIAGRAM_VIRTUALLY_FRAME" val="{&quot;height&quot;:373.7020472440945,&quot;left&quot;:49.5,&quot;top&quot;:107.6755905511811,&quot;width&quot;:850.5603937007875}"/>
</p:tagLst>
</file>

<file path=ppt/tags/tag64.xml><?xml version="1.0" encoding="utf-8"?>
<p:tagLst xmlns:p="http://schemas.openxmlformats.org/presentationml/2006/main">
  <p:tag name="KSO_WM_DIAGRAM_VIRTUALLY_FRAME" val="{&quot;height&quot;:373.7020472440945,&quot;left&quot;:49.5,&quot;top&quot;:107.6755905511811,&quot;width&quot;:850.5603937007875}"/>
</p:tagLst>
</file>

<file path=ppt/tags/tag65.xml><?xml version="1.0" encoding="utf-8"?>
<p:tagLst xmlns:p="http://schemas.openxmlformats.org/presentationml/2006/main">
  <p:tag name="KSO_WM_DIAGRAM_VIRTUALLY_FRAME" val="{&quot;height&quot;:373.7020472440945,&quot;left&quot;:49.5,&quot;top&quot;:107.6755905511811,&quot;width&quot;:850.5603937007875}"/>
</p:tagLst>
</file>

<file path=ppt/tags/tag66.xml><?xml version="1.0" encoding="utf-8"?>
<p:tagLst xmlns:p="http://schemas.openxmlformats.org/presentationml/2006/main">
  <p:tag name="KSO_WM_DIAGRAM_VIRTUALLY_FRAME" val="{&quot;height&quot;:214.11040354894104,&quot;left&quot;:86.64999999999996,&quot;top&quot;:209.85,&quot;width&quot;:805.7377219152783}"/>
</p:tagLst>
</file>

<file path=ppt/tags/tag67.xml><?xml version="1.0" encoding="utf-8"?>
<p:tagLst xmlns:p="http://schemas.openxmlformats.org/presentationml/2006/main">
  <p:tag name="KSO_WM_DIAGRAM_VIRTUALLY_FRAME" val="{&quot;height&quot;:214.11040354894104,&quot;left&quot;:86.64999999999996,&quot;top&quot;:209.85,&quot;width&quot;:805.7377219152783}"/>
</p:tagLst>
</file>

<file path=ppt/tags/tag68.xml><?xml version="1.0" encoding="utf-8"?>
<p:tagLst xmlns:p="http://schemas.openxmlformats.org/presentationml/2006/main">
  <p:tag name="KSO_WM_DIAGRAM_VIRTUALLY_FRAME" val="{&quot;height&quot;:214.11040354894104,&quot;left&quot;:86.64999999999996,&quot;top&quot;:209.85,&quot;width&quot;:805.7377219152783}"/>
</p:tagLst>
</file>

<file path=ppt/tags/tag69.xml><?xml version="1.0" encoding="utf-8"?>
<p:tagLst xmlns:p="http://schemas.openxmlformats.org/presentationml/2006/main">
  <p:tag name="KSO_WM_DIAGRAM_VIRTUALLY_FRAME" val="{&quot;height&quot;:284.4,&quot;left&quot;:489.6,&quot;top&quot;:183.6,&quot;width&quot;:410.4}"/>
</p:tagLst>
</file>

<file path=ppt/tags/tag70.xml><?xml version="1.0" encoding="utf-8"?>
<p:tagLst xmlns:p="http://schemas.openxmlformats.org/presentationml/2006/main">
  <p:tag name="KSO_WM_DIAGRAM_VIRTUALLY_FRAME" val="{&quot;height&quot;:284.4,&quot;left&quot;:489.6,&quot;top&quot;:183.6,&quot;width&quot;:410.4}"/>
</p:tagLst>
</file>

<file path=ppt/tags/tag71.xml><?xml version="1.0" encoding="utf-8"?>
<p:tagLst xmlns:p="http://schemas.openxmlformats.org/presentationml/2006/main">
  <p:tag name="KSO_WM_DIAGRAM_VIRTUALLY_FRAME" val="{&quot;height&quot;:284.4,&quot;left&quot;:489.6,&quot;top&quot;:183.6,&quot;width&quot;:410.4}"/>
</p:tagLst>
</file>

<file path=ppt/tags/tag72.xml><?xml version="1.0" encoding="utf-8"?>
<p:tagLst xmlns:p="http://schemas.openxmlformats.org/presentationml/2006/main">
  <p:tag name="KSO_WM_DIAGRAM_VIRTUALLY_FRAME" val="{&quot;height&quot;:284.4,&quot;left&quot;:489.6,&quot;top&quot;:183.6,&quot;width&quot;:410.4}"/>
</p:tagLst>
</file>

<file path=ppt/tags/tag73.xml><?xml version="1.0" encoding="utf-8"?>
<p:tagLst xmlns:p="http://schemas.openxmlformats.org/presentationml/2006/main">
  <p:tag name="KSO_WM_DIAGRAM_VIRTUALLY_FRAME" val="{&quot;height&quot;:284.4,&quot;left&quot;:489.6,&quot;top&quot;:183.6,&quot;width&quot;:410.4}"/>
</p:tagLst>
</file>

<file path=ppt/tags/tag74.xml><?xml version="1.0" encoding="utf-8"?>
<p:tagLst xmlns:p="http://schemas.openxmlformats.org/presentationml/2006/main">
  <p:tag name="KSO_WM_DIAGRAM_VIRTUALLY_FRAME" val="{&quot;height&quot;:284.4,&quot;left&quot;:489.6,&quot;top&quot;:183.6,&quot;width&quot;:410.4}"/>
</p:tagLst>
</file>

<file path=ppt/tags/tag75.xml><?xml version="1.0" encoding="utf-8"?>
<p:tagLst xmlns:p="http://schemas.openxmlformats.org/presentationml/2006/main">
  <p:tag name="KSO_WM_DIAGRAM_VIRTUALLY_FRAME" val="{&quot;height&quot;:284.4,&quot;left&quot;:489.6,&quot;top&quot;:183.6,&quot;width&quot;:410.4}"/>
</p:tagLst>
</file>

<file path=ppt/tags/tag76.xml><?xml version="1.0" encoding="utf-8"?>
<p:tagLst xmlns:p="http://schemas.openxmlformats.org/presentationml/2006/main">
  <p:tag name="KSO_WM_DIAGRAM_VIRTUALLY_FRAME" val="{&quot;height&quot;:284.4,&quot;left&quot;:489.6,&quot;top&quot;:183.6,&quot;width&quot;:410.4}"/>
</p:tagLst>
</file>

<file path=ppt/tags/tag77.xml><?xml version="1.0" encoding="utf-8"?>
<p:tagLst xmlns:p="http://schemas.openxmlformats.org/presentationml/2006/main">
  <p:tag name="KSO_WM_DIAGRAM_VIRTUALLY_FRAME" val="{&quot;height&quot;:284.4,&quot;left&quot;:489.6,&quot;top&quot;:183.6,&quot;width&quot;:410.4}"/>
</p:tagLst>
</file>

<file path=ppt/tags/tag78.xml><?xml version="1.0" encoding="utf-8"?>
<p:tagLst xmlns:p="http://schemas.openxmlformats.org/presentationml/2006/main">
  <p:tag name="KSO_WM_DIAGRAM_VIRTUALLY_FRAME" val="{&quot;height&quot;:284.4,&quot;left&quot;:489.6,&quot;top&quot;:183.6,&quot;width&quot;:410.4}"/>
</p:tagLst>
</file>

<file path=ppt/tags/tag79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80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81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82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83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84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85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86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87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88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89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90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91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92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ags/tag93.xml><?xml version="1.0" encoding="utf-8"?>
<p:tagLst xmlns:p="http://schemas.openxmlformats.org/presentationml/2006/main">
  <p:tag name="KSO_WM_DIAGRAM_VIRTUALLY_FRAME" val="{&quot;height&quot;:362.55,&quot;left&quot;:36,&quot;top&quot;:119.75,&quot;width&quot;:1142.8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2366</Words>
  <Application>WPS 演示</Application>
  <PresentationFormat/>
  <Paragraphs>717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宋体</vt:lpstr>
      <vt:lpstr>Wingdings</vt:lpstr>
      <vt:lpstr>Arial</vt:lpstr>
      <vt:lpstr>Calibri</vt:lpstr>
      <vt:lpstr>Noto Sans SC</vt:lpstr>
      <vt:lpstr>Songti SC</vt:lpstr>
      <vt:lpstr>ksdb</vt:lpstr>
      <vt:lpstr>Wingdings</vt:lpstr>
      <vt:lpstr>微软雅黑</vt:lpstr>
      <vt:lpstr>微软雅黑</vt:lpstr>
      <vt:lpstr>Wingdings</vt:lpstr>
      <vt:lpstr>Arial Unicode MS</vt:lpstr>
      <vt:lpstr>Calibri</vt:lpstr>
      <vt:lpstr>Songti SC</vt:lpstr>
      <vt:lpstr>-apple-system</vt:lpstr>
      <vt:lpstr>-apple-system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Andrés จุ๊บ</cp:lastModifiedBy>
  <cp:revision>117</cp:revision>
  <dcterms:created xsi:type="dcterms:W3CDTF">2026-09-02T00:58:00Z</dcterms:created>
  <dcterms:modified xsi:type="dcterms:W3CDTF">2026-09-03T02:19:12Z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8DA74B567ED145D1A161BD71993A8BF1_13</vt:lpwstr>
  </property>
  <property fmtid="{D5CDD505-2E9C-101B-9397-08002B2CF9AE}" pid="3" name="KSOProductBuildVer">
    <vt:lpwstr>2052-12.1.0.24034</vt:lpwstr>
  </property>
</Properties>
</file>