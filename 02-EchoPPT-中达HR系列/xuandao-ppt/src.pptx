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6" r:id="rId4"/>
    <p:sldMasterId id="2147483678" r:id="rId5"/>
    <p:sldMasterId id="2147483683" r:id="rId6"/>
    <p:sldMasterId id="2147483688" r:id="rId7"/>
    <p:sldMasterId id="2147483693" r:id="rId8"/>
    <p:sldMasterId id="2147483698" r:id="rId9"/>
    <p:sldMasterId id="2147483703" r:id="rId10"/>
  </p:sldMasterIdLst>
  <p:notesMasterIdLst>
    <p:notesMasterId r:id="rId12"/>
  </p:notesMasterIdLst>
  <p:sldIdLst>
    <p:sldId id="256" r:id="rId11"/>
    <p:sldId id="304" r:id="rId13"/>
    <p:sldId id="299" r:id="rId14"/>
    <p:sldId id="301" r:id="rId15"/>
    <p:sldId id="294" r:id="rId16"/>
    <p:sldId id="258" r:id="rId17"/>
    <p:sldId id="259" r:id="rId18"/>
    <p:sldId id="260" r:id="rId19"/>
    <p:sldId id="261" r:id="rId20"/>
    <p:sldId id="262" r:id="rId21"/>
    <p:sldId id="263" r:id="rId22"/>
    <p:sldId id="265" r:id="rId23"/>
    <p:sldId id="264" r:id="rId24"/>
    <p:sldId id="266" r:id="rId25"/>
    <p:sldId id="267" r:id="rId26"/>
    <p:sldId id="268" r:id="rId27"/>
    <p:sldId id="269" r:id="rId28"/>
    <p:sldId id="270" r:id="rId29"/>
    <p:sldId id="271" r:id="rId30"/>
    <p:sldId id="281" r:id="rId31"/>
    <p:sldId id="306" r:id="rId32"/>
    <p:sldId id="273" r:id="rId33"/>
    <p:sldId id="274" r:id="rId34"/>
    <p:sldId id="275" r:id="rId35"/>
    <p:sldId id="276" r:id="rId36"/>
    <p:sldId id="277" r:id="rId37"/>
    <p:sldId id="279" r:id="rId38"/>
    <p:sldId id="307" r:id="rId39"/>
    <p:sldId id="280" r:id="rId40"/>
  </p:sldIdLst>
  <p:sldSz cx="121793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44" userDrawn="1">
          <p15:clr>
            <a:srgbClr val="747775"/>
          </p15:clr>
        </p15:guide>
        <p15:guide id="2" pos="2899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3E9"/>
    <a:srgbClr val="E8590C"/>
    <a:srgbClr val="B2320A"/>
    <a:srgbClr val="FDEBD7"/>
    <a:srgbClr val="000C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44"/>
        <p:guide pos="2899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3" Type="http://schemas.openxmlformats.org/officeDocument/2006/relationships/tableStyles" Target="tableStyles.xml"/><Relationship Id="rId42" Type="http://schemas.openxmlformats.org/officeDocument/2006/relationships/viewProps" Target="viewProps.xml"/><Relationship Id="rId41" Type="http://schemas.openxmlformats.org/officeDocument/2006/relationships/presProps" Target="presProps.xml"/><Relationship Id="rId40" Type="http://schemas.openxmlformats.org/officeDocument/2006/relationships/slide" Target="slides/slide29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28.xml"/><Relationship Id="rId38" Type="http://schemas.openxmlformats.org/officeDocument/2006/relationships/slide" Target="slides/slide27.xml"/><Relationship Id="rId37" Type="http://schemas.openxmlformats.org/officeDocument/2006/relationships/slide" Target="slides/slide26.xml"/><Relationship Id="rId36" Type="http://schemas.openxmlformats.org/officeDocument/2006/relationships/slide" Target="slides/slide25.xml"/><Relationship Id="rId35" Type="http://schemas.openxmlformats.org/officeDocument/2006/relationships/slide" Target="slides/slide24.xml"/><Relationship Id="rId34" Type="http://schemas.openxmlformats.org/officeDocument/2006/relationships/slide" Target="slides/slide23.xml"/><Relationship Id="rId33" Type="http://schemas.openxmlformats.org/officeDocument/2006/relationships/slide" Target="slides/slide22.xml"/><Relationship Id="rId32" Type="http://schemas.openxmlformats.org/officeDocument/2006/relationships/slide" Target="slides/slide21.xml"/><Relationship Id="rId31" Type="http://schemas.openxmlformats.org/officeDocument/2006/relationships/slide" Target="slides/slide20.xml"/><Relationship Id="rId30" Type="http://schemas.openxmlformats.org/officeDocument/2006/relationships/slide" Target="slides/slide19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18.xml"/><Relationship Id="rId28" Type="http://schemas.openxmlformats.org/officeDocument/2006/relationships/slide" Target="slides/slide17.xml"/><Relationship Id="rId27" Type="http://schemas.openxmlformats.org/officeDocument/2006/relationships/slide" Target="slides/slide16.xml"/><Relationship Id="rId26" Type="http://schemas.openxmlformats.org/officeDocument/2006/relationships/slide" Target="slides/slide15.xml"/><Relationship Id="rId25" Type="http://schemas.openxmlformats.org/officeDocument/2006/relationships/slide" Target="slides/slide14.xml"/><Relationship Id="rId24" Type="http://schemas.openxmlformats.org/officeDocument/2006/relationships/slide" Target="slides/slide13.xml"/><Relationship Id="rId23" Type="http://schemas.openxmlformats.org/officeDocument/2006/relationships/slide" Target="slides/slide12.xml"/><Relationship Id="rId22" Type="http://schemas.openxmlformats.org/officeDocument/2006/relationships/slide" Target="slides/slide11.xml"/><Relationship Id="rId21" Type="http://schemas.openxmlformats.org/officeDocument/2006/relationships/slide" Target="slides/slide10.xml"/><Relationship Id="rId20" Type="http://schemas.openxmlformats.org/officeDocument/2006/relationships/slide" Target="slides/slide9.xml"/><Relationship Id="rId2" Type="http://schemas.openxmlformats.org/officeDocument/2006/relationships/theme" Target="theme/theme1.xml"/><Relationship Id="rId19" Type="http://schemas.openxmlformats.org/officeDocument/2006/relationships/slide" Target="slides/slide8.xml"/><Relationship Id="rId18" Type="http://schemas.openxmlformats.org/officeDocument/2006/relationships/slide" Target="slides/slide7.xml"/><Relationship Id="rId17" Type="http://schemas.openxmlformats.org/officeDocument/2006/relationships/slide" Target="slides/slide6.xml"/><Relationship Id="rId16" Type="http://schemas.openxmlformats.org/officeDocument/2006/relationships/slide" Target="slides/slide5.xml"/><Relationship Id="rId15" Type="http://schemas.openxmlformats.org/officeDocument/2006/relationships/slide" Target="slides/slide4.xml"/><Relationship Id="rId14" Type="http://schemas.openxmlformats.org/officeDocument/2006/relationships/slide" Target="slides/slide3.xml"/><Relationship Id="rId13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1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9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11403" y="319088"/>
            <a:ext cx="10504646" cy="5429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9062880" cy="907132"/>
          </a:xfrm>
          <a:prstGeom prst="rect">
            <a:avLst/>
          </a:prstGeom>
          <a:gradFill flip="none" rotWithShape="1">
            <a:gsLst>
              <a:gs pos="46000">
                <a:srgbClr val="00B0F0"/>
              </a:gs>
              <a:gs pos="0">
                <a:srgbClr val="063197"/>
              </a:gs>
              <a:gs pos="81000">
                <a:srgbClr val="C5EDFC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5" name="Picture 11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21145" y="6523038"/>
            <a:ext cx="12217360" cy="37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4164" y="260648"/>
            <a:ext cx="8660537" cy="706090"/>
          </a:xfrm>
          <a:prstGeom prst="rect">
            <a:avLst/>
          </a:prstGeom>
        </p:spPr>
        <p:txBody>
          <a:bodyPr/>
          <a:lstStyle>
            <a:lvl1pPr algn="l">
              <a:defRPr sz="28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8" name="Picture 9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357485" y="154185"/>
            <a:ext cx="2684043" cy="671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5000174" y="5534025"/>
            <a:ext cx="1987066" cy="10747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6" hasCustomPrompt="1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title style</a:t>
            </a:r>
            <a:endParaRPr lang="en-US" sz="4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AutoShape 3"/>
          <p:cNvSpPr/>
          <p:nvPr>
            <p:ph type="body" sz="quarter" idx="7" hasCustomPrompt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algn="ctr" defTabSz="457200">
              <a:lnSpc>
                <a:spcPct val="100000"/>
              </a:lnSpc>
              <a:defRPr sz="3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ctr" defTabSz="457200">
              <a:lnSpc>
                <a:spcPct val="100000"/>
              </a:lnSpc>
              <a:spcBef>
                <a:spcPct val="20000"/>
              </a:spcBef>
            </a:pPr>
            <a:r>
              <a:rPr lang="en-US" sz="3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subtitle style</a:t>
            </a:r>
            <a:endParaRPr lang="en-US" sz="3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AutoShape 4"/>
          <p:cNvSpPr/>
          <p:nvPr>
            <p:ph type="body" sz="quarter" idx="8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l"/>
          </a:p>
        </p:txBody>
      </p:sp>
      <p:sp>
        <p:nvSpPr>
          <p:cNvPr id="5" name="AutoShape 5"/>
          <p:cNvSpPr/>
          <p:nvPr>
            <p:ph type="body" sz="quarter" idx="9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AutoShape 6"/>
          <p:cNvSpPr/>
          <p:nvPr>
            <p:ph type="body" sz="quarter" idx="10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r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1" hasCustomPrompt="1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 defTabSz="457200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title style</a:t>
            </a:r>
            <a:endParaRPr lang="en-US" sz="4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AutoShape 3"/>
          <p:cNvSpPr/>
          <p:nvPr>
            <p:ph type="body" sz="quarter" idx="12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marL="749300" indent="-406400" algn="l" defTabSz="457200">
              <a:lnSpc>
                <a:spcPct val="100000"/>
              </a:lnSpc>
              <a:defRPr sz="32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  <a:lvl2pPr marL="1098550" indent="-355600"/>
            <a:lvl3pPr marL="1447800" indent="-304800"/>
            <a:lvl4pPr marL="1854200" indent="-254000"/>
            <a:lvl5pPr marL="2311400" indent="-254000"/>
            <a:lvl6pPr marL="2768600" indent="-254000"/>
            <a:lvl7pPr marL="3225800" indent="-254000"/>
            <a:lvl8pPr marL="3683000" indent="-254000"/>
            <a:lvl9pPr marL="4140200" indent="-254000"/>
          </a:lstStyle>
          <a:p>
            <a:pPr marL="342900" indent="-3429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3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text styles</a:t>
            </a:r>
            <a:endParaRPr lang="en-US" sz="3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742950" lvl="1" indent="-28575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Second level</a:t>
            </a:r>
            <a:endParaRPr lang="en-US" sz="28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Third level</a:t>
            </a:r>
            <a:endParaRPr lang="en-US" sz="2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0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Fourth level</a:t>
            </a:r>
            <a:endParaRPr lang="en-US" sz="20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20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Fifth level</a:t>
            </a:r>
            <a:endParaRPr lang="en-US" sz="20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AutoShape 4"/>
          <p:cNvSpPr/>
          <p:nvPr>
            <p:ph type="body" sz="quarter" idx="13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l"/>
          </a:p>
        </p:txBody>
      </p:sp>
      <p:sp>
        <p:nvSpPr>
          <p:cNvPr id="5" name="AutoShape 5"/>
          <p:cNvSpPr/>
          <p:nvPr>
            <p:ph type="body" sz="quarter" idx="14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AutoShape 6"/>
          <p:cNvSpPr/>
          <p:nvPr>
            <p:ph type="body" sz="quarter" idx="1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r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6" hasCustomPrompt="1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algn="l" defTabSz="457200">
              <a:lnSpc>
                <a:spcPct val="100000"/>
              </a:lnSpc>
              <a:defRPr sz="4000" b="1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40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title style</a:t>
            </a:r>
            <a:endParaRPr lang="en-US" sz="4000" b="1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AutoShape 3"/>
          <p:cNvSpPr/>
          <p:nvPr>
            <p:ph type="body" sz="quarter" idx="17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rmAutofit/>
          </a:bodyPr>
          <a:lstStyle>
            <a:lvl1pPr algn="l" defTabSz="457200">
              <a:lnSpc>
                <a:spcPct val="100000"/>
              </a:lnSpc>
              <a:defRPr sz="20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l" defTabSz="457200">
              <a:lnSpc>
                <a:spcPct val="100000"/>
              </a:lnSpc>
              <a:spcBef>
                <a:spcPct val="20000"/>
              </a:spcBef>
            </a:pPr>
            <a:r>
              <a:rPr lang="en-US" sz="20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text styles</a:t>
            </a:r>
            <a:endParaRPr lang="en-US" sz="20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AutoShape 4"/>
          <p:cNvSpPr/>
          <p:nvPr>
            <p:ph type="body" sz="quarter" idx="18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l"/>
          </a:p>
        </p:txBody>
      </p:sp>
      <p:sp>
        <p:nvSpPr>
          <p:cNvPr id="5" name="AutoShape 5"/>
          <p:cNvSpPr/>
          <p:nvPr>
            <p:ph type="body" sz="quarter" idx="19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AutoShape 6"/>
          <p:cNvSpPr/>
          <p:nvPr>
            <p:ph type="body" sz="quarter" idx="20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r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21" hasCustomPrompt="1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 defTabSz="457200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title style</a:t>
            </a:r>
            <a:endParaRPr lang="en-US" sz="4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AutoShape 3"/>
          <p:cNvSpPr/>
          <p:nvPr>
            <p:ph type="body" sz="quarter" idx="22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marL="698500" indent="-355600" algn="l" defTabSz="457200">
              <a:lnSpc>
                <a:spcPct val="100000"/>
              </a:lnSpc>
              <a:defRPr sz="28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  <a:lvl2pPr marL="1047750" indent="-304800"/>
            <a:lvl3pPr marL="1397000" indent="-254000"/>
            <a:lvl4pPr marL="1828800" indent="-228600"/>
            <a:lvl5pPr marL="2286000" indent="-228600"/>
            <a:lvl6pPr marL="2743200" indent="-228600"/>
            <a:lvl7pPr marL="3200400" indent="-228600"/>
            <a:lvl8pPr marL="3657600" indent="-228600"/>
            <a:lvl9pPr marL="4114800" indent="-228600"/>
          </a:lstStyle>
          <a:p>
            <a:pPr marL="342900" indent="-3429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text styles</a:t>
            </a:r>
            <a:endParaRPr lang="en-US" sz="28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742950" lvl="1" indent="-28575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Second level</a:t>
            </a:r>
            <a:endParaRPr lang="en-US" sz="2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Third level</a:t>
            </a:r>
            <a:endParaRPr lang="en-US" sz="20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1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Fourth level</a:t>
            </a:r>
            <a:endParaRPr lang="en-US" sz="18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1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Fifth level</a:t>
            </a:r>
            <a:endParaRPr lang="en-US" sz="18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AutoShape 4"/>
          <p:cNvSpPr/>
          <p:nvPr>
            <p:ph type="body" sz="quarter" idx="23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marL="698500" indent="-355600" algn="l" defTabSz="457200">
              <a:lnSpc>
                <a:spcPct val="100000"/>
              </a:lnSpc>
              <a:defRPr sz="28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  <a:lvl2pPr marL="1047750" indent="-304800"/>
            <a:lvl3pPr marL="1397000" indent="-254000"/>
            <a:lvl4pPr marL="1828800" indent="-228600"/>
            <a:lvl5pPr marL="2286000" indent="-228600"/>
            <a:lvl6pPr marL="2743200" indent="-228600"/>
            <a:lvl7pPr marL="3200400" indent="-228600"/>
            <a:lvl8pPr marL="3657600" indent="-228600"/>
            <a:lvl9pPr marL="4114800" indent="-228600"/>
          </a:lstStyle>
          <a:p>
            <a:pPr marL="342900" indent="-3429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text styles</a:t>
            </a:r>
            <a:endParaRPr lang="en-US" sz="28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742950" lvl="1" indent="-28575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Second level</a:t>
            </a:r>
            <a:endParaRPr lang="en-US" sz="2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Third level</a:t>
            </a:r>
            <a:endParaRPr lang="en-US" sz="20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1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Fourth level</a:t>
            </a:r>
            <a:endParaRPr lang="en-US" sz="18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1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Fifth level</a:t>
            </a:r>
            <a:endParaRPr lang="en-US" sz="18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" name="AutoShape 5"/>
          <p:cNvSpPr/>
          <p:nvPr>
            <p:ph type="body" sz="quarter" idx="24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l"/>
          </a:p>
        </p:txBody>
      </p:sp>
      <p:sp>
        <p:nvSpPr>
          <p:cNvPr id="6" name="AutoShape 6"/>
          <p:cNvSpPr/>
          <p:nvPr>
            <p:ph type="body" sz="quarter" idx="25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" name="AutoShape 7"/>
          <p:cNvSpPr/>
          <p:nvPr>
            <p:ph type="body" sz="quarter" idx="26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r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27" hasCustomPrompt="1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 defTabSz="457200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title style</a:t>
            </a:r>
            <a:endParaRPr lang="en-US" sz="4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AutoShape 3"/>
          <p:cNvSpPr/>
          <p:nvPr>
            <p:ph type="body" sz="quarter" idx="28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rmAutofit/>
          </a:bodyPr>
          <a:lstStyle>
            <a:lvl1pPr algn="l" defTabSz="457200">
              <a:lnSpc>
                <a:spcPct val="100000"/>
              </a:lnSpc>
              <a:defRPr sz="2400" b="1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l" defTabSz="457200">
              <a:lnSpc>
                <a:spcPct val="100000"/>
              </a:lnSpc>
              <a:spcBef>
                <a:spcPct val="20000"/>
              </a:spcBef>
            </a:pPr>
            <a:r>
              <a:rPr lang="en-US" sz="24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text styles</a:t>
            </a:r>
            <a:endParaRPr lang="en-US" sz="2400" b="1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AutoShape 4"/>
          <p:cNvSpPr/>
          <p:nvPr>
            <p:ph type="body" sz="quarter" idx="29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marL="647700" indent="-304800" algn="l" defTabSz="457200">
              <a:lnSpc>
                <a:spcPct val="100000"/>
              </a:lnSpc>
              <a:defRPr sz="24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  <a:lvl2pPr marL="996950" indent="-254000"/>
            <a:lvl3pPr marL="1371600" indent="-228600"/>
            <a:lvl4pPr marL="1803400" indent="-203200"/>
            <a:lvl5pPr marL="2260600" indent="-203200"/>
            <a:lvl6pPr marL="2717800" indent="-203200"/>
            <a:lvl7pPr marL="3175000" indent="-203200"/>
            <a:lvl8pPr marL="3632200" indent="-203200"/>
            <a:lvl9pPr marL="4089400" indent="-203200"/>
          </a:lstStyle>
          <a:p>
            <a:pPr marL="342900" indent="-3429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text styles</a:t>
            </a:r>
            <a:endParaRPr lang="en-US" sz="2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742950" lvl="1" indent="-28575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0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Second level</a:t>
            </a:r>
            <a:endParaRPr lang="en-US" sz="20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Third level</a:t>
            </a:r>
            <a:endParaRPr lang="en-US" sz="18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16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Fourth level</a:t>
            </a:r>
            <a:endParaRPr lang="en-US" sz="16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16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Fifth level</a:t>
            </a:r>
            <a:endParaRPr lang="en-US" sz="16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" name="AutoShape 5"/>
          <p:cNvSpPr/>
          <p:nvPr>
            <p:ph type="body" sz="quarter" idx="30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Autofit/>
          </a:bodyPr>
          <a:lstStyle>
            <a:lvl1pPr algn="l" defTabSz="457200">
              <a:lnSpc>
                <a:spcPct val="100000"/>
              </a:lnSpc>
              <a:defRPr sz="2400" b="1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l" defTabSz="457200">
              <a:lnSpc>
                <a:spcPct val="100000"/>
              </a:lnSpc>
              <a:spcBef>
                <a:spcPct val="20000"/>
              </a:spcBef>
            </a:pPr>
            <a:r>
              <a:rPr lang="en-US" sz="24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text styles</a:t>
            </a:r>
            <a:endParaRPr lang="en-US" sz="2400" b="1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AutoShape 6"/>
          <p:cNvSpPr/>
          <p:nvPr>
            <p:ph type="body" sz="quarter" idx="31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marL="647700" indent="-304800" algn="l" defTabSz="457200">
              <a:lnSpc>
                <a:spcPct val="100000"/>
              </a:lnSpc>
              <a:defRPr sz="24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  <a:lvl2pPr marL="996950" indent="-254000"/>
            <a:lvl3pPr marL="1371600" indent="-228600"/>
            <a:lvl4pPr marL="1803400" indent="-203200"/>
            <a:lvl5pPr marL="2260600" indent="-203200"/>
            <a:lvl6pPr marL="2717800" indent="-203200"/>
            <a:lvl7pPr marL="3175000" indent="-203200"/>
            <a:lvl8pPr marL="3632200" indent="-203200"/>
            <a:lvl9pPr marL="4089400" indent="-203200"/>
          </a:lstStyle>
          <a:p>
            <a:pPr marL="342900" indent="-3429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text styles</a:t>
            </a:r>
            <a:endParaRPr lang="en-US" sz="2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742950" lvl="1" indent="-28575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0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Second level</a:t>
            </a:r>
            <a:endParaRPr lang="en-US" sz="20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Third level</a:t>
            </a:r>
            <a:endParaRPr lang="en-US" sz="18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16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Fourth level</a:t>
            </a:r>
            <a:endParaRPr lang="en-US" sz="16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16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Fifth level</a:t>
            </a:r>
            <a:endParaRPr lang="en-US" sz="16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" name="AutoShape 7"/>
          <p:cNvSpPr/>
          <p:nvPr>
            <p:ph type="body" sz="quarter" idx="3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l"/>
          </a:p>
        </p:txBody>
      </p:sp>
      <p:sp>
        <p:nvSpPr>
          <p:cNvPr id="8" name="AutoShape 8"/>
          <p:cNvSpPr/>
          <p:nvPr>
            <p:ph type="body" sz="quarter" idx="33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" name="AutoShape 9"/>
          <p:cNvSpPr/>
          <p:nvPr>
            <p:ph type="body" sz="quarter" idx="3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r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35" hasCustomPrompt="1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 defTabSz="457200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title style</a:t>
            </a:r>
            <a:endParaRPr lang="en-US" sz="4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AutoShape 3"/>
          <p:cNvSpPr/>
          <p:nvPr>
            <p:ph type="body" sz="quarter" idx="36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l"/>
          </a:p>
        </p:txBody>
      </p:sp>
      <p:sp>
        <p:nvSpPr>
          <p:cNvPr id="4" name="AutoShape 4"/>
          <p:cNvSpPr/>
          <p:nvPr>
            <p:ph type="body" sz="quarter" idx="37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" name="AutoShape 5"/>
          <p:cNvSpPr/>
          <p:nvPr>
            <p:ph type="body" sz="quarter" idx="38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r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39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l"/>
          </a:p>
        </p:txBody>
      </p:sp>
      <p:sp>
        <p:nvSpPr>
          <p:cNvPr id="3" name="AutoShape 3"/>
          <p:cNvSpPr/>
          <p:nvPr>
            <p:ph type="body" sz="quarter" idx="40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AutoShape 4"/>
          <p:cNvSpPr/>
          <p:nvPr>
            <p:ph type="body" sz="quarter" idx="4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r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42" hasCustomPrompt="1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rmAutofit/>
          </a:bodyPr>
          <a:lstStyle>
            <a:lvl1pPr algn="l" defTabSz="457200">
              <a:lnSpc>
                <a:spcPct val="100000"/>
              </a:lnSpc>
              <a:defRPr sz="2000" b="1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20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title style</a:t>
            </a:r>
            <a:endParaRPr lang="en-US" sz="2000" b="1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AutoShape 3"/>
          <p:cNvSpPr/>
          <p:nvPr>
            <p:ph type="body" sz="quarter" idx="43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marL="749300" indent="-406400" algn="l" defTabSz="457200">
              <a:lnSpc>
                <a:spcPct val="100000"/>
              </a:lnSpc>
              <a:defRPr sz="32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  <a:lvl2pPr marL="1098550" indent="-355600"/>
            <a:lvl3pPr marL="1447800" indent="-304800"/>
            <a:lvl4pPr marL="1854200" indent="-254000"/>
            <a:lvl5pPr marL="2311400" indent="-254000"/>
            <a:lvl6pPr marL="2768600" indent="-254000"/>
            <a:lvl7pPr marL="3225800" indent="-254000"/>
            <a:lvl8pPr marL="3683000" indent="-254000"/>
            <a:lvl9pPr marL="4140200" indent="-254000"/>
          </a:lstStyle>
          <a:p>
            <a:pPr marL="342900" indent="-3429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3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text styles</a:t>
            </a:r>
            <a:endParaRPr lang="en-US" sz="3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742950" lvl="1" indent="-28575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Second level</a:t>
            </a:r>
            <a:endParaRPr lang="en-US" sz="28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Third level</a:t>
            </a:r>
            <a:endParaRPr lang="en-US" sz="2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0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Fourth level</a:t>
            </a:r>
            <a:endParaRPr lang="en-US" sz="20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20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Fifth level</a:t>
            </a:r>
            <a:endParaRPr lang="en-US" sz="20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AutoShape 4"/>
          <p:cNvSpPr/>
          <p:nvPr>
            <p:ph type="body" sz="quarter" idx="44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defRPr sz="14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l" defTabSz="457200">
              <a:lnSpc>
                <a:spcPct val="100000"/>
              </a:lnSpc>
              <a:spcBef>
                <a:spcPct val="20000"/>
              </a:spcBef>
            </a:pPr>
            <a:r>
              <a:rPr lang="en-US" sz="1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text styles</a:t>
            </a:r>
            <a:endParaRPr lang="en-US" sz="1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" name="AutoShape 5"/>
          <p:cNvSpPr/>
          <p:nvPr>
            <p:ph type="body" sz="quarter" idx="45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l"/>
          </a:p>
        </p:txBody>
      </p:sp>
      <p:sp>
        <p:nvSpPr>
          <p:cNvPr id="6" name="AutoShape 6"/>
          <p:cNvSpPr/>
          <p:nvPr>
            <p:ph type="body" sz="quarter" idx="46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" name="AutoShape 7"/>
          <p:cNvSpPr/>
          <p:nvPr>
            <p:ph type="body" sz="quarter" idx="47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r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48" hasCustomPrompt="1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rmAutofit/>
          </a:bodyPr>
          <a:lstStyle>
            <a:lvl1pPr algn="l" defTabSz="457200">
              <a:lnSpc>
                <a:spcPct val="100000"/>
              </a:lnSpc>
              <a:defRPr sz="2000" b="1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20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title style</a:t>
            </a:r>
            <a:endParaRPr lang="en-US" sz="2000" b="1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AutoShape 3"/>
          <p:cNvSpPr/>
          <p:nvPr>
            <p:ph type="pic" sz="quarter" idx="49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</a:p>
        </p:txBody>
      </p:sp>
      <p:sp>
        <p:nvSpPr>
          <p:cNvPr id="4" name="AutoShape 4"/>
          <p:cNvSpPr/>
          <p:nvPr>
            <p:ph type="body" sz="quarter" idx="50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defRPr sz="14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l" defTabSz="457200">
              <a:lnSpc>
                <a:spcPct val="100000"/>
              </a:lnSpc>
              <a:spcBef>
                <a:spcPct val="20000"/>
              </a:spcBef>
            </a:pPr>
            <a:r>
              <a:rPr lang="en-US" sz="1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text styles</a:t>
            </a:r>
            <a:endParaRPr lang="en-US" sz="1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" name="AutoShape 5"/>
          <p:cNvSpPr/>
          <p:nvPr>
            <p:ph type="body" sz="quarter" idx="5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l"/>
          </a:p>
        </p:txBody>
      </p:sp>
      <p:sp>
        <p:nvSpPr>
          <p:cNvPr id="6" name="AutoShape 6"/>
          <p:cNvSpPr/>
          <p:nvPr>
            <p:ph type="body" sz="quarter" idx="52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" name="AutoShape 7"/>
          <p:cNvSpPr/>
          <p:nvPr>
            <p:ph type="body" sz="quarter" idx="53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r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54" hasCustomPrompt="1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 defTabSz="457200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title style</a:t>
            </a:r>
            <a:endParaRPr lang="en-US" sz="4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AutoShape 3"/>
          <p:cNvSpPr/>
          <p:nvPr>
            <p:ph type="body" sz="quarter" idx="55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eaVert" wrap="square" lIns="91440" tIns="45720" rIns="91440" bIns="45720" anchor="t">
            <a:normAutofit/>
          </a:bodyPr>
          <a:lstStyle>
            <a:lvl1pPr marL="749300" indent="-406400" algn="l" defTabSz="457200">
              <a:lnSpc>
                <a:spcPct val="100000"/>
              </a:lnSpc>
              <a:defRPr sz="32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  <a:lvl2pPr marL="1098550" indent="-355600"/>
            <a:lvl3pPr marL="1447800" indent="-304800"/>
            <a:lvl4pPr marL="1854200" indent="-254000"/>
            <a:lvl5pPr marL="2311400" indent="-254000"/>
            <a:lvl6pPr marL="2768600" indent="-254000"/>
            <a:lvl7pPr marL="3225800" indent="-254000"/>
            <a:lvl8pPr marL="3683000" indent="-254000"/>
            <a:lvl9pPr marL="4140200" indent="-254000"/>
          </a:lstStyle>
          <a:p>
            <a:pPr marL="342900" indent="-3429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3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text styles</a:t>
            </a:r>
            <a:endParaRPr lang="en-US" sz="3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742950" lvl="1" indent="-28575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Second level</a:t>
            </a:r>
            <a:endParaRPr lang="en-US" sz="28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Third level</a:t>
            </a:r>
            <a:endParaRPr lang="en-US" sz="2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0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Fourth level</a:t>
            </a:r>
            <a:endParaRPr lang="en-US" sz="20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20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Fifth level</a:t>
            </a:r>
            <a:endParaRPr lang="en-US" sz="20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AutoShape 4"/>
          <p:cNvSpPr/>
          <p:nvPr>
            <p:ph type="body" sz="quarter" idx="56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l"/>
          </a:p>
        </p:txBody>
      </p:sp>
      <p:sp>
        <p:nvSpPr>
          <p:cNvPr id="5" name="AutoShape 5"/>
          <p:cNvSpPr/>
          <p:nvPr>
            <p:ph type="body" sz="quarter" idx="57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AutoShape 6"/>
          <p:cNvSpPr/>
          <p:nvPr>
            <p:ph type="body" sz="quarter" idx="58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r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59" hasCustomPrompt="1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eaVert" wrap="square" lIns="91440" tIns="45720" rIns="91440" bIns="45720" anchor="ctr">
            <a:normAutofit/>
          </a:bodyPr>
          <a:lstStyle>
            <a:lvl1pPr algn="ctr" defTabSz="457200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title style</a:t>
            </a:r>
            <a:endParaRPr lang="en-US" sz="4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AutoShape 3"/>
          <p:cNvSpPr/>
          <p:nvPr>
            <p:ph type="body" sz="quarter" idx="60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eaVert" wrap="square" lIns="91440" tIns="45720" rIns="91440" bIns="45720" anchor="t">
            <a:normAutofit/>
          </a:bodyPr>
          <a:lstStyle>
            <a:lvl1pPr marL="749300" indent="-406400" algn="l" defTabSz="457200">
              <a:lnSpc>
                <a:spcPct val="100000"/>
              </a:lnSpc>
              <a:defRPr sz="32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  <a:lvl2pPr marL="1098550" indent="-355600"/>
            <a:lvl3pPr marL="1447800" indent="-304800"/>
            <a:lvl4pPr marL="1854200" indent="-254000"/>
            <a:lvl5pPr marL="2311400" indent="-254000"/>
            <a:lvl6pPr marL="2768600" indent="-254000"/>
            <a:lvl7pPr marL="3225800" indent="-254000"/>
            <a:lvl8pPr marL="3683000" indent="-254000"/>
            <a:lvl9pPr marL="4140200" indent="-254000"/>
          </a:lstStyle>
          <a:p>
            <a:pPr marL="342900" indent="-3429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3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text styles</a:t>
            </a:r>
            <a:endParaRPr lang="en-US" sz="3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742950" lvl="1" indent="-28575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Second level</a:t>
            </a:r>
            <a:endParaRPr lang="en-US" sz="28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Third level</a:t>
            </a:r>
            <a:endParaRPr lang="en-US" sz="2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0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Fourth level</a:t>
            </a:r>
            <a:endParaRPr lang="en-US" sz="20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20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Fifth level</a:t>
            </a:r>
            <a:endParaRPr lang="en-US" sz="20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AutoShape 4"/>
          <p:cNvSpPr/>
          <p:nvPr>
            <p:ph type="body" sz="quarter" idx="6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l"/>
          </a:p>
        </p:txBody>
      </p:sp>
      <p:sp>
        <p:nvSpPr>
          <p:cNvPr id="5" name="AutoShape 5"/>
          <p:cNvSpPr/>
          <p:nvPr>
            <p:ph type="body" sz="quarter" idx="62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AutoShape 6"/>
          <p:cNvSpPr/>
          <p:nvPr>
            <p:ph type="body" sz="quarter" idx="63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r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11403" y="319088"/>
            <a:ext cx="10504646" cy="5429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9062880" cy="907132"/>
          </a:xfrm>
          <a:prstGeom prst="rect">
            <a:avLst/>
          </a:prstGeom>
          <a:gradFill flip="none" rotWithShape="1">
            <a:gsLst>
              <a:gs pos="46000">
                <a:srgbClr val="00B0F0"/>
              </a:gs>
              <a:gs pos="0">
                <a:srgbClr val="063197"/>
              </a:gs>
              <a:gs pos="81000">
                <a:srgbClr val="C5EDFC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5" name="Picture 11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21145" y="6523038"/>
            <a:ext cx="12217360" cy="37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4164" y="260648"/>
            <a:ext cx="8660537" cy="706090"/>
          </a:xfrm>
          <a:prstGeom prst="rect">
            <a:avLst/>
          </a:prstGeom>
        </p:spPr>
        <p:txBody>
          <a:bodyPr/>
          <a:lstStyle>
            <a:lvl1pPr algn="l">
              <a:defRPr sz="28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8" name="Picture 9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357485" y="154185"/>
            <a:ext cx="2684043" cy="671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5000174" y="5534025"/>
            <a:ext cx="1987066" cy="10747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11403" y="319088"/>
            <a:ext cx="10504646" cy="5429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9062880" cy="907132"/>
          </a:xfrm>
          <a:prstGeom prst="rect">
            <a:avLst/>
          </a:prstGeom>
          <a:gradFill flip="none" rotWithShape="1">
            <a:gsLst>
              <a:gs pos="46000">
                <a:srgbClr val="00B0F0"/>
              </a:gs>
              <a:gs pos="0">
                <a:srgbClr val="063197"/>
              </a:gs>
              <a:gs pos="81000">
                <a:srgbClr val="C5EDFC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5" name="Picture 11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21145" y="6523038"/>
            <a:ext cx="12217360" cy="37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4164" y="260648"/>
            <a:ext cx="8660537" cy="706090"/>
          </a:xfrm>
          <a:prstGeom prst="rect">
            <a:avLst/>
          </a:prstGeom>
        </p:spPr>
        <p:txBody>
          <a:bodyPr/>
          <a:lstStyle>
            <a:lvl1pPr algn="l">
              <a:defRPr sz="28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8" name="Picture 9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357485" y="154185"/>
            <a:ext cx="2684043" cy="671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5000174" y="5534025"/>
            <a:ext cx="1987066" cy="10747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11403" y="319088"/>
            <a:ext cx="10504646" cy="5429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  <p:transition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9062880" cy="907132"/>
          </a:xfrm>
          <a:prstGeom prst="rect">
            <a:avLst/>
          </a:prstGeom>
          <a:gradFill flip="none" rotWithShape="1">
            <a:gsLst>
              <a:gs pos="46000">
                <a:srgbClr val="00B0F0"/>
              </a:gs>
              <a:gs pos="0">
                <a:srgbClr val="063197"/>
              </a:gs>
              <a:gs pos="81000">
                <a:srgbClr val="C5EDFC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5" name="Picture 11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21145" y="6523038"/>
            <a:ext cx="12217360" cy="37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4164" y="260648"/>
            <a:ext cx="8660537" cy="706090"/>
          </a:xfrm>
          <a:prstGeom prst="rect">
            <a:avLst/>
          </a:prstGeom>
        </p:spPr>
        <p:txBody>
          <a:bodyPr/>
          <a:lstStyle>
            <a:lvl1pPr algn="l">
              <a:defRPr sz="28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8" name="Picture 9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357485" y="154185"/>
            <a:ext cx="2684043" cy="671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5000174" y="5534025"/>
            <a:ext cx="1987066" cy="10747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11403" y="319088"/>
            <a:ext cx="10504646" cy="5429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  <p:transition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9062880" cy="907132"/>
          </a:xfrm>
          <a:prstGeom prst="rect">
            <a:avLst/>
          </a:prstGeom>
          <a:gradFill flip="none" rotWithShape="1">
            <a:gsLst>
              <a:gs pos="46000">
                <a:srgbClr val="00B0F0"/>
              </a:gs>
              <a:gs pos="0">
                <a:srgbClr val="063197"/>
              </a:gs>
              <a:gs pos="81000">
                <a:srgbClr val="C5EDFC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5" name="Picture 11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21145" y="6523038"/>
            <a:ext cx="12217360" cy="37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4164" y="260648"/>
            <a:ext cx="8660537" cy="706090"/>
          </a:xfrm>
          <a:prstGeom prst="rect">
            <a:avLst/>
          </a:prstGeom>
        </p:spPr>
        <p:txBody>
          <a:bodyPr/>
          <a:lstStyle>
            <a:lvl1pPr algn="l">
              <a:defRPr sz="28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8" name="Picture 9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357485" y="154185"/>
            <a:ext cx="2684043" cy="671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5000174" y="5534025"/>
            <a:ext cx="1987066" cy="10747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11403" y="319088"/>
            <a:ext cx="10504646" cy="5429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  <p:transition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9062880" cy="907132"/>
          </a:xfrm>
          <a:prstGeom prst="rect">
            <a:avLst/>
          </a:prstGeom>
          <a:gradFill flip="none" rotWithShape="1">
            <a:gsLst>
              <a:gs pos="46000">
                <a:srgbClr val="00B0F0"/>
              </a:gs>
              <a:gs pos="0">
                <a:srgbClr val="063197"/>
              </a:gs>
              <a:gs pos="81000">
                <a:srgbClr val="C5EDFC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5" name="Picture 11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21145" y="6523038"/>
            <a:ext cx="12217360" cy="37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4164" y="260648"/>
            <a:ext cx="8660537" cy="706090"/>
          </a:xfrm>
          <a:prstGeom prst="rect">
            <a:avLst/>
          </a:prstGeom>
        </p:spPr>
        <p:txBody>
          <a:bodyPr/>
          <a:lstStyle>
            <a:lvl1pPr algn="l">
              <a:defRPr sz="28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8" name="Picture 9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357485" y="154185"/>
            <a:ext cx="2684043" cy="671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5000174" y="5534025"/>
            <a:ext cx="1987066" cy="10747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11403" y="319088"/>
            <a:ext cx="10504646" cy="542925"/>
          </a:xfrm>
        </p:spPr>
        <p:txBody>
          <a:bodyPr/>
          <a:lstStyle/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/>
      <p:sp>
        <p:nvSpPr>
          <p:cNvPr id="9" name="矩形 8"/>
          <p:cNvSpPr>
            <a:spLocks noGrp="1"/>
          </p:cNvSpPr>
          <p:nvPr/>
        </p:nvSpPr>
        <p:spPr>
          <a:xfrm>
            <a:off x="0" y="0"/>
            <a:ext cx="9062880" cy="907132"/>
          </a:xfrm>
          <a:prstGeom prst="rect">
            <a:avLst/>
          </a:prstGeom>
          <a:gradFill rotWithShape="1">
            <a:gsLst>
              <a:gs pos="46000">
                <a:srgbClr val="00B0F0"/>
              </a:gs>
              <a:gs pos="0">
                <a:srgbClr val="063197"/>
              </a:gs>
              <a:gs pos="81000">
                <a:srgbClr val="C5EDFC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>
              <a:solidFill>
                <a:srgbClr val="FFFFFF"/>
              </a:solidFill>
              <a:sym typeface="+mn-ea"/>
            </a:endParaRPr>
          </a:p>
        </p:txBody>
      </p:sp>
      <p:pic>
        <p:nvPicPr>
          <p:cNvPr id="13" name="Picture 11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21145" y="6523038"/>
            <a:ext cx="12217360" cy="371475"/>
          </a:xfrm>
          <a:prstGeom prst="rect">
            <a:avLst/>
          </a:prstGeom>
          <a:ln w="9525">
            <a:noFill/>
            <a:miter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4164" y="260648"/>
            <a:ext cx="8660537" cy="706090"/>
          </a:xfrm>
          <a:prstGeom prst="rect">
            <a:avLst/>
          </a:prstGeom>
        </p:spPr>
        <p:txBody>
          <a:bodyPr/>
          <a:lstStyle>
            <a:lvl1pPr algn="l">
              <a:buNone/>
              <a:defRPr sz="28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t>单击此处编辑母版标题样式</a:t>
            </a:r>
          </a:p>
        </p:txBody>
      </p:sp>
      <p:pic>
        <p:nvPicPr>
          <p:cNvPr id="15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7485" y="154185"/>
            <a:ext cx="2684043" cy="671710"/>
          </a:xfrm>
          <a:prstGeom prst="rect">
            <a:avLst/>
          </a:prstGeom>
          <a:ln w="9525">
            <a:noFill/>
            <a:miter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矩形 2"/>
          <p:cNvSpPr>
            <a:spLocks noGrp="1"/>
          </p:cNvSpPr>
          <p:nvPr/>
        </p:nvSpPr>
        <p:spPr>
          <a:xfrm>
            <a:off x="5000174" y="5534025"/>
            <a:ext cx="1987066" cy="10747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chemeClr val="lt1"/>
              </a:solidFill>
              <a:latin typeface="+mn-lt"/>
              <a:ea typeface="+mn-lt"/>
              <a:cs typeface="+mn-lt"/>
              <a:sym typeface="+mn-ea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7" Type="http://schemas.openxmlformats.org/officeDocument/2006/relationships/theme" Target="../theme/theme2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5.xml"/><Relationship Id="rId8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3" Type="http://schemas.openxmlformats.org/officeDocument/2006/relationships/theme" Target="../theme/theme3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6.xml"/><Relationship Id="rId1" Type="http://schemas.openxmlformats.org/officeDocument/2006/relationships/slideLayout" Target="../slideLayouts/slideLayout17.xml"/></Relationships>
</file>

<file path=ppt/slideMasters/_rels/slideMaster4.xml.rels><?xml version="1.0" encoding="UTF-8" standalone="yes"?>
<Relationships xmlns="http://schemas.openxmlformats.org/package/2006/relationships"><Relationship Id="rId6" Type="http://schemas.openxmlformats.org/officeDocument/2006/relationships/theme" Target="../theme/theme4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31.xml"/><Relationship Id="rId3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/Relationships>
</file>

<file path=ppt/slideMasters/_rels/slideMaster5.xml.rels><?xml version="1.0" encoding="UTF-8" standalone="yes"?>
<Relationships xmlns="http://schemas.openxmlformats.org/package/2006/relationships"><Relationship Id="rId6" Type="http://schemas.openxmlformats.org/officeDocument/2006/relationships/theme" Target="../theme/theme5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4.xml"/><Relationship Id="rId2" Type="http://schemas.openxmlformats.org/officeDocument/2006/relationships/slideLayout" Target="../slideLayouts/slideLayout33.xml"/><Relationship Id="rId1" Type="http://schemas.openxmlformats.org/officeDocument/2006/relationships/slideLayout" Target="../slideLayouts/slideLayout32.xml"/></Relationships>
</file>

<file path=ppt/slideMasters/_rels/slideMaster6.xml.rels><?xml version="1.0" encoding="UTF-8" standalone="yes"?>
<Relationships xmlns="http://schemas.openxmlformats.org/package/2006/relationships"><Relationship Id="rId6" Type="http://schemas.openxmlformats.org/officeDocument/2006/relationships/theme" Target="../theme/theme6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8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/Relationships>
</file>

<file path=ppt/slideMasters/_rels/slideMaster7.xml.rels><?xml version="1.0" encoding="UTF-8" standalone="yes"?>
<Relationships xmlns="http://schemas.openxmlformats.org/package/2006/relationships"><Relationship Id="rId6" Type="http://schemas.openxmlformats.org/officeDocument/2006/relationships/theme" Target="../theme/theme7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43.xml"/><Relationship Id="rId3" Type="http://schemas.openxmlformats.org/officeDocument/2006/relationships/slideLayout" Target="../slideLayouts/slideLayout42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/Relationships>
</file>

<file path=ppt/slideMasters/_rels/slideMaster8.xml.rels><?xml version="1.0" encoding="UTF-8" standalone="yes"?>
<Relationships xmlns="http://schemas.openxmlformats.org/package/2006/relationships"><Relationship Id="rId6" Type="http://schemas.openxmlformats.org/officeDocument/2006/relationships/theme" Target="../theme/theme8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47.xml"/><Relationship Id="rId3" Type="http://schemas.openxmlformats.org/officeDocument/2006/relationships/slideLayout" Target="../slideLayouts/slideLayout46.xml"/><Relationship Id="rId2" Type="http://schemas.openxmlformats.org/officeDocument/2006/relationships/slideLayout" Target="../slideLayouts/slideLayout45.xml"/><Relationship Id="rId1" Type="http://schemas.openxmlformats.org/officeDocument/2006/relationships/slideLayout" Target="../slideLayouts/slideLayout44.xml"/></Relationships>
</file>

<file path=ppt/slideMasters/_rels/slideMaster9.xml.rels><?xml version="1.0" encoding="UTF-8" standalone="yes"?>
<Relationships xmlns="http://schemas.openxmlformats.org/package/2006/relationships"><Relationship Id="rId6" Type="http://schemas.openxmlformats.org/officeDocument/2006/relationships/theme" Target="../theme/theme9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51.xml"/><Relationship Id="rId3" Type="http://schemas.openxmlformats.org/officeDocument/2006/relationships/slideLayout" Target="../slideLayouts/slideLayout50.xml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  <p:pic>
        <p:nvPicPr>
          <p:cNvPr id="1" name="Picture 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06417" y="5029200"/>
            <a:ext cx="2286000" cy="137160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" name="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6417" y="5029200"/>
            <a:ext cx="2286000" cy="137160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AutoShape 1"/>
          <p:cNvSpPr/>
          <p:nvPr>
            <p:ph type="body" sz="quarter" idx="1" hasCustomPrompt="1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ctr" defTabSz="457200">
              <a:lnSpc>
                <a:spcPct val="100000"/>
              </a:lnSpc>
              <a:defRPr sz="4400" b="1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44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title style</a:t>
            </a:r>
            <a:endParaRPr lang="en-US" sz="4400" b="1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" name="AutoShape 2"/>
          <p:cNvSpPr/>
          <p:nvPr>
            <p:ph type="body" sz="quarter" idx="2" hasCustomPrompt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rmAutofit/>
          </a:bodyPr>
          <a:lstStyle>
            <a:lvl1pPr marL="749300" indent="-406400" algn="l" defTabSz="457200">
              <a:lnSpc>
                <a:spcPct val="100000"/>
              </a:lnSpc>
              <a:defRPr sz="32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  <a:lvl2pPr marL="1098550" indent="-355600"/>
            <a:lvl3pPr marL="1447800" indent="-304800"/>
            <a:lvl4pPr marL="1854200" indent="-254000"/>
            <a:lvl5pPr marL="2311400" indent="-254000"/>
            <a:lvl6pPr marL="2768600" indent="-254000"/>
            <a:lvl7pPr marL="3225800" indent="-254000"/>
            <a:lvl8pPr marL="3683000" indent="-254000"/>
            <a:lvl9pPr marL="4140200" indent="-254000"/>
          </a:lstStyle>
          <a:p>
            <a:pPr marL="342900" indent="-3429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3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text styles</a:t>
            </a:r>
            <a:endParaRPr lang="en-US" sz="3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742950" lvl="1" indent="-28575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Second level</a:t>
            </a:r>
            <a:endParaRPr lang="en-US" sz="28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Third level</a:t>
            </a:r>
            <a:endParaRPr lang="en-US" sz="2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0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Fourth level</a:t>
            </a:r>
            <a:endParaRPr lang="en-US" sz="20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20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Fifth level</a:t>
            </a:r>
            <a:endParaRPr lang="en-US" sz="20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AutoShape 3"/>
          <p:cNvSpPr/>
          <p:nvPr>
            <p:ph type="body" sz="quarter" idx="3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l"/>
          </a:p>
        </p:txBody>
      </p:sp>
      <p:sp>
        <p:nvSpPr>
          <p:cNvPr id="4" name="AutoShape 4"/>
          <p:cNvSpPr/>
          <p:nvPr>
            <p:ph type="body" sz="quarter" idx="4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AutoShape 6"/>
          <p:cNvSpPr/>
          <p:nvPr>
            <p:ph type="body" sz="quarter" idx="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r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06417" y="5029200"/>
            <a:ext cx="2286000" cy="137160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6417" y="5029200"/>
            <a:ext cx="2286000" cy="137160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6417" y="5029200"/>
            <a:ext cx="2286000" cy="137160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6417" y="5029200"/>
            <a:ext cx="2286000" cy="137160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6417" y="5029200"/>
            <a:ext cx="2286000" cy="137160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6417" y="5029200"/>
            <a:ext cx="2286000" cy="137160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6417" y="5029200"/>
            <a:ext cx="2286000" cy="137160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40.xml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5" Type="http://schemas.openxmlformats.org/officeDocument/2006/relationships/notesSlide" Target="../notesSlides/notesSlide3.xml"/><Relationship Id="rId44" Type="http://schemas.openxmlformats.org/officeDocument/2006/relationships/slideLayout" Target="../slideLayouts/slideLayout32.xml"/><Relationship Id="rId43" Type="http://schemas.openxmlformats.org/officeDocument/2006/relationships/tags" Target="../tags/tag42.xml"/><Relationship Id="rId42" Type="http://schemas.openxmlformats.org/officeDocument/2006/relationships/tags" Target="../tags/tag41.xml"/><Relationship Id="rId41" Type="http://schemas.openxmlformats.org/officeDocument/2006/relationships/tags" Target="../tags/tag40.xml"/><Relationship Id="rId40" Type="http://schemas.openxmlformats.org/officeDocument/2006/relationships/tags" Target="../tags/tag39.xml"/><Relationship Id="rId4" Type="http://schemas.openxmlformats.org/officeDocument/2006/relationships/tags" Target="../tags/tag3.xml"/><Relationship Id="rId39" Type="http://schemas.openxmlformats.org/officeDocument/2006/relationships/tags" Target="../tags/tag38.xml"/><Relationship Id="rId38" Type="http://schemas.openxmlformats.org/officeDocument/2006/relationships/tags" Target="../tags/tag37.xml"/><Relationship Id="rId37" Type="http://schemas.openxmlformats.org/officeDocument/2006/relationships/tags" Target="../tags/tag36.xml"/><Relationship Id="rId36" Type="http://schemas.openxmlformats.org/officeDocument/2006/relationships/tags" Target="../tags/tag35.xml"/><Relationship Id="rId35" Type="http://schemas.openxmlformats.org/officeDocument/2006/relationships/tags" Target="../tags/tag34.xml"/><Relationship Id="rId34" Type="http://schemas.openxmlformats.org/officeDocument/2006/relationships/tags" Target="../tags/tag33.xml"/><Relationship Id="rId33" Type="http://schemas.openxmlformats.org/officeDocument/2006/relationships/tags" Target="../tags/tag32.xml"/><Relationship Id="rId32" Type="http://schemas.openxmlformats.org/officeDocument/2006/relationships/tags" Target="../tags/tag31.xml"/><Relationship Id="rId31" Type="http://schemas.openxmlformats.org/officeDocument/2006/relationships/tags" Target="../tags/tag30.xml"/><Relationship Id="rId30" Type="http://schemas.openxmlformats.org/officeDocument/2006/relationships/tags" Target="../tags/tag29.xml"/><Relationship Id="rId3" Type="http://schemas.openxmlformats.org/officeDocument/2006/relationships/tags" Target="../tags/tag2.xml"/><Relationship Id="rId29" Type="http://schemas.openxmlformats.org/officeDocument/2006/relationships/tags" Target="../tags/tag28.xml"/><Relationship Id="rId28" Type="http://schemas.openxmlformats.org/officeDocument/2006/relationships/tags" Target="../tags/tag27.xml"/><Relationship Id="rId27" Type="http://schemas.openxmlformats.org/officeDocument/2006/relationships/tags" Target="../tags/tag26.xml"/><Relationship Id="rId26" Type="http://schemas.openxmlformats.org/officeDocument/2006/relationships/tags" Target="../tags/tag25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51.xml"/><Relationship Id="rId8" Type="http://schemas.openxmlformats.org/officeDocument/2006/relationships/tags" Target="../tags/tag50.xml"/><Relationship Id="rId7" Type="http://schemas.openxmlformats.org/officeDocument/2006/relationships/tags" Target="../tags/tag49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5" Type="http://schemas.openxmlformats.org/officeDocument/2006/relationships/notesSlide" Target="../notesSlides/notesSlide4.xml"/><Relationship Id="rId14" Type="http://schemas.openxmlformats.org/officeDocument/2006/relationships/slideLayout" Target="../slideLayouts/slideLayout36.xml"/><Relationship Id="rId13" Type="http://schemas.openxmlformats.org/officeDocument/2006/relationships/image" Target="../media/image5.png"/><Relationship Id="rId12" Type="http://schemas.openxmlformats.org/officeDocument/2006/relationships/tags" Target="../tags/tag54.xml"/><Relationship Id="rId11" Type="http://schemas.openxmlformats.org/officeDocument/2006/relationships/tags" Target="../tags/tag53.xml"/><Relationship Id="rId10" Type="http://schemas.openxmlformats.org/officeDocument/2006/relationships/tags" Target="../tags/tag52.xml"/><Relationship Id="rId1" Type="http://schemas.openxmlformats.org/officeDocument/2006/relationships/tags" Target="../tags/tag43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62.xml"/><Relationship Id="rId8" Type="http://schemas.openxmlformats.org/officeDocument/2006/relationships/tags" Target="../tags/tag61.xml"/><Relationship Id="rId7" Type="http://schemas.openxmlformats.org/officeDocument/2006/relationships/tags" Target="../tags/tag60.xml"/><Relationship Id="rId6" Type="http://schemas.openxmlformats.org/officeDocument/2006/relationships/tags" Target="../tags/tag59.xml"/><Relationship Id="rId5" Type="http://schemas.openxmlformats.org/officeDocument/2006/relationships/tags" Target="../tags/tag58.xml"/><Relationship Id="rId4" Type="http://schemas.openxmlformats.org/officeDocument/2006/relationships/tags" Target="../tags/tag57.xml"/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2" Type="http://schemas.openxmlformats.org/officeDocument/2006/relationships/notesSlide" Target="../notesSlides/notesSlide5.xml"/><Relationship Id="rId11" Type="http://schemas.openxmlformats.org/officeDocument/2006/relationships/slideLayout" Target="../slideLayouts/slideLayout28.xml"/><Relationship Id="rId10" Type="http://schemas.openxmlformats.org/officeDocument/2006/relationships/tags" Target="../tags/tag63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71.xml"/><Relationship Id="rId8" Type="http://schemas.openxmlformats.org/officeDocument/2006/relationships/tags" Target="../tags/tag70.xml"/><Relationship Id="rId7" Type="http://schemas.openxmlformats.org/officeDocument/2006/relationships/tags" Target="../tags/tag69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1" Type="http://schemas.openxmlformats.org/officeDocument/2006/relationships/notesSlide" Target="../notesSlides/notesSlide9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79.xml"/><Relationship Id="rId8" Type="http://schemas.openxmlformats.org/officeDocument/2006/relationships/tags" Target="../tags/tag78.xml"/><Relationship Id="rId7" Type="http://schemas.openxmlformats.org/officeDocument/2006/relationships/tags" Target="../tags/tag77.xml"/><Relationship Id="rId6" Type="http://schemas.openxmlformats.org/officeDocument/2006/relationships/tags" Target="../tags/tag76.xml"/><Relationship Id="rId5" Type="http://schemas.openxmlformats.org/officeDocument/2006/relationships/tags" Target="../tags/tag75.xml"/><Relationship Id="rId4" Type="http://schemas.openxmlformats.org/officeDocument/2006/relationships/tags" Target="../tags/tag74.xml"/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5" Type="http://schemas.openxmlformats.org/officeDocument/2006/relationships/notesSlide" Target="../notesSlides/notesSlide10.xml"/><Relationship Id="rId14" Type="http://schemas.openxmlformats.org/officeDocument/2006/relationships/slideLayout" Target="../slideLayouts/slideLayout12.xml"/><Relationship Id="rId13" Type="http://schemas.openxmlformats.org/officeDocument/2006/relationships/tags" Target="../tags/tag83.xml"/><Relationship Id="rId12" Type="http://schemas.openxmlformats.org/officeDocument/2006/relationships/tags" Target="../tags/tag82.xml"/><Relationship Id="rId11" Type="http://schemas.openxmlformats.org/officeDocument/2006/relationships/tags" Target="../tags/tag81.xml"/><Relationship Id="rId10" Type="http://schemas.openxmlformats.org/officeDocument/2006/relationships/tags" Target="../tags/tag80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1" Type="http://schemas.openxmlformats.org/officeDocument/2006/relationships/notesSlide" Target="../notesSlides/notesSlide12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99.xml"/><Relationship Id="rId8" Type="http://schemas.openxmlformats.org/officeDocument/2006/relationships/tags" Target="../tags/tag98.xml"/><Relationship Id="rId7" Type="http://schemas.openxmlformats.org/officeDocument/2006/relationships/tags" Target="../tags/tag97.xml"/><Relationship Id="rId6" Type="http://schemas.openxmlformats.org/officeDocument/2006/relationships/tags" Target="../tags/tag96.xml"/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5" Type="http://schemas.openxmlformats.org/officeDocument/2006/relationships/notesSlide" Target="../notesSlides/notesSlide13.xml"/><Relationship Id="rId14" Type="http://schemas.openxmlformats.org/officeDocument/2006/relationships/slideLayout" Target="../slideLayouts/slideLayout12.xml"/><Relationship Id="rId13" Type="http://schemas.openxmlformats.org/officeDocument/2006/relationships/tags" Target="../tags/tag103.xml"/><Relationship Id="rId12" Type="http://schemas.openxmlformats.org/officeDocument/2006/relationships/tags" Target="../tags/tag102.xml"/><Relationship Id="rId11" Type="http://schemas.openxmlformats.org/officeDocument/2006/relationships/tags" Target="../tags/tag101.xml"/><Relationship Id="rId10" Type="http://schemas.openxmlformats.org/officeDocument/2006/relationships/tags" Target="../tags/tag100.xml"/><Relationship Id="rId1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111.xml"/><Relationship Id="rId8" Type="http://schemas.openxmlformats.org/officeDocument/2006/relationships/tags" Target="../tags/tag110.xml"/><Relationship Id="rId7" Type="http://schemas.openxmlformats.org/officeDocument/2006/relationships/tags" Target="../tags/tag109.xml"/><Relationship Id="rId6" Type="http://schemas.openxmlformats.org/officeDocument/2006/relationships/tags" Target="../tags/tag108.xml"/><Relationship Id="rId5" Type="http://schemas.openxmlformats.org/officeDocument/2006/relationships/tags" Target="../tags/tag107.xml"/><Relationship Id="rId4" Type="http://schemas.openxmlformats.org/officeDocument/2006/relationships/tags" Target="../tags/tag106.xml"/><Relationship Id="rId3" Type="http://schemas.openxmlformats.org/officeDocument/2006/relationships/tags" Target="../tags/tag105.xml"/><Relationship Id="rId27" Type="http://schemas.openxmlformats.org/officeDocument/2006/relationships/notesSlide" Target="../notesSlides/notesSlide15.xml"/><Relationship Id="rId26" Type="http://schemas.openxmlformats.org/officeDocument/2006/relationships/slideLayout" Target="../slideLayouts/slideLayout12.xml"/><Relationship Id="rId25" Type="http://schemas.openxmlformats.org/officeDocument/2006/relationships/tags" Target="../tags/tag127.xml"/><Relationship Id="rId24" Type="http://schemas.openxmlformats.org/officeDocument/2006/relationships/tags" Target="../tags/tag126.xml"/><Relationship Id="rId23" Type="http://schemas.openxmlformats.org/officeDocument/2006/relationships/tags" Target="../tags/tag125.xml"/><Relationship Id="rId22" Type="http://schemas.openxmlformats.org/officeDocument/2006/relationships/tags" Target="../tags/tag124.xml"/><Relationship Id="rId21" Type="http://schemas.openxmlformats.org/officeDocument/2006/relationships/tags" Target="../tags/tag123.xml"/><Relationship Id="rId20" Type="http://schemas.openxmlformats.org/officeDocument/2006/relationships/tags" Target="../tags/tag122.xml"/><Relationship Id="rId2" Type="http://schemas.openxmlformats.org/officeDocument/2006/relationships/tags" Target="../tags/tag104.xml"/><Relationship Id="rId19" Type="http://schemas.openxmlformats.org/officeDocument/2006/relationships/tags" Target="../tags/tag121.xml"/><Relationship Id="rId18" Type="http://schemas.openxmlformats.org/officeDocument/2006/relationships/tags" Target="../tags/tag120.xml"/><Relationship Id="rId17" Type="http://schemas.openxmlformats.org/officeDocument/2006/relationships/tags" Target="../tags/tag119.xml"/><Relationship Id="rId16" Type="http://schemas.openxmlformats.org/officeDocument/2006/relationships/tags" Target="../tags/tag118.xml"/><Relationship Id="rId15" Type="http://schemas.openxmlformats.org/officeDocument/2006/relationships/tags" Target="../tags/tag117.xml"/><Relationship Id="rId14" Type="http://schemas.openxmlformats.org/officeDocument/2006/relationships/tags" Target="../tags/tag116.xml"/><Relationship Id="rId13" Type="http://schemas.openxmlformats.org/officeDocument/2006/relationships/tags" Target="../tags/tag115.xml"/><Relationship Id="rId12" Type="http://schemas.openxmlformats.org/officeDocument/2006/relationships/tags" Target="../tags/tag114.xml"/><Relationship Id="rId11" Type="http://schemas.openxmlformats.org/officeDocument/2006/relationships/tags" Target="../tags/tag113.xml"/><Relationship Id="rId10" Type="http://schemas.openxmlformats.org/officeDocument/2006/relationships/tags" Target="../tags/tag112.xml"/><Relationship Id="rId1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135.xml"/><Relationship Id="rId8" Type="http://schemas.openxmlformats.org/officeDocument/2006/relationships/tags" Target="../tags/tag134.xml"/><Relationship Id="rId7" Type="http://schemas.openxmlformats.org/officeDocument/2006/relationships/tags" Target="../tags/tag133.xml"/><Relationship Id="rId6" Type="http://schemas.openxmlformats.org/officeDocument/2006/relationships/tags" Target="../tags/tag132.xml"/><Relationship Id="rId5" Type="http://schemas.openxmlformats.org/officeDocument/2006/relationships/tags" Target="../tags/tag131.xml"/><Relationship Id="rId4" Type="http://schemas.openxmlformats.org/officeDocument/2006/relationships/tags" Target="../tags/tag130.xml"/><Relationship Id="rId3" Type="http://schemas.openxmlformats.org/officeDocument/2006/relationships/tags" Target="../tags/tag129.xml"/><Relationship Id="rId2" Type="http://schemas.openxmlformats.org/officeDocument/2006/relationships/tags" Target="../tags/tag128.xml"/><Relationship Id="rId15" Type="http://schemas.openxmlformats.org/officeDocument/2006/relationships/notesSlide" Target="../notesSlides/notesSlide16.xml"/><Relationship Id="rId14" Type="http://schemas.openxmlformats.org/officeDocument/2006/relationships/slideLayout" Target="../slideLayouts/slideLayout12.xml"/><Relationship Id="rId13" Type="http://schemas.openxmlformats.org/officeDocument/2006/relationships/tags" Target="../tags/tag139.xml"/><Relationship Id="rId12" Type="http://schemas.openxmlformats.org/officeDocument/2006/relationships/tags" Target="../tags/tag138.xml"/><Relationship Id="rId11" Type="http://schemas.openxmlformats.org/officeDocument/2006/relationships/tags" Target="../tags/tag137.xml"/><Relationship Id="rId10" Type="http://schemas.openxmlformats.org/officeDocument/2006/relationships/tags" Target="../tags/tag136.xml"/><Relationship Id="rId1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40.xml"/><Relationship Id="rId1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148.xml"/><Relationship Id="rId8" Type="http://schemas.openxmlformats.org/officeDocument/2006/relationships/tags" Target="../tags/tag147.xml"/><Relationship Id="rId7" Type="http://schemas.openxmlformats.org/officeDocument/2006/relationships/tags" Target="../tags/tag146.xml"/><Relationship Id="rId6" Type="http://schemas.openxmlformats.org/officeDocument/2006/relationships/tags" Target="../tags/tag145.xml"/><Relationship Id="rId5" Type="http://schemas.openxmlformats.org/officeDocument/2006/relationships/tags" Target="../tags/tag144.xml"/><Relationship Id="rId4" Type="http://schemas.openxmlformats.org/officeDocument/2006/relationships/tags" Target="../tags/tag143.xml"/><Relationship Id="rId3" Type="http://schemas.openxmlformats.org/officeDocument/2006/relationships/tags" Target="../tags/tag142.xml"/><Relationship Id="rId2" Type="http://schemas.openxmlformats.org/officeDocument/2006/relationships/tags" Target="../tags/tag141.xml"/><Relationship Id="rId11" Type="http://schemas.openxmlformats.org/officeDocument/2006/relationships/notesSlide" Target="../notesSlides/notesSlide18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44.xml"/><Relationship Id="rId1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tags" Target="../tags/tag156.xml"/><Relationship Id="rId8" Type="http://schemas.openxmlformats.org/officeDocument/2006/relationships/tags" Target="../tags/tag155.xml"/><Relationship Id="rId7" Type="http://schemas.openxmlformats.org/officeDocument/2006/relationships/tags" Target="../tags/tag154.xml"/><Relationship Id="rId6" Type="http://schemas.openxmlformats.org/officeDocument/2006/relationships/tags" Target="../tags/tag153.xml"/><Relationship Id="rId5" Type="http://schemas.openxmlformats.org/officeDocument/2006/relationships/tags" Target="../tags/tag152.xml"/><Relationship Id="rId4" Type="http://schemas.openxmlformats.org/officeDocument/2006/relationships/tags" Target="../tags/tag151.xml"/><Relationship Id="rId3" Type="http://schemas.openxmlformats.org/officeDocument/2006/relationships/tags" Target="../tags/tag150.xml"/><Relationship Id="rId23" Type="http://schemas.openxmlformats.org/officeDocument/2006/relationships/notesSlide" Target="../notesSlides/notesSlide27.xml"/><Relationship Id="rId22" Type="http://schemas.openxmlformats.org/officeDocument/2006/relationships/slideLayout" Target="../slideLayouts/slideLayout48.xml"/><Relationship Id="rId21" Type="http://schemas.openxmlformats.org/officeDocument/2006/relationships/tags" Target="../tags/tag168.xml"/><Relationship Id="rId20" Type="http://schemas.openxmlformats.org/officeDocument/2006/relationships/tags" Target="../tags/tag167.xml"/><Relationship Id="rId2" Type="http://schemas.openxmlformats.org/officeDocument/2006/relationships/tags" Target="../tags/tag149.xml"/><Relationship Id="rId19" Type="http://schemas.openxmlformats.org/officeDocument/2006/relationships/tags" Target="../tags/tag166.xml"/><Relationship Id="rId18" Type="http://schemas.openxmlformats.org/officeDocument/2006/relationships/tags" Target="../tags/tag165.xml"/><Relationship Id="rId17" Type="http://schemas.openxmlformats.org/officeDocument/2006/relationships/tags" Target="../tags/tag164.xml"/><Relationship Id="rId16" Type="http://schemas.openxmlformats.org/officeDocument/2006/relationships/tags" Target="../tags/tag163.xml"/><Relationship Id="rId15" Type="http://schemas.openxmlformats.org/officeDocument/2006/relationships/tags" Target="../tags/tag162.xml"/><Relationship Id="rId14" Type="http://schemas.openxmlformats.org/officeDocument/2006/relationships/tags" Target="../tags/tag161.xml"/><Relationship Id="rId13" Type="http://schemas.openxmlformats.org/officeDocument/2006/relationships/tags" Target="../tags/tag160.xml"/><Relationship Id="rId12" Type="http://schemas.openxmlformats.org/officeDocument/2006/relationships/tags" Target="../tags/tag159.xml"/><Relationship Id="rId11" Type="http://schemas.openxmlformats.org/officeDocument/2006/relationships/tags" Target="../tags/tag158.xml"/><Relationship Id="rId10" Type="http://schemas.openxmlformats.org/officeDocument/2006/relationships/tags" Target="../tags/tag157.xml"/><Relationship Id="rId1" Type="http://schemas.openxmlformats.org/officeDocument/2006/relationships/image" Target="../media/image5.pn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8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1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1945640" y="3149600"/>
            <a:ext cx="8890000" cy="635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3000" b="1" i="0" u="none" strike="noStrike">
                <a:solidFill>
                  <a:srgbClr val="E24D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绩效型薪酬管理</a:t>
            </a:r>
            <a:r>
              <a:rPr lang="en-US" altLang="zh-CN" sz="3000" b="1" i="0" u="none" strike="noStrike">
                <a:solidFill>
                  <a:srgbClr val="E24D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—— </a:t>
            </a:r>
            <a:r>
              <a:rPr lang="zh-CN" altLang="en-US" sz="3000" b="1" i="0" u="none" strike="noStrike">
                <a:solidFill>
                  <a:srgbClr val="E24D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绩效驱动</a:t>
            </a:r>
            <a:r>
              <a:rPr lang="en-US" altLang="zh-CN" sz="3000" b="1" i="0" u="none" strike="noStrike">
                <a:solidFill>
                  <a:srgbClr val="E24D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· </a:t>
            </a:r>
            <a:r>
              <a:rPr lang="zh-CN" altLang="en-US" sz="3000" b="1" i="0" u="none" strike="noStrike">
                <a:solidFill>
                  <a:srgbClr val="E24D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价值共享</a:t>
            </a:r>
            <a:r>
              <a:rPr lang="en-US" sz="3000" b="1" i="0" u="none" strike="noStrike">
                <a:solidFill>
                  <a:srgbClr val="E24D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endParaRPr lang="en-US" sz="3000" b="1" i="0" u="none" strike="noStrike">
              <a:solidFill>
                <a:srgbClr val="E24D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1945640" y="4105910"/>
            <a:ext cx="7620000" cy="3556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600" b="0" i="0" u="none" strike="noStrike" spc="200">
                <a:solidFill>
                  <a:srgbClr val="E24D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绩效型薪酬体系</a:t>
            </a:r>
            <a:r>
              <a:rPr lang="en-US" sz="1600" b="0" i="0" u="none" strike="noStrike" spc="200">
                <a:solidFill>
                  <a:srgbClr val="E24D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· </a:t>
            </a:r>
            <a:r>
              <a:rPr lang="zh-CN" altLang="en-US" sz="1600" b="0" i="0" u="none" strike="noStrike" spc="200">
                <a:solidFill>
                  <a:srgbClr val="E24D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绩效管理总则</a:t>
            </a:r>
            <a:r>
              <a:rPr lang="en-US" sz="1600" b="0" i="0" u="none" strike="noStrike" spc="200">
                <a:solidFill>
                  <a:srgbClr val="E24D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· </a:t>
            </a:r>
            <a:r>
              <a:rPr lang="zh-CN" altLang="en-US" sz="1600" b="0" i="0" u="none" strike="noStrike" spc="200">
                <a:solidFill>
                  <a:srgbClr val="E24D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战略目标分解及个人指标设定</a:t>
            </a:r>
            <a:endParaRPr lang="zh-CN" altLang="en-US" sz="1600" b="0" i="0" u="none" strike="noStrike" spc="200">
              <a:solidFill>
                <a:srgbClr val="E24D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8512810" y="5689600"/>
            <a:ext cx="3114040" cy="519430"/>
          </a:xfrm>
          <a:prstGeom prst="roundRect">
            <a:avLst>
              <a:gd name="adj" fmla="val 10000"/>
            </a:avLst>
          </a:prstGeom>
          <a:solidFill>
            <a:srgbClr val="F6410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人力资源部 Judy   2026.10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E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 l="59" r="59"/>
          <a:stretch>
            <a:fillRect/>
          </a:stretch>
        </p:blipFill>
        <p:spPr>
          <a:xfrm>
            <a:off x="10896600" y="228600"/>
            <a:ext cx="1016000" cy="850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Rectangle 2"/>
          <p:cNvSpPr/>
          <p:nvPr/>
        </p:nvSpPr>
        <p:spPr>
          <a:xfrm>
            <a:off x="612648" y="530352"/>
            <a:ext cx="73152" cy="658368"/>
          </a:xfrm>
          <a:prstGeom prst="rect">
            <a:avLst/>
          </a:prstGeom>
          <a:solidFill>
            <a:srgbClr val="E24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41248" y="484632"/>
            <a:ext cx="731520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Arial" panose="020B0604020202020204"/>
              </a:defRPr>
            </a:pPr>
            <a:r>
              <a:rPr b="1">
                <a:solidFill>
                  <a:srgbClr val="E859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LOGIC · 底层逻辑</a:t>
            </a:r>
            <a:endParaRPr b="1">
              <a:solidFill>
                <a:srgbClr val="E8590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Box 4"/>
          <p:cNvSpPr txBox="1"/>
          <p:nvPr/>
        </p:nvSpPr>
        <p:spPr>
          <a:xfrm>
            <a:off x="841248" y="713232"/>
            <a:ext cx="9144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薪酬绩效背后的管理与激励逻辑</a:t>
            </a:r>
            <a:endParaRPr>
              <a:ea typeface="微软雅黑" panose="020B0503020204020204" charset="-122"/>
            </a:endParaRPr>
          </a:p>
        </p:txBody>
      </p:sp>
      <p:sp>
        <p:nvSpPr>
          <p:cNvPr id="24" name="TextBox 5"/>
          <p:cNvSpPr txBox="1"/>
          <p:nvPr/>
        </p:nvSpPr>
        <p:spPr>
          <a:xfrm>
            <a:off x="841248" y="13258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通过薪酬绩效制度及管理方式，促进组织目标达成及员工发展，给予相应激励，提升人效。</a:t>
            </a:r>
            <a:endParaRPr>
              <a:ea typeface="微软雅黑" panose="020B0503020204020204" charset="-122"/>
            </a:endParaRPr>
          </a:p>
        </p:txBody>
      </p:sp>
      <p:sp>
        <p:nvSpPr>
          <p:cNvPr id="25" name="TextBox 6"/>
          <p:cNvSpPr txBox="1"/>
          <p:nvPr/>
        </p:nvSpPr>
        <p:spPr>
          <a:xfrm>
            <a:off x="841248" y="18288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24D22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人效薪三位一体</a:t>
            </a:r>
            <a:endParaRPr>
              <a:ea typeface="微软雅黑" panose="020B0503020204020204" charset="-122"/>
            </a:endParaRPr>
          </a:p>
        </p:txBody>
      </p:sp>
      <p:sp>
        <p:nvSpPr>
          <p:cNvPr id="26" name="Rounded Rectangle 7"/>
          <p:cNvSpPr/>
          <p:nvPr/>
        </p:nvSpPr>
        <p:spPr>
          <a:xfrm>
            <a:off x="841248" y="2194560"/>
            <a:ext cx="3255264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Rectangle 8"/>
          <p:cNvSpPr/>
          <p:nvPr/>
        </p:nvSpPr>
        <p:spPr>
          <a:xfrm>
            <a:off x="841248" y="2194560"/>
            <a:ext cx="3255264" cy="54864"/>
          </a:xfrm>
          <a:prstGeom prst="rect">
            <a:avLst/>
          </a:prstGeom>
          <a:solidFill>
            <a:srgbClr val="E24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9"/>
          <p:cNvSpPr txBox="1"/>
          <p:nvPr/>
        </p:nvSpPr>
        <p:spPr>
          <a:xfrm>
            <a:off x="978408" y="2344928"/>
            <a:ext cx="29809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24D22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人</a:t>
            </a:r>
            <a:endParaRPr>
              <a:ea typeface="微软雅黑" panose="020B0503020204020204" charset="-122"/>
            </a:endParaRPr>
          </a:p>
        </p:txBody>
      </p:sp>
      <p:sp>
        <p:nvSpPr>
          <p:cNvPr id="29" name="TextBox 10"/>
          <p:cNvSpPr txBox="1"/>
          <p:nvPr/>
        </p:nvSpPr>
        <p:spPr>
          <a:xfrm>
            <a:off x="978408" y="2765552"/>
            <a:ext cx="29809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666666"/>
                </a:solidFill>
                <a:latin typeface="Arial" panose="020B060402020202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People · 激活个体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ectangle 11"/>
          <p:cNvSpPr/>
          <p:nvPr/>
        </p:nvSpPr>
        <p:spPr>
          <a:xfrm>
            <a:off x="1115568" y="3012440"/>
            <a:ext cx="2706624" cy="1097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12"/>
          <p:cNvSpPr txBox="1"/>
          <p:nvPr/>
        </p:nvSpPr>
        <p:spPr>
          <a:xfrm>
            <a:off x="978408" y="3103879"/>
            <a:ext cx="29809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人才 · 潜能 · 团队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ight Arrow 13"/>
          <p:cNvSpPr/>
          <p:nvPr/>
        </p:nvSpPr>
        <p:spPr>
          <a:xfrm>
            <a:off x="4114800" y="2692400"/>
            <a:ext cx="329184" cy="365760"/>
          </a:xfrm>
          <a:prstGeom prst="rightArrow">
            <a:avLst/>
          </a:prstGeom>
          <a:solidFill>
            <a:srgbClr val="F5C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Rounded Rectangle 14"/>
          <p:cNvSpPr/>
          <p:nvPr/>
        </p:nvSpPr>
        <p:spPr>
          <a:xfrm>
            <a:off x="4462272" y="2194560"/>
            <a:ext cx="3255264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Rectangle 15"/>
          <p:cNvSpPr/>
          <p:nvPr/>
        </p:nvSpPr>
        <p:spPr>
          <a:xfrm>
            <a:off x="4462272" y="2194560"/>
            <a:ext cx="3255264" cy="54864"/>
          </a:xfrm>
          <a:prstGeom prst="rect">
            <a:avLst/>
          </a:prstGeom>
          <a:solidFill>
            <a:srgbClr val="E24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TextBox 16"/>
          <p:cNvSpPr txBox="1"/>
          <p:nvPr/>
        </p:nvSpPr>
        <p:spPr>
          <a:xfrm>
            <a:off x="4599432" y="2344928"/>
            <a:ext cx="29809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24D22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效</a:t>
            </a:r>
            <a:endParaRPr>
              <a:ea typeface="微软雅黑" panose="020B0503020204020204" charset="-122"/>
            </a:endParaRPr>
          </a:p>
        </p:txBody>
      </p:sp>
      <p:sp>
        <p:nvSpPr>
          <p:cNvPr id="36" name="TextBox 17"/>
          <p:cNvSpPr txBox="1"/>
          <p:nvPr/>
        </p:nvSpPr>
        <p:spPr>
          <a:xfrm>
            <a:off x="4599432" y="2765552"/>
            <a:ext cx="29809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666666"/>
                </a:solidFill>
                <a:latin typeface="Arial" panose="020B060402020202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Performance · 提升人效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Rectangle 18"/>
          <p:cNvSpPr/>
          <p:nvPr/>
        </p:nvSpPr>
        <p:spPr>
          <a:xfrm>
            <a:off x="4736592" y="3012440"/>
            <a:ext cx="2706624" cy="1097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TextBox 19"/>
          <p:cNvSpPr txBox="1"/>
          <p:nvPr/>
        </p:nvSpPr>
        <p:spPr>
          <a:xfrm>
            <a:off x="4599432" y="3103879"/>
            <a:ext cx="29809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绩效 · 人效 · 机制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Right Arrow 20"/>
          <p:cNvSpPr/>
          <p:nvPr/>
        </p:nvSpPr>
        <p:spPr>
          <a:xfrm>
            <a:off x="7735823" y="2692400"/>
            <a:ext cx="329184" cy="365760"/>
          </a:xfrm>
          <a:prstGeom prst="rightArrow">
            <a:avLst/>
          </a:prstGeom>
          <a:solidFill>
            <a:srgbClr val="F5C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" name="Rounded Rectangle 21"/>
          <p:cNvSpPr/>
          <p:nvPr/>
        </p:nvSpPr>
        <p:spPr>
          <a:xfrm>
            <a:off x="8083296" y="2194560"/>
            <a:ext cx="3255264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Rectangle 22"/>
          <p:cNvSpPr/>
          <p:nvPr/>
        </p:nvSpPr>
        <p:spPr>
          <a:xfrm>
            <a:off x="8083296" y="2194560"/>
            <a:ext cx="3255264" cy="54864"/>
          </a:xfrm>
          <a:prstGeom prst="rect">
            <a:avLst/>
          </a:prstGeom>
          <a:solidFill>
            <a:srgbClr val="E24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" name="TextBox 23"/>
          <p:cNvSpPr txBox="1"/>
          <p:nvPr/>
        </p:nvSpPr>
        <p:spPr>
          <a:xfrm>
            <a:off x="8220456" y="2344928"/>
            <a:ext cx="29809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24D22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薪</a:t>
            </a:r>
            <a:endParaRPr>
              <a:ea typeface="微软雅黑" panose="020B0503020204020204" charset="-122"/>
            </a:endParaRPr>
          </a:p>
        </p:txBody>
      </p:sp>
      <p:sp>
        <p:nvSpPr>
          <p:cNvPr id="71" name="TextBox 24"/>
          <p:cNvSpPr txBox="1"/>
          <p:nvPr/>
        </p:nvSpPr>
        <p:spPr>
          <a:xfrm>
            <a:off x="8220456" y="2765552"/>
            <a:ext cx="29809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666666"/>
                </a:solidFill>
                <a:latin typeface="Arial" panose="020B060402020202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Compensation · 价值回报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" name="Rectangle 25"/>
          <p:cNvSpPr/>
          <p:nvPr/>
        </p:nvSpPr>
        <p:spPr>
          <a:xfrm>
            <a:off x="8357616" y="3012440"/>
            <a:ext cx="2706624" cy="1097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TextBox 26"/>
          <p:cNvSpPr txBox="1"/>
          <p:nvPr/>
        </p:nvSpPr>
        <p:spPr>
          <a:xfrm>
            <a:off x="8220456" y="3103879"/>
            <a:ext cx="29809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薪酬 · 福利 · 激励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TextBox 27"/>
          <p:cNvSpPr txBox="1"/>
          <p:nvPr/>
        </p:nvSpPr>
        <p:spPr>
          <a:xfrm>
            <a:off x="841248" y="37033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24D22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薪酬与绩效的双维度内涵</a:t>
            </a:r>
            <a:endParaRPr>
              <a:ea typeface="微软雅黑" panose="020B0503020204020204" charset="-122"/>
            </a:endParaRPr>
          </a:p>
        </p:txBody>
      </p:sp>
      <p:sp>
        <p:nvSpPr>
          <p:cNvPr id="75" name="Rounded Rectangle 28"/>
          <p:cNvSpPr/>
          <p:nvPr/>
        </p:nvSpPr>
        <p:spPr>
          <a:xfrm>
            <a:off x="841248" y="4041648"/>
            <a:ext cx="507492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" name="Rectangle 29"/>
          <p:cNvSpPr/>
          <p:nvPr/>
        </p:nvSpPr>
        <p:spPr>
          <a:xfrm>
            <a:off x="841248" y="4041648"/>
            <a:ext cx="5074920" cy="54864"/>
          </a:xfrm>
          <a:prstGeom prst="rect">
            <a:avLst/>
          </a:prstGeom>
          <a:solidFill>
            <a:srgbClr val="E24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" name="TextBox 30"/>
          <p:cNvSpPr txBox="1"/>
          <p:nvPr/>
        </p:nvSpPr>
        <p:spPr>
          <a:xfrm>
            <a:off x="1024128" y="4273296"/>
            <a:ext cx="4709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24D22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薪酬 · 全面回报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8" name="TextBox 31"/>
          <p:cNvSpPr txBox="1"/>
          <p:nvPr/>
        </p:nvSpPr>
        <p:spPr>
          <a:xfrm>
            <a:off x="1024128" y="4666488"/>
            <a:ext cx="22631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物质回报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600"/>
              </a:spcBef>
              <a:defRPr sz="12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工资 · 奖金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TextBox 32"/>
          <p:cNvSpPr txBox="1"/>
          <p:nvPr/>
        </p:nvSpPr>
        <p:spPr>
          <a:xfrm>
            <a:off x="3470148" y="4666488"/>
            <a:ext cx="22631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精神回报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600"/>
              </a:spcBef>
              <a:defRPr sz="12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荣誉 · 发展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0" name="Rectangle 33"/>
          <p:cNvSpPr/>
          <p:nvPr/>
        </p:nvSpPr>
        <p:spPr>
          <a:xfrm>
            <a:off x="3378708" y="4712208"/>
            <a:ext cx="10972" cy="6858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" name="Rounded Rectangle 34"/>
          <p:cNvSpPr/>
          <p:nvPr/>
        </p:nvSpPr>
        <p:spPr>
          <a:xfrm>
            <a:off x="6272783" y="4041648"/>
            <a:ext cx="507492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" name="Rectangle 35"/>
          <p:cNvSpPr/>
          <p:nvPr/>
        </p:nvSpPr>
        <p:spPr>
          <a:xfrm>
            <a:off x="6272783" y="4041648"/>
            <a:ext cx="5074920" cy="54864"/>
          </a:xfrm>
          <a:prstGeom prst="rect">
            <a:avLst/>
          </a:prstGeom>
          <a:solidFill>
            <a:srgbClr val="E24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" name="TextBox 36"/>
          <p:cNvSpPr txBox="1"/>
          <p:nvPr/>
        </p:nvSpPr>
        <p:spPr>
          <a:xfrm>
            <a:off x="6455664" y="4273296"/>
            <a:ext cx="4709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24D22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绩效 · 全面评估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4" name="TextBox 37"/>
          <p:cNvSpPr txBox="1"/>
          <p:nvPr/>
        </p:nvSpPr>
        <p:spPr>
          <a:xfrm>
            <a:off x="6455664" y="4666488"/>
            <a:ext cx="22631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结果导向</a:t>
            </a:r>
            <a:endParaRPr>
              <a:ea typeface="微软雅黑" panose="020B0503020204020204" charset="-122"/>
            </a:endParaRPr>
          </a:p>
          <a:p>
            <a:pPr>
              <a:spcBef>
                <a:spcPts val="600"/>
              </a:spcBef>
              <a:defRPr sz="12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业绩</a:t>
            </a:r>
            <a:endParaRPr>
              <a:ea typeface="微软雅黑" panose="020B0503020204020204" charset="-122"/>
            </a:endParaRPr>
          </a:p>
        </p:txBody>
      </p:sp>
      <p:sp>
        <p:nvSpPr>
          <p:cNvPr id="85" name="TextBox 38"/>
          <p:cNvSpPr txBox="1"/>
          <p:nvPr/>
        </p:nvSpPr>
        <p:spPr>
          <a:xfrm>
            <a:off x="8901684" y="4666488"/>
            <a:ext cx="22631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过程 + 管理 + 价值观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600"/>
              </a:spcBef>
              <a:defRPr sz="12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行为 · 管理协同 · 价值观引领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6" name="Rectangle 39"/>
          <p:cNvSpPr/>
          <p:nvPr/>
        </p:nvSpPr>
        <p:spPr>
          <a:xfrm>
            <a:off x="8810244" y="4712208"/>
            <a:ext cx="10972" cy="6858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7" name="Rounded Rectangle 40"/>
          <p:cNvSpPr/>
          <p:nvPr/>
        </p:nvSpPr>
        <p:spPr>
          <a:xfrm>
            <a:off x="630936" y="5669280"/>
            <a:ext cx="10917936" cy="777240"/>
          </a:xfrm>
          <a:prstGeom prst="roundRect">
            <a:avLst>
              <a:gd name="adj" fmla="val 10000"/>
            </a:avLst>
          </a:prstGeom>
          <a:solidFill>
            <a:srgbClr val="FFF0EB"/>
          </a:solidFill>
          <a:ln w="9525">
            <a:solidFill>
              <a:srgbClr val="F5D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" name="TextBox 41"/>
          <p:cNvSpPr txBox="1"/>
          <p:nvPr/>
        </p:nvSpPr>
        <p:spPr>
          <a:xfrm>
            <a:off x="813816" y="5760720"/>
            <a:ext cx="10552176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E24D22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全面评估，全面回报——以「人」为核心，以「效」为标尺，以「薪」为驱动，人效薪三位一体，激活组织与个人共同成长。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E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 l="59" r="59"/>
          <a:stretch>
            <a:fillRect/>
          </a:stretch>
        </p:blipFill>
        <p:spPr>
          <a:xfrm>
            <a:off x="10896600" y="228600"/>
            <a:ext cx="1016000" cy="850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Rectangle 1"/>
          <p:cNvSpPr/>
          <p:nvPr/>
        </p:nvSpPr>
        <p:spPr>
          <a:xfrm>
            <a:off x="612648" y="530352"/>
            <a:ext cx="73152" cy="658368"/>
          </a:xfrm>
          <a:prstGeom prst="rect">
            <a:avLst/>
          </a:prstGeom>
          <a:solidFill>
            <a:srgbClr val="E24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2"/>
          <p:cNvSpPr txBox="1"/>
          <p:nvPr/>
        </p:nvSpPr>
        <p:spPr>
          <a:xfrm>
            <a:off x="761238" y="484632"/>
            <a:ext cx="731520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Arial" panose="020B0604020202020204"/>
              </a:defRPr>
            </a:pPr>
            <a:r>
              <a:rPr b="1">
                <a:solidFill>
                  <a:srgbClr val="E8590C"/>
                </a:solidFill>
                <a:latin typeface="微软雅黑" panose="020B0503020204020204" charset="-122"/>
                <a:ea typeface="微软雅黑" panose="020B0503020204020204" charset="-122"/>
              </a:rPr>
              <a:t>Theoretical Foundation</a:t>
            </a:r>
            <a:endParaRPr b="1">
              <a:solidFill>
                <a:srgbClr val="E8590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3"/>
          <p:cNvSpPr txBox="1"/>
          <p:nvPr/>
        </p:nvSpPr>
        <p:spPr>
          <a:xfrm>
            <a:off x="761238" y="713232"/>
            <a:ext cx="9144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绩效型薪酬体系的六大理论基石</a:t>
            </a:r>
            <a:endParaRPr>
              <a:ea typeface="微软雅黑" panose="020B0503020204020204" charset="-122"/>
            </a:endParaRPr>
          </a:p>
        </p:txBody>
      </p:sp>
      <p:sp>
        <p:nvSpPr>
          <p:cNvPr id="9" name="TextBox 4"/>
          <p:cNvSpPr txBox="1"/>
          <p:nvPr/>
        </p:nvSpPr>
        <p:spPr>
          <a:xfrm>
            <a:off x="761238" y="13258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绩效型薪酬并非简单的"多劳多得"，而是建立在经典激励理论之上的系统设计——六大理论共同回答"为什么薪酬要与绩效挂钩"。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5"/>
          <p:cNvSpPr/>
          <p:nvPr>
            <p:custDataLst>
              <p:tags r:id="rId2"/>
            </p:custDataLst>
          </p:nvPr>
        </p:nvSpPr>
        <p:spPr>
          <a:xfrm>
            <a:off x="685800" y="1874519"/>
            <a:ext cx="352044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ectangle 6"/>
          <p:cNvSpPr/>
          <p:nvPr>
            <p:custDataLst>
              <p:tags r:id="rId3"/>
            </p:custDataLst>
          </p:nvPr>
        </p:nvSpPr>
        <p:spPr>
          <a:xfrm>
            <a:off x="685800" y="1874519"/>
            <a:ext cx="3520440" cy="54864"/>
          </a:xfrm>
          <a:prstGeom prst="rect">
            <a:avLst/>
          </a:prstGeom>
          <a:solidFill>
            <a:srgbClr val="E24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7"/>
          <p:cNvSpPr txBox="1"/>
          <p:nvPr>
            <p:custDataLst>
              <p:tags r:id="rId4"/>
            </p:custDataLst>
          </p:nvPr>
        </p:nvSpPr>
        <p:spPr>
          <a:xfrm>
            <a:off x="868680" y="2011679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24D22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期望理论</a:t>
            </a:r>
            <a:endParaRPr>
              <a:ea typeface="微软雅黑" panose="020B0503020204020204" charset="-122"/>
            </a:endParaRPr>
          </a:p>
        </p:txBody>
      </p:sp>
      <p:sp>
        <p:nvSpPr>
          <p:cNvPr id="13" name="TextBox 8"/>
          <p:cNvSpPr txBox="1"/>
          <p:nvPr>
            <p:custDataLst>
              <p:tags r:id="rId5"/>
            </p:custDataLst>
          </p:nvPr>
        </p:nvSpPr>
        <p:spPr>
          <a:xfrm>
            <a:off x="868680" y="2331720"/>
            <a:ext cx="3154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66666"/>
                </a:solidFill>
                <a:latin typeface="Arial" panose="020B060402020202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Expectancy Theory · Vroom, 1964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9"/>
          <p:cNvSpPr txBox="1"/>
          <p:nvPr>
            <p:custDataLst>
              <p:tags r:id="rId6"/>
            </p:custDataLst>
          </p:nvPr>
        </p:nvSpPr>
        <p:spPr>
          <a:xfrm>
            <a:off x="868680" y="2606039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激励力 = 期望值 x 手段 x 效价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0"/>
          <p:cNvSpPr/>
          <p:nvPr>
            <p:custDataLst>
              <p:tags r:id="rId7"/>
            </p:custDataLst>
          </p:nvPr>
        </p:nvSpPr>
        <p:spPr>
          <a:xfrm>
            <a:off x="868680" y="2953511"/>
            <a:ext cx="3154680" cy="1371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1"/>
          <p:cNvSpPr txBox="1"/>
          <p:nvPr>
            <p:custDataLst>
              <p:tags r:id="rId8"/>
            </p:custDataLst>
          </p:nvPr>
        </p:nvSpPr>
        <p:spPr>
          <a:xfrm>
            <a:off x="868680" y="3017520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0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员工须相信"努力-绩效-奖励"的链条成立，且奖励对个人有价值。绩效目标须可达、奖励须明确兑现。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ounded Rectangle 12"/>
          <p:cNvSpPr/>
          <p:nvPr>
            <p:custDataLst>
              <p:tags r:id="rId9"/>
            </p:custDataLst>
          </p:nvPr>
        </p:nvSpPr>
        <p:spPr>
          <a:xfrm>
            <a:off x="4407408" y="1874519"/>
            <a:ext cx="352044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ectangle 13"/>
          <p:cNvSpPr/>
          <p:nvPr>
            <p:custDataLst>
              <p:tags r:id="rId10"/>
            </p:custDataLst>
          </p:nvPr>
        </p:nvSpPr>
        <p:spPr>
          <a:xfrm>
            <a:off x="4407408" y="1874519"/>
            <a:ext cx="3520440" cy="54864"/>
          </a:xfrm>
          <a:prstGeom prst="rect">
            <a:avLst/>
          </a:prstGeom>
          <a:solidFill>
            <a:srgbClr val="E24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4"/>
          <p:cNvSpPr txBox="1"/>
          <p:nvPr>
            <p:custDataLst>
              <p:tags r:id="rId11"/>
            </p:custDataLst>
          </p:nvPr>
        </p:nvSpPr>
        <p:spPr>
          <a:xfrm>
            <a:off x="4590288" y="2011679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24D22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公平理论</a:t>
            </a:r>
            <a:endParaRPr>
              <a:ea typeface="微软雅黑" panose="020B0503020204020204" charset="-122"/>
            </a:endParaRPr>
          </a:p>
        </p:txBody>
      </p:sp>
      <p:sp>
        <p:nvSpPr>
          <p:cNvPr id="20" name="TextBox 15"/>
          <p:cNvSpPr txBox="1"/>
          <p:nvPr>
            <p:custDataLst>
              <p:tags r:id="rId12"/>
            </p:custDataLst>
          </p:nvPr>
        </p:nvSpPr>
        <p:spPr>
          <a:xfrm>
            <a:off x="4590288" y="2331720"/>
            <a:ext cx="3154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66666"/>
                </a:solidFill>
                <a:latin typeface="Arial" panose="020B060402020202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Equity Theory · Adams, 1965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16"/>
          <p:cNvSpPr txBox="1"/>
          <p:nvPr>
            <p:custDataLst>
              <p:tags r:id="rId13"/>
            </p:custDataLst>
          </p:nvPr>
        </p:nvSpPr>
        <p:spPr>
          <a:xfrm>
            <a:off x="4590288" y="2606039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员工关注投入产出比的公平性</a:t>
            </a:r>
            <a:endParaRPr>
              <a:ea typeface="微软雅黑" panose="020B0503020204020204" charset="-122"/>
            </a:endParaRPr>
          </a:p>
        </p:txBody>
      </p:sp>
      <p:sp>
        <p:nvSpPr>
          <p:cNvPr id="22" name="Rectangle 17"/>
          <p:cNvSpPr/>
          <p:nvPr>
            <p:custDataLst>
              <p:tags r:id="rId14"/>
            </p:custDataLst>
          </p:nvPr>
        </p:nvSpPr>
        <p:spPr>
          <a:xfrm>
            <a:off x="4590288" y="2953511"/>
            <a:ext cx="3154680" cy="1371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18"/>
          <p:cNvSpPr txBox="1"/>
          <p:nvPr>
            <p:custDataLst>
              <p:tags r:id="rId15"/>
            </p:custDataLst>
          </p:nvPr>
        </p:nvSpPr>
        <p:spPr>
          <a:xfrm>
            <a:off x="4590288" y="3017520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0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员工会横向（与同事）和纵向（与自己过去）比较。薪酬须兼顾内部公平与外部市场公平，绩效评价须尺度一致。</a:t>
            </a:r>
            <a:endParaRPr>
              <a:ea typeface="微软雅黑" panose="020B0503020204020204" charset="-122"/>
            </a:endParaRPr>
          </a:p>
        </p:txBody>
      </p:sp>
      <p:sp>
        <p:nvSpPr>
          <p:cNvPr id="40" name="Rounded Rectangle 19"/>
          <p:cNvSpPr/>
          <p:nvPr>
            <p:custDataLst>
              <p:tags r:id="rId16"/>
            </p:custDataLst>
          </p:nvPr>
        </p:nvSpPr>
        <p:spPr>
          <a:xfrm>
            <a:off x="8129016" y="1874519"/>
            <a:ext cx="352044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Rectangle 20"/>
          <p:cNvSpPr/>
          <p:nvPr>
            <p:custDataLst>
              <p:tags r:id="rId17"/>
            </p:custDataLst>
          </p:nvPr>
        </p:nvSpPr>
        <p:spPr>
          <a:xfrm>
            <a:off x="8129016" y="1874519"/>
            <a:ext cx="3520440" cy="54864"/>
          </a:xfrm>
          <a:prstGeom prst="rect">
            <a:avLst/>
          </a:prstGeom>
          <a:solidFill>
            <a:srgbClr val="E24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TextBox 21"/>
          <p:cNvSpPr txBox="1"/>
          <p:nvPr>
            <p:custDataLst>
              <p:tags r:id="rId18"/>
            </p:custDataLst>
          </p:nvPr>
        </p:nvSpPr>
        <p:spPr>
          <a:xfrm>
            <a:off x="8311896" y="2011679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24D22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委托代理理论</a:t>
            </a:r>
            <a:endParaRPr>
              <a:ea typeface="微软雅黑" panose="020B0503020204020204" charset="-122"/>
            </a:endParaRPr>
          </a:p>
        </p:txBody>
      </p:sp>
      <p:sp>
        <p:nvSpPr>
          <p:cNvPr id="43" name="TextBox 22"/>
          <p:cNvSpPr txBox="1"/>
          <p:nvPr>
            <p:custDataLst>
              <p:tags r:id="rId19"/>
            </p:custDataLst>
          </p:nvPr>
        </p:nvSpPr>
        <p:spPr>
          <a:xfrm>
            <a:off x="8311896" y="2331720"/>
            <a:ext cx="3154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66666"/>
                </a:solidFill>
                <a:latin typeface="Arial" panose="020B060402020202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Agency Theory · Jensen &amp; Meckling, 1976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TextBox 23"/>
          <p:cNvSpPr txBox="1"/>
          <p:nvPr>
            <p:custDataLst>
              <p:tags r:id="rId20"/>
            </p:custDataLst>
          </p:nvPr>
        </p:nvSpPr>
        <p:spPr>
          <a:xfrm>
            <a:off x="8311896" y="2606039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通过激励契约使代理人与委托人利益一致</a:t>
            </a:r>
            <a:endParaRPr>
              <a:ea typeface="微软雅黑" panose="020B0503020204020204" charset="-122"/>
            </a:endParaRPr>
          </a:p>
        </p:txBody>
      </p:sp>
      <p:sp>
        <p:nvSpPr>
          <p:cNvPr id="45" name="Rectangle 24"/>
          <p:cNvSpPr/>
          <p:nvPr>
            <p:custDataLst>
              <p:tags r:id="rId21"/>
            </p:custDataLst>
          </p:nvPr>
        </p:nvSpPr>
        <p:spPr>
          <a:xfrm>
            <a:off x="8311896" y="2953511"/>
            <a:ext cx="3154680" cy="1371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TextBox 25"/>
          <p:cNvSpPr txBox="1"/>
          <p:nvPr>
            <p:custDataLst>
              <p:tags r:id="rId22"/>
            </p:custDataLst>
          </p:nvPr>
        </p:nvSpPr>
        <p:spPr>
          <a:xfrm>
            <a:off x="8311896" y="3017520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0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所有者与经营者目标存在分歧，将薪酬与绩效挂钩可降低代理成本，使员工行为指向组织价值最大化。</a:t>
            </a:r>
            <a:endParaRPr>
              <a:ea typeface="微软雅黑" panose="020B0503020204020204" charset="-122"/>
            </a:endParaRPr>
          </a:p>
        </p:txBody>
      </p:sp>
      <p:sp>
        <p:nvSpPr>
          <p:cNvPr id="47" name="Rounded Rectangle 26"/>
          <p:cNvSpPr/>
          <p:nvPr>
            <p:custDataLst>
              <p:tags r:id="rId23"/>
            </p:custDataLst>
          </p:nvPr>
        </p:nvSpPr>
        <p:spPr>
          <a:xfrm>
            <a:off x="685800" y="4206240"/>
            <a:ext cx="352044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Rectangle 27"/>
          <p:cNvSpPr/>
          <p:nvPr>
            <p:custDataLst>
              <p:tags r:id="rId24"/>
            </p:custDataLst>
          </p:nvPr>
        </p:nvSpPr>
        <p:spPr>
          <a:xfrm>
            <a:off x="685800" y="4206240"/>
            <a:ext cx="3520440" cy="54864"/>
          </a:xfrm>
          <a:prstGeom prst="rect">
            <a:avLst/>
          </a:prstGeom>
          <a:solidFill>
            <a:srgbClr val="E24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TextBox 28"/>
          <p:cNvSpPr txBox="1"/>
          <p:nvPr>
            <p:custDataLst>
              <p:tags r:id="rId25"/>
            </p:custDataLst>
          </p:nvPr>
        </p:nvSpPr>
        <p:spPr>
          <a:xfrm>
            <a:off x="868680" y="434340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24D22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强化理论</a:t>
            </a:r>
            <a:endParaRPr>
              <a:ea typeface="微软雅黑" panose="020B0503020204020204" charset="-122"/>
            </a:endParaRPr>
          </a:p>
        </p:txBody>
      </p:sp>
      <p:sp>
        <p:nvSpPr>
          <p:cNvPr id="50" name="TextBox 29"/>
          <p:cNvSpPr txBox="1"/>
          <p:nvPr>
            <p:custDataLst>
              <p:tags r:id="rId26"/>
            </p:custDataLst>
          </p:nvPr>
        </p:nvSpPr>
        <p:spPr>
          <a:xfrm>
            <a:off x="868680" y="4663440"/>
            <a:ext cx="3154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66666"/>
                </a:solidFill>
                <a:latin typeface="Arial" panose="020B060402020202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Reinforcement Theory · Skinner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TextBox 30"/>
          <p:cNvSpPr txBox="1"/>
          <p:nvPr>
            <p:custDataLst>
              <p:tags r:id="rId27"/>
            </p:custDataLst>
          </p:nvPr>
        </p:nvSpPr>
        <p:spPr>
          <a:xfrm>
            <a:off x="868680" y="4937759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正强化增加期望行为重复概率</a:t>
            </a:r>
            <a:endParaRPr>
              <a:ea typeface="微软雅黑" panose="020B0503020204020204" charset="-122"/>
            </a:endParaRPr>
          </a:p>
        </p:txBody>
      </p:sp>
      <p:sp>
        <p:nvSpPr>
          <p:cNvPr id="52" name="Rectangle 31"/>
          <p:cNvSpPr/>
          <p:nvPr>
            <p:custDataLst>
              <p:tags r:id="rId28"/>
            </p:custDataLst>
          </p:nvPr>
        </p:nvSpPr>
        <p:spPr>
          <a:xfrm>
            <a:off x="868680" y="5285231"/>
            <a:ext cx="3154680" cy="1371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TextBox 32"/>
          <p:cNvSpPr txBox="1"/>
          <p:nvPr>
            <p:custDataLst>
              <p:tags r:id="rId29"/>
            </p:custDataLst>
          </p:nvPr>
        </p:nvSpPr>
        <p:spPr>
          <a:xfrm>
            <a:off x="868680" y="5349240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0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高绩效及时给予奖励（正强化），低绩效及时反馈与纠正。奖励须及时、具体、与行为直接关联。</a:t>
            </a:r>
            <a:endParaRPr>
              <a:ea typeface="微软雅黑" panose="020B0503020204020204" charset="-122"/>
            </a:endParaRPr>
          </a:p>
        </p:txBody>
      </p:sp>
      <p:sp>
        <p:nvSpPr>
          <p:cNvPr id="54" name="Rounded Rectangle 33"/>
          <p:cNvSpPr/>
          <p:nvPr>
            <p:custDataLst>
              <p:tags r:id="rId30"/>
            </p:custDataLst>
          </p:nvPr>
        </p:nvSpPr>
        <p:spPr>
          <a:xfrm>
            <a:off x="4407408" y="4206240"/>
            <a:ext cx="352044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Rectangle 34"/>
          <p:cNvSpPr/>
          <p:nvPr>
            <p:custDataLst>
              <p:tags r:id="rId31"/>
            </p:custDataLst>
          </p:nvPr>
        </p:nvSpPr>
        <p:spPr>
          <a:xfrm>
            <a:off x="4407408" y="4206240"/>
            <a:ext cx="3520440" cy="54864"/>
          </a:xfrm>
          <a:prstGeom prst="rect">
            <a:avLst/>
          </a:prstGeom>
          <a:solidFill>
            <a:srgbClr val="E24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TextBox 35"/>
          <p:cNvSpPr txBox="1"/>
          <p:nvPr>
            <p:custDataLst>
              <p:tags r:id="rId32"/>
            </p:custDataLst>
          </p:nvPr>
        </p:nvSpPr>
        <p:spPr>
          <a:xfrm>
            <a:off x="4590288" y="434340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24D22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双因素理论</a:t>
            </a:r>
            <a:endParaRPr>
              <a:ea typeface="微软雅黑" panose="020B0503020204020204" charset="-122"/>
            </a:endParaRPr>
          </a:p>
        </p:txBody>
      </p:sp>
      <p:sp>
        <p:nvSpPr>
          <p:cNvPr id="57" name="TextBox 36"/>
          <p:cNvSpPr txBox="1"/>
          <p:nvPr>
            <p:custDataLst>
              <p:tags r:id="rId33"/>
            </p:custDataLst>
          </p:nvPr>
        </p:nvSpPr>
        <p:spPr>
          <a:xfrm>
            <a:off x="4590288" y="4663440"/>
            <a:ext cx="3154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66666"/>
                </a:solidFill>
                <a:latin typeface="Arial" panose="020B060402020202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Two-Factor Theory · Herzberg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TextBox 37"/>
          <p:cNvSpPr txBox="1"/>
          <p:nvPr>
            <p:custDataLst>
              <p:tags r:id="rId34"/>
            </p:custDataLst>
          </p:nvPr>
        </p:nvSpPr>
        <p:spPr>
          <a:xfrm>
            <a:off x="4590288" y="4937759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保健因素消除不满，激励因素产生满意</a:t>
            </a:r>
            <a:endParaRPr>
              <a:ea typeface="微软雅黑" panose="020B0503020204020204" charset="-122"/>
            </a:endParaRPr>
          </a:p>
        </p:txBody>
      </p:sp>
      <p:sp>
        <p:nvSpPr>
          <p:cNvPr id="59" name="Rectangle 38"/>
          <p:cNvSpPr/>
          <p:nvPr>
            <p:custDataLst>
              <p:tags r:id="rId35"/>
            </p:custDataLst>
          </p:nvPr>
        </p:nvSpPr>
        <p:spPr>
          <a:xfrm>
            <a:off x="4590288" y="5285231"/>
            <a:ext cx="3154680" cy="1371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TextBox 39"/>
          <p:cNvSpPr txBox="1"/>
          <p:nvPr>
            <p:custDataLst>
              <p:tags r:id="rId36"/>
            </p:custDataLst>
          </p:nvPr>
        </p:nvSpPr>
        <p:spPr>
          <a:xfrm>
            <a:off x="4590288" y="5349240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0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基本工资是保健因素（保公平、防不满），绩效奖金与发展机会是激励因素（促卓越、创满意）。固浮比设计即源于此。</a:t>
            </a:r>
            <a:endParaRPr>
              <a:ea typeface="微软雅黑" panose="020B0503020204020204" charset="-122"/>
            </a:endParaRPr>
          </a:p>
        </p:txBody>
      </p:sp>
      <p:sp>
        <p:nvSpPr>
          <p:cNvPr id="61" name="Rounded Rectangle 40"/>
          <p:cNvSpPr/>
          <p:nvPr>
            <p:custDataLst>
              <p:tags r:id="rId37"/>
            </p:custDataLst>
          </p:nvPr>
        </p:nvSpPr>
        <p:spPr>
          <a:xfrm>
            <a:off x="8129016" y="4206240"/>
            <a:ext cx="352044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Rectangle 41"/>
          <p:cNvSpPr/>
          <p:nvPr>
            <p:custDataLst>
              <p:tags r:id="rId38"/>
            </p:custDataLst>
          </p:nvPr>
        </p:nvSpPr>
        <p:spPr>
          <a:xfrm>
            <a:off x="8129016" y="4206240"/>
            <a:ext cx="3520440" cy="54864"/>
          </a:xfrm>
          <a:prstGeom prst="rect">
            <a:avLst/>
          </a:prstGeom>
          <a:solidFill>
            <a:srgbClr val="E24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" name="TextBox 42"/>
          <p:cNvSpPr txBox="1"/>
          <p:nvPr>
            <p:custDataLst>
              <p:tags r:id="rId39"/>
            </p:custDataLst>
          </p:nvPr>
        </p:nvSpPr>
        <p:spPr>
          <a:xfrm>
            <a:off x="8311896" y="434340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24D22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目标设置理论</a:t>
            </a:r>
            <a:endParaRPr>
              <a:ea typeface="微软雅黑" panose="020B0503020204020204" charset="-122"/>
            </a:endParaRPr>
          </a:p>
        </p:txBody>
      </p:sp>
      <p:sp>
        <p:nvSpPr>
          <p:cNvPr id="64" name="TextBox 43"/>
          <p:cNvSpPr txBox="1"/>
          <p:nvPr>
            <p:custDataLst>
              <p:tags r:id="rId40"/>
            </p:custDataLst>
          </p:nvPr>
        </p:nvSpPr>
        <p:spPr>
          <a:xfrm>
            <a:off x="8311896" y="4663440"/>
            <a:ext cx="3154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66666"/>
                </a:solidFill>
                <a:latin typeface="Arial" panose="020B060402020202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Goal-Setting Theory · Locke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TextBox 44"/>
          <p:cNvSpPr txBox="1"/>
          <p:nvPr>
            <p:custDataLst>
              <p:tags r:id="rId41"/>
            </p:custDataLst>
          </p:nvPr>
        </p:nvSpPr>
        <p:spPr>
          <a:xfrm>
            <a:off x="8311896" y="4937759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具体、有挑战性的目标提升绩效</a:t>
            </a:r>
            <a:endParaRPr>
              <a:ea typeface="微软雅黑" panose="020B0503020204020204" charset="-122"/>
            </a:endParaRPr>
          </a:p>
        </p:txBody>
      </p:sp>
      <p:sp>
        <p:nvSpPr>
          <p:cNvPr id="66" name="Rectangle 45"/>
          <p:cNvSpPr/>
          <p:nvPr>
            <p:custDataLst>
              <p:tags r:id="rId42"/>
            </p:custDataLst>
          </p:nvPr>
        </p:nvSpPr>
        <p:spPr>
          <a:xfrm>
            <a:off x="8311896" y="5285231"/>
            <a:ext cx="3154680" cy="1371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TextBox 46"/>
          <p:cNvSpPr txBox="1"/>
          <p:nvPr>
            <p:custDataLst>
              <p:tags r:id="rId43"/>
            </p:custDataLst>
          </p:nvPr>
        </p:nvSpPr>
        <p:spPr>
          <a:xfrm>
            <a:off x="8311896" y="5349240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0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目标须SMART（具体可衡量、有挑战、可达成、相关、有时限），员工参与目标设置可增强承诺感与执行力。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E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12648" y="530352"/>
            <a:ext cx="73152" cy="658368"/>
          </a:xfrm>
          <a:prstGeom prst="rect">
            <a:avLst/>
          </a:prstGeom>
          <a:solidFill>
            <a:srgbClr val="E24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61238" y="484632"/>
            <a:ext cx="731520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Arial" panose="020B0604020202020204"/>
              </a:defRPr>
            </a:pPr>
            <a:r>
              <a:rPr b="1">
                <a:solidFill>
                  <a:srgbClr val="E859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SYSTEM · 体系</a:t>
            </a:r>
            <a:endParaRPr b="1">
              <a:solidFill>
                <a:srgbClr val="E8590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Box 4"/>
          <p:cNvSpPr txBox="1"/>
          <p:nvPr/>
        </p:nvSpPr>
        <p:spPr>
          <a:xfrm>
            <a:off x="761238" y="713232"/>
            <a:ext cx="91440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绩效型薪酬体系</a:t>
            </a:r>
            <a:r>
              <a:rPr lang="zh-CN">
                <a:ea typeface="微软雅黑" panose="020B0503020204020204" charset="-122"/>
              </a:rPr>
              <a:t>设计</a:t>
            </a:r>
            <a:endParaRPr lang="zh-CN">
              <a:ea typeface="微软雅黑" panose="020B0503020204020204" charset="-122"/>
            </a:endParaRPr>
          </a:p>
        </p:txBody>
      </p:sp>
      <p:sp>
        <p:nvSpPr>
          <p:cNvPr id="24" name="TextBox 5"/>
          <p:cNvSpPr txBox="1"/>
          <p:nvPr/>
        </p:nvSpPr>
        <p:spPr>
          <a:xfrm>
            <a:off x="761238" y="13258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以岗位价值为基础、以绩效贡献为导向、固浮结合、动态调整——四大支柱共同构建绩效型薪酬体系。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ounded Rectangle 6"/>
          <p:cNvSpPr/>
          <p:nvPr>
            <p:custDataLst>
              <p:tags r:id="rId1"/>
            </p:custDataLst>
          </p:nvPr>
        </p:nvSpPr>
        <p:spPr>
          <a:xfrm>
            <a:off x="777240" y="2057400"/>
            <a:ext cx="2514600" cy="411480"/>
          </a:xfrm>
          <a:prstGeom prst="roundRect">
            <a:avLst>
              <a:gd name="adj" fmla="val 15000"/>
            </a:avLst>
          </a:prstGeom>
          <a:solidFill>
            <a:srgbClr val="E24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以岗定级</a:t>
            </a:r>
            <a:endParaRPr>
              <a:ea typeface="微软雅黑" panose="020B0503020204020204" charset="-122"/>
            </a:endParaRPr>
          </a:p>
        </p:txBody>
      </p:sp>
      <p:sp>
        <p:nvSpPr>
          <p:cNvPr id="26" name="TextBox 7"/>
          <p:cNvSpPr txBox="1"/>
          <p:nvPr>
            <p:custDataLst>
              <p:tags r:id="rId2"/>
            </p:custDataLst>
          </p:nvPr>
        </p:nvSpPr>
        <p:spPr>
          <a:xfrm>
            <a:off x="777240" y="2640330"/>
            <a:ext cx="251460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E24D22"/>
                </a:solidFill>
                <a:latin typeface="微软雅黑" panose="020B0503020204020204" charset="-122"/>
              </a:defRPr>
            </a:pPr>
            <a:r>
              <a:rPr sz="1200">
                <a:solidFill>
                  <a:srgbClr val="E8590C"/>
                </a:solidFill>
                <a:ea typeface="微软雅黑" panose="020B0503020204020204" charset="-122"/>
              </a:rPr>
              <a:t>客观依据</a:t>
            </a:r>
            <a:endParaRPr sz="1200">
              <a:solidFill>
                <a:srgbClr val="E8590C"/>
              </a:solidFill>
              <a:ea typeface="微软雅黑" panose="020B0503020204020204" charset="-122"/>
            </a:endParaRPr>
          </a:p>
        </p:txBody>
      </p:sp>
      <p:sp>
        <p:nvSpPr>
          <p:cNvPr id="27" name="TextBox 8"/>
          <p:cNvSpPr txBox="1"/>
          <p:nvPr>
            <p:custDataLst>
              <p:tags r:id="rId3"/>
            </p:custDataLst>
          </p:nvPr>
        </p:nvSpPr>
        <p:spPr>
          <a:xfrm>
            <a:off x="822960" y="2960243"/>
            <a:ext cx="2423160" cy="180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  <a:defRPr sz="115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200">
                <a:ea typeface="微软雅黑" panose="020B0503020204020204" charset="-122"/>
                <a:cs typeface="微软雅黑" panose="020B0503020204020204" charset="-122"/>
              </a:rPr>
              <a:t>• 基于岗位价值评估，对标市场</a:t>
            </a:r>
            <a:endParaRPr sz="1200"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Aft>
                <a:spcPts val="1000"/>
              </a:spcAft>
              <a:defRPr sz="115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000"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sz="1000"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>
                <a:ea typeface="微软雅黑" panose="020B0503020204020204" charset="-122"/>
                <a:cs typeface="微软雅黑" panose="020B0503020204020204" charset="-122"/>
              </a:rPr>
              <a:t>薪酬水平</a:t>
            </a:r>
            <a:endParaRPr sz="1200"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Aft>
                <a:spcPts val="1000"/>
              </a:spcAft>
              <a:defRPr sz="115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200">
                <a:ea typeface="微软雅黑" panose="020B0503020204020204" charset="-122"/>
                <a:cs typeface="微软雅黑" panose="020B0503020204020204" charset="-122"/>
              </a:rPr>
              <a:t>• 先定级再定薪，职级对应薪资</a:t>
            </a:r>
            <a:endParaRPr sz="1200"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Aft>
                <a:spcPts val="1000"/>
              </a:spcAft>
              <a:defRPr sz="115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000"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sz="1000"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>
                <a:ea typeface="微软雅黑" panose="020B0503020204020204" charset="-122"/>
                <a:cs typeface="微软雅黑" panose="020B0503020204020204" charset="-122"/>
              </a:rPr>
              <a:t>区间</a:t>
            </a:r>
            <a:endParaRPr sz="1200"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Aft>
                <a:spcPts val="1000"/>
              </a:spcAft>
              <a:defRPr sz="115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200">
                <a:ea typeface="微软雅黑" panose="020B0503020204020204" charset="-122"/>
                <a:cs typeface="微软雅黑" panose="020B0503020204020204" charset="-122"/>
              </a:rPr>
              <a:t>• 保障外部竞争性与内部公平性</a:t>
            </a:r>
            <a:endParaRPr sz="1200"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ounded Rectangle 9"/>
          <p:cNvSpPr/>
          <p:nvPr>
            <p:custDataLst>
              <p:tags r:id="rId4"/>
            </p:custDataLst>
          </p:nvPr>
        </p:nvSpPr>
        <p:spPr>
          <a:xfrm>
            <a:off x="3584448" y="2057400"/>
            <a:ext cx="2514600" cy="411480"/>
          </a:xfrm>
          <a:prstGeom prst="roundRect">
            <a:avLst>
              <a:gd name="adj" fmla="val 15000"/>
            </a:avLst>
          </a:prstGeom>
          <a:solidFill>
            <a:srgbClr val="E24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以绩定奖</a:t>
            </a:r>
            <a:endParaRPr>
              <a:ea typeface="微软雅黑" panose="020B0503020204020204" charset="-122"/>
            </a:endParaRPr>
          </a:p>
        </p:txBody>
      </p:sp>
      <p:sp>
        <p:nvSpPr>
          <p:cNvPr id="29" name="TextBox 10"/>
          <p:cNvSpPr txBox="1"/>
          <p:nvPr>
            <p:custDataLst>
              <p:tags r:id="rId5"/>
            </p:custDataLst>
          </p:nvPr>
        </p:nvSpPr>
        <p:spPr>
          <a:xfrm>
            <a:off x="3584448" y="2640330"/>
            <a:ext cx="251460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E24D22"/>
                </a:solidFill>
                <a:latin typeface="微软雅黑" panose="020B0503020204020204" charset="-122"/>
              </a:defRPr>
            </a:pPr>
            <a:r>
              <a:rPr sz="1200">
                <a:solidFill>
                  <a:srgbClr val="E8590C"/>
                </a:solidFill>
                <a:ea typeface="微软雅黑" panose="020B0503020204020204" charset="-122"/>
              </a:rPr>
              <a:t>主观依据</a:t>
            </a:r>
            <a:endParaRPr sz="1200">
              <a:solidFill>
                <a:srgbClr val="E8590C"/>
              </a:solidFill>
              <a:ea typeface="微软雅黑" panose="020B0503020204020204" charset="-122"/>
            </a:endParaRPr>
          </a:p>
        </p:txBody>
      </p:sp>
      <p:sp>
        <p:nvSpPr>
          <p:cNvPr id="30" name="TextBox 11"/>
          <p:cNvSpPr txBox="1"/>
          <p:nvPr>
            <p:custDataLst>
              <p:tags r:id="rId6"/>
            </p:custDataLst>
          </p:nvPr>
        </p:nvSpPr>
        <p:spPr>
          <a:xfrm>
            <a:off x="3630295" y="2960370"/>
            <a:ext cx="2514600" cy="106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  <a:defRPr sz="115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200">
                <a:ea typeface="微软雅黑" panose="020B0503020204020204" charset="-122"/>
                <a:cs typeface="微软雅黑" panose="020B0503020204020204" charset="-122"/>
              </a:rPr>
              <a:t>• 绩效结果直接关联奖金与调薪</a:t>
            </a:r>
            <a:endParaRPr sz="1200"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Aft>
                <a:spcPts val="1000"/>
              </a:spcAft>
              <a:defRPr sz="115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200">
                <a:ea typeface="微软雅黑" panose="020B0503020204020204" charset="-122"/>
                <a:cs typeface="微软雅黑" panose="020B0503020204020204" charset="-122"/>
              </a:rPr>
              <a:t>• 多劳多得、多创多得、多燃多得</a:t>
            </a:r>
            <a:endParaRPr sz="1200"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Aft>
                <a:spcPts val="1000"/>
              </a:spcAft>
              <a:defRPr sz="115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200">
                <a:ea typeface="微软雅黑" panose="020B0503020204020204" charset="-122"/>
                <a:cs typeface="微软雅黑" panose="020B0503020204020204" charset="-122"/>
              </a:rPr>
              <a:t>• 强制分布确保差异化兑现</a:t>
            </a:r>
            <a:endParaRPr sz="1200"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Rounded Rectangle 12"/>
          <p:cNvSpPr/>
          <p:nvPr>
            <p:custDataLst>
              <p:tags r:id="rId7"/>
            </p:custDataLst>
          </p:nvPr>
        </p:nvSpPr>
        <p:spPr>
          <a:xfrm>
            <a:off x="6391655" y="2057400"/>
            <a:ext cx="2514600" cy="411480"/>
          </a:xfrm>
          <a:prstGeom prst="roundRect">
            <a:avLst>
              <a:gd name="adj" fmla="val 15000"/>
            </a:avLst>
          </a:prstGeom>
          <a:solidFill>
            <a:srgbClr val="E24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固浮结合</a:t>
            </a:r>
            <a:endParaRPr>
              <a:ea typeface="微软雅黑" panose="020B0503020204020204" charset="-122"/>
            </a:endParaRPr>
          </a:p>
        </p:txBody>
      </p:sp>
      <p:sp>
        <p:nvSpPr>
          <p:cNvPr id="32" name="TextBox 13"/>
          <p:cNvSpPr txBox="1"/>
          <p:nvPr>
            <p:custDataLst>
              <p:tags r:id="rId8"/>
            </p:custDataLst>
          </p:nvPr>
        </p:nvSpPr>
        <p:spPr>
          <a:xfrm>
            <a:off x="6391655" y="2640330"/>
            <a:ext cx="251460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E24D22"/>
                </a:solidFill>
                <a:latin typeface="微软雅黑" panose="020B0503020204020204" charset="-122"/>
              </a:defRPr>
            </a:pPr>
            <a:r>
              <a:rPr sz="1200">
                <a:solidFill>
                  <a:srgbClr val="E8590C"/>
                </a:solidFill>
                <a:ea typeface="微软雅黑" panose="020B0503020204020204" charset="-122"/>
              </a:rPr>
              <a:t>结构设计</a:t>
            </a:r>
            <a:endParaRPr sz="1200">
              <a:solidFill>
                <a:srgbClr val="E8590C"/>
              </a:solidFill>
              <a:ea typeface="微软雅黑" panose="020B0503020204020204" charset="-122"/>
            </a:endParaRPr>
          </a:p>
        </p:txBody>
      </p:sp>
      <p:sp>
        <p:nvSpPr>
          <p:cNvPr id="33" name="TextBox 14"/>
          <p:cNvSpPr txBox="1"/>
          <p:nvPr>
            <p:custDataLst>
              <p:tags r:id="rId9"/>
            </p:custDataLst>
          </p:nvPr>
        </p:nvSpPr>
        <p:spPr>
          <a:xfrm>
            <a:off x="6437630" y="2970530"/>
            <a:ext cx="2515235" cy="106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  <a:defRPr sz="115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200">
                <a:ea typeface="微软雅黑" panose="020B0503020204020204" charset="-122"/>
                <a:cs typeface="微软雅黑" panose="020B0503020204020204" charset="-122"/>
              </a:rPr>
              <a:t>• 固定薪资保障基本，浮动薪酬激</a:t>
            </a:r>
            <a:endParaRPr sz="1200"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Aft>
                <a:spcPts val="1000"/>
              </a:spcAft>
              <a:defRPr sz="115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000"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sz="1000"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>
                <a:ea typeface="微软雅黑" panose="020B0503020204020204" charset="-122"/>
                <a:cs typeface="微软雅黑" panose="020B0503020204020204" charset="-122"/>
              </a:rPr>
              <a:t>励贡献</a:t>
            </a:r>
            <a:endParaRPr sz="1200"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Aft>
                <a:spcPts val="1000"/>
              </a:spcAft>
              <a:defRPr sz="115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200">
                <a:ea typeface="微软雅黑" panose="020B0503020204020204" charset="-122"/>
                <a:cs typeface="微软雅黑" panose="020B0503020204020204" charset="-122"/>
              </a:rPr>
              <a:t>• 保健因素+激励因素双轮驱动</a:t>
            </a:r>
            <a:endParaRPr sz="1200"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ounded Rectangle 15"/>
          <p:cNvSpPr/>
          <p:nvPr>
            <p:custDataLst>
              <p:tags r:id="rId10"/>
            </p:custDataLst>
          </p:nvPr>
        </p:nvSpPr>
        <p:spPr>
          <a:xfrm>
            <a:off x="9198863" y="2057400"/>
            <a:ext cx="2514600" cy="411480"/>
          </a:xfrm>
          <a:prstGeom prst="roundRect">
            <a:avLst>
              <a:gd name="adj" fmla="val 15000"/>
            </a:avLst>
          </a:prstGeom>
          <a:solidFill>
            <a:srgbClr val="E24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动态调整</a:t>
            </a:r>
            <a:endParaRPr>
              <a:ea typeface="微软雅黑" panose="020B0503020204020204" charset="-122"/>
            </a:endParaRPr>
          </a:p>
        </p:txBody>
      </p:sp>
      <p:sp>
        <p:nvSpPr>
          <p:cNvPr id="35" name="TextBox 16"/>
          <p:cNvSpPr txBox="1"/>
          <p:nvPr>
            <p:custDataLst>
              <p:tags r:id="rId11"/>
            </p:custDataLst>
          </p:nvPr>
        </p:nvSpPr>
        <p:spPr>
          <a:xfrm>
            <a:off x="9198863" y="2640330"/>
            <a:ext cx="251460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E24D22"/>
                </a:solidFill>
                <a:latin typeface="微软雅黑" panose="020B0503020204020204" charset="-122"/>
              </a:defRPr>
            </a:pPr>
            <a:r>
              <a:rPr sz="1200">
                <a:solidFill>
                  <a:srgbClr val="E8590C"/>
                </a:solidFill>
                <a:ea typeface="微软雅黑" panose="020B0503020204020204" charset="-122"/>
              </a:rPr>
              <a:t>运行机制</a:t>
            </a:r>
            <a:endParaRPr sz="1200">
              <a:solidFill>
                <a:srgbClr val="E8590C"/>
              </a:solidFill>
              <a:ea typeface="微软雅黑" panose="020B0503020204020204" charset="-122"/>
            </a:endParaRPr>
          </a:p>
        </p:txBody>
      </p:sp>
      <p:sp>
        <p:nvSpPr>
          <p:cNvPr id="36" name="TextBox 17"/>
          <p:cNvSpPr txBox="1"/>
          <p:nvPr>
            <p:custDataLst>
              <p:tags r:id="rId12"/>
            </p:custDataLst>
          </p:nvPr>
        </p:nvSpPr>
        <p:spPr>
          <a:xfrm>
            <a:off x="9244965" y="2960370"/>
            <a:ext cx="2504440" cy="180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  <a:defRPr sz="115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200">
                <a:ea typeface="微软雅黑" panose="020B0503020204020204" charset="-122"/>
                <a:cs typeface="微软雅黑" panose="020B0503020204020204" charset="-122"/>
              </a:rPr>
              <a:t>• 薪酬随绩效、能力、市场变化动</a:t>
            </a:r>
            <a:endParaRPr sz="1200"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Aft>
                <a:spcPts val="1000"/>
              </a:spcAft>
              <a:defRPr sz="115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000"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sz="1000"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>
                <a:ea typeface="微软雅黑" panose="020B0503020204020204" charset="-122"/>
                <a:cs typeface="微软雅黑" panose="020B0503020204020204" charset="-122"/>
              </a:rPr>
              <a:t>态调整</a:t>
            </a:r>
            <a:endParaRPr sz="1200"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Aft>
                <a:spcPts val="1000"/>
              </a:spcAft>
              <a:defRPr sz="115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200">
                <a:ea typeface="微软雅黑" panose="020B0503020204020204" charset="-122"/>
                <a:cs typeface="微软雅黑" panose="020B0503020204020204" charset="-122"/>
              </a:rPr>
              <a:t>• 高绩效更大调幅，连续C/D冻结</a:t>
            </a:r>
            <a:endParaRPr sz="1200"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Aft>
                <a:spcPts val="1000"/>
              </a:spcAft>
              <a:defRPr sz="115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000"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sz="1000"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>
                <a:ea typeface="微软雅黑" panose="020B0503020204020204" charset="-122"/>
                <a:cs typeface="微软雅黑" panose="020B0503020204020204" charset="-122"/>
              </a:rPr>
              <a:t>调薪</a:t>
            </a:r>
            <a:endParaRPr sz="1200"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Aft>
                <a:spcPts val="1000"/>
              </a:spcAft>
              <a:defRPr sz="115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200">
                <a:ea typeface="微软雅黑" panose="020B0503020204020204" charset="-122"/>
                <a:cs typeface="微软雅黑" panose="020B0503020204020204" charset="-122"/>
              </a:rPr>
              <a:t>• 能升能降，保持体系持续活力</a:t>
            </a:r>
            <a:endParaRPr sz="1200"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Rounded Rectangle 18"/>
          <p:cNvSpPr/>
          <p:nvPr/>
        </p:nvSpPr>
        <p:spPr>
          <a:xfrm>
            <a:off x="630936" y="5257800"/>
            <a:ext cx="10917936" cy="777240"/>
          </a:xfrm>
          <a:prstGeom prst="roundRect">
            <a:avLst>
              <a:gd name="adj" fmla="val 10000"/>
            </a:avLst>
          </a:prstGeom>
          <a:solidFill>
            <a:srgbClr val="FFF0EB"/>
          </a:solidFill>
          <a:ln w="9525">
            <a:solidFill>
              <a:srgbClr val="F5D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TextBox 19"/>
          <p:cNvSpPr txBox="1"/>
          <p:nvPr/>
        </p:nvSpPr>
        <p:spPr>
          <a:xfrm>
            <a:off x="813816" y="5493068"/>
            <a:ext cx="10552176" cy="3067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E24D22"/>
                </a:solidFill>
                <a:latin typeface="微软雅黑" panose="020B0503020204020204" charset="-122"/>
              </a:defRPr>
            </a:pPr>
            <a:r>
              <a:rPr sz="1400">
                <a:solidFill>
                  <a:srgbClr val="E8590C"/>
                </a:solidFill>
                <a:ea typeface="微软雅黑" panose="020B0503020204020204" charset="-122"/>
                <a:cs typeface="微软雅黑" panose="020B0503020204020204" charset="-122"/>
              </a:rPr>
              <a:t>绩效型薪酬体系 = 以岗定级的公平基础  x  以绩定奖的激励导向  x  固浮结合的结构设计  x  动态调整的运行机制</a:t>
            </a:r>
            <a:endParaRPr sz="1400">
              <a:solidFill>
                <a:srgbClr val="E8590C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9" name="Picture 5"/>
          <p:cNvPicPr>
            <a:picLocks noChangeAspect="1"/>
          </p:cNvPicPr>
          <p:nvPr/>
        </p:nvPicPr>
        <p:blipFill>
          <a:blip r:embed="rId13"/>
          <a:srcRect l="59" r="59"/>
          <a:stretch>
            <a:fillRect/>
          </a:stretch>
        </p:blipFill>
        <p:spPr>
          <a:xfrm>
            <a:off x="10896600" y="228600"/>
            <a:ext cx="1016000" cy="850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E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600" y="533400"/>
            <a:ext cx="76200" cy="660400"/>
          </a:xfrm>
          <a:prstGeom prst="roundRect">
            <a:avLst>
              <a:gd name="adj" fmla="val 0"/>
            </a:avLst>
          </a:prstGeom>
          <a:solidFill>
            <a:srgbClr val="E859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838200" y="482600"/>
            <a:ext cx="6350000" cy="254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altLang="zh-CN" sz="1200" b="1" i="0" u="none" strike="noStrike" spc="100">
                <a:solidFill>
                  <a:srgbClr val="E859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Position · Person · Per</a:t>
            </a:r>
            <a:r>
              <a:rPr lang="en-US" altLang="zh-CN" sz="1200" b="1" i="0" u="none" strike="noStrike" spc="100">
                <a:solidFill>
                  <a:srgbClr val="E859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formance</a:t>
            </a:r>
            <a:endParaRPr lang="en-US" altLang="zh-CN" sz="1200" b="1" i="0" u="none" strike="noStrike" spc="100">
              <a:solidFill>
                <a:srgbClr val="E8590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838200" y="711200"/>
            <a:ext cx="7620000" cy="508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800" b="1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薪酬结构</a:t>
            </a:r>
            <a:r>
              <a:rPr lang="zh-CN" altLang="en-US" sz="2800" b="1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调整</a:t>
            </a:r>
            <a:endParaRPr lang="zh-CN" altLang="en-US" sz="2800" b="1" i="0" u="none" strike="noStrike">
              <a:solidFill>
                <a:srgbClr val="2A21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 l="59" r="59"/>
          <a:stretch>
            <a:fillRect/>
          </a:stretch>
        </p:blipFill>
        <p:spPr>
          <a:xfrm>
            <a:off x="10896600" y="228600"/>
            <a:ext cx="1016000" cy="850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graphicFrame>
        <p:nvGraphicFramePr>
          <p:cNvPr id="25" name="Table 6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685800" y="1652905"/>
          <a:ext cx="10802620" cy="175895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123950"/>
                <a:gridCol w="1328420"/>
                <a:gridCol w="2210435"/>
                <a:gridCol w="6139815"/>
              </a:tblGrid>
              <a:tr h="458470">
                <a:tc>
                  <a:txBody>
                    <a:bodyPr rtlCol="0"/>
                    <a:lstStyle/>
                    <a:p>
                      <a:pPr algn="ctr">
                        <a:buNone/>
                      </a:pPr>
                      <a:r>
                        <a:rPr lang="zh-CN" altLang="en-US" sz="120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体系</a:t>
                      </a:r>
                      <a:endParaRPr lang="zh-CN" altLang="en-US" sz="120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2320A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buNone/>
                      </a:pPr>
                      <a:r>
                        <a:rPr lang="zh-CN" altLang="en-US" sz="120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基本薪资</a:t>
                      </a:r>
                      <a:endParaRPr lang="zh-CN" altLang="en-US" sz="120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2320A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buNone/>
                      </a:pPr>
                      <a:r>
                        <a:rPr lang="zh-CN" altLang="en-US" sz="120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固浮比</a:t>
                      </a:r>
                      <a:endParaRPr lang="zh-CN" altLang="en-US" sz="120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2320A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buNone/>
                      </a:pPr>
                      <a:r>
                        <a:rPr lang="zh-CN" altLang="en-US" sz="120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薪酬结构</a:t>
                      </a:r>
                      <a:endParaRPr lang="zh-CN" altLang="en-US" sz="120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2320A">
                        <a:alpha val="100000"/>
                      </a:srgbClr>
                    </a:solidFill>
                  </a:tcPr>
                </a:tc>
              </a:tr>
              <a:tr h="553085">
                <a:tc>
                  <a:txBody>
                    <a:bodyPr rtlCol="0"/>
                    <a:lstStyle/>
                    <a:p>
                      <a:pPr algn="l">
                        <a:buNone/>
                      </a:pP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职能</a:t>
                      </a:r>
                      <a:endParaRPr lang="zh-CN" altLang="en-US" sz="120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algn="l"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13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薪</a:t>
                      </a:r>
                      <a:endParaRPr lang="zh-CN" altLang="en-US" sz="120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algn="l"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：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</a:t>
                      </a:r>
                      <a:endParaRPr lang="en-US" altLang="zh-CN" sz="120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algn="l">
                        <a:buNone/>
                      </a:pP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月薪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*12+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季度绩效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+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年终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个月月薪</a:t>
                      </a:r>
                      <a:endParaRPr lang="zh-CN" altLang="en-US" sz="120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47395">
                <a:tc>
                  <a:txBody>
                    <a:bodyPr rtlCol="0"/>
                    <a:lstStyle/>
                    <a:p>
                      <a:pPr algn="l">
                        <a:buNone/>
                      </a:pP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业务</a:t>
                      </a:r>
                      <a:endParaRPr lang="zh-CN" altLang="en-US" sz="120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0E1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algn="l"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12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薪</a:t>
                      </a:r>
                      <a:endParaRPr lang="zh-CN" altLang="en-US" sz="120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0E1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algn="l">
                        <a:lnSpc>
                          <a:spcPct val="140000"/>
                        </a:lnSpc>
                        <a:buNone/>
                      </a:pP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部门负责人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6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：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</a:t>
                      </a:r>
                      <a:endParaRPr lang="en-US" altLang="zh-CN" sz="120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40000"/>
                        </a:lnSpc>
                        <a:buNone/>
                      </a:pP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员工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7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：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</a:t>
                      </a:r>
                      <a:endParaRPr lang="en-US" altLang="zh-CN" sz="120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0E1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algn="l">
                        <a:buNone/>
                      </a:pP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月薪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*12+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月度绩效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季度绩效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+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季度单项奖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+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年度超额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利润奖金池分配</a:t>
                      </a:r>
                      <a:endParaRPr lang="zh-CN" altLang="en-US" sz="120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0E1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7" name="AutoShape 6"/>
          <p:cNvSpPr/>
          <p:nvPr>
            <p:custDataLst>
              <p:tags r:id="rId3"/>
            </p:custDataLst>
          </p:nvPr>
        </p:nvSpPr>
        <p:spPr>
          <a:xfrm>
            <a:off x="685800" y="3665855"/>
            <a:ext cx="5252085" cy="2753995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0D9C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7"/>
          <p:cNvSpPr/>
          <p:nvPr>
            <p:custDataLst>
              <p:tags r:id="rId4"/>
            </p:custDataLst>
          </p:nvPr>
        </p:nvSpPr>
        <p:spPr>
          <a:xfrm>
            <a:off x="662940" y="3665855"/>
            <a:ext cx="5292000" cy="76200"/>
          </a:xfrm>
          <a:prstGeom prst="roundRect">
            <a:avLst>
              <a:gd name="adj" fmla="val 50000"/>
            </a:avLst>
          </a:prstGeom>
          <a:solidFill>
            <a:srgbClr val="E859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8"/>
          <p:cNvSpPr/>
          <p:nvPr>
            <p:custDataLst>
              <p:tags r:id="rId5"/>
            </p:custDataLst>
          </p:nvPr>
        </p:nvSpPr>
        <p:spPr>
          <a:xfrm>
            <a:off x="1945640" y="3928745"/>
            <a:ext cx="2921000" cy="381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zh-CN" altLang="en-US" sz="1700" b="1" i="0" u="none" strike="noStrike">
                <a:solidFill>
                  <a:srgbClr val="B232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职能</a:t>
            </a:r>
            <a:endParaRPr lang="zh-CN" altLang="en-US" sz="1700" b="1" i="0" u="none" strike="noStrike">
              <a:solidFill>
                <a:srgbClr val="B232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0" name="AutoShape 9"/>
          <p:cNvSpPr/>
          <p:nvPr>
            <p:custDataLst>
              <p:tags r:id="rId6"/>
            </p:custDataLst>
          </p:nvPr>
        </p:nvSpPr>
        <p:spPr>
          <a:xfrm>
            <a:off x="990600" y="4465955"/>
            <a:ext cx="4747260" cy="1655445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60000"/>
              </a:lnSpc>
              <a:defRPr/>
            </a:pPr>
            <a:r>
              <a:rPr lang="en-US" sz="12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</a:t>
            </a:r>
            <a:r>
              <a:rPr lang="zh-CN" altLang="en-US" sz="12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月薪：按职级及岗位序列</a:t>
            </a:r>
            <a:r>
              <a:rPr lang="zh-CN" altLang="en-US" sz="12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定薪</a:t>
            </a:r>
            <a:endParaRPr lang="zh-CN" altLang="en-US" sz="1200" b="0" i="0" u="none" strike="noStrike">
              <a:solidFill>
                <a:srgbClr val="2A21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60000"/>
              </a:lnSpc>
              <a:defRPr/>
            </a:pPr>
            <a:r>
              <a:rPr lang="en-US" sz="12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</a:t>
            </a:r>
            <a:r>
              <a:rPr lang="zh-CN" altLang="en-US" sz="12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季度绩效</a:t>
            </a:r>
            <a:r>
              <a:rPr lang="en-US" altLang="zh-CN" sz="12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= </a:t>
            </a:r>
            <a:r>
              <a:rPr lang="zh-CN" altLang="en-US" sz="12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奖金基数</a:t>
            </a:r>
            <a:r>
              <a:rPr lang="en-US" altLang="zh-CN" sz="12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* </a:t>
            </a:r>
            <a:r>
              <a:rPr lang="zh-CN" altLang="en-US" sz="12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考核系数</a:t>
            </a:r>
            <a:r>
              <a:rPr lang="en-US" altLang="zh-CN" sz="12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* </a:t>
            </a:r>
            <a:r>
              <a:rPr lang="zh-CN" altLang="en-US" sz="12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时间系数</a:t>
            </a:r>
            <a:endParaRPr lang="zh-CN" altLang="en-US" sz="1200" b="0" i="0" u="none" strike="noStrike">
              <a:solidFill>
                <a:srgbClr val="2A21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60000"/>
              </a:lnSpc>
            </a:pPr>
            <a:r>
              <a:rPr lang="en-US" sz="12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</a:t>
            </a:r>
            <a:r>
              <a:rPr lang="zh-CN" altLang="en-US" sz="12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年终奖金</a:t>
            </a:r>
            <a:r>
              <a:rPr lang="en-US" altLang="zh-CN" sz="12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= </a:t>
            </a:r>
            <a:r>
              <a:rPr lang="zh-CN" altLang="en-US" sz="12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年平均基本工资</a:t>
            </a:r>
            <a:r>
              <a:rPr lang="en-US" altLang="zh-CN" sz="12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* </a:t>
            </a:r>
            <a:r>
              <a:rPr lang="zh-CN" altLang="en-US" sz="12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度公司系数</a:t>
            </a:r>
            <a:r>
              <a:rPr lang="en-US" altLang="zh-CN" sz="12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* </a:t>
            </a:r>
            <a:r>
              <a:rPr lang="zh-CN" altLang="en-US" sz="12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时间系数</a:t>
            </a:r>
            <a:endParaRPr lang="zh-CN" altLang="en-US" sz="1200" b="0" i="0" u="none" strike="noStrike">
              <a:solidFill>
                <a:srgbClr val="2A21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60000"/>
              </a:lnSpc>
            </a:pPr>
            <a:r>
              <a:rPr lang="zh-CN" altLang="en-US" sz="12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公司系数：利润未达成未</a:t>
            </a:r>
            <a:r>
              <a:rPr lang="en-US" altLang="zh-CN" sz="12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0.8</a:t>
            </a:r>
            <a:r>
              <a:rPr lang="zh-CN" altLang="en-US" sz="12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；达成后按年度业绩达成率计算，低于</a:t>
            </a:r>
            <a:r>
              <a:rPr lang="en-US" altLang="zh-CN" sz="12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0.8</a:t>
            </a:r>
            <a:r>
              <a:rPr lang="zh-CN" altLang="en-US" sz="12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按</a:t>
            </a:r>
            <a:r>
              <a:rPr lang="en-US" altLang="zh-CN" sz="12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0.80</a:t>
            </a:r>
            <a:r>
              <a:rPr lang="zh-CN" altLang="en-US" sz="12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，高于</a:t>
            </a:r>
            <a:r>
              <a:rPr lang="en-US" altLang="zh-CN" sz="12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1.2</a:t>
            </a:r>
            <a:r>
              <a:rPr lang="zh-CN" altLang="en-US" sz="12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按</a:t>
            </a:r>
            <a:r>
              <a:rPr lang="en-US" altLang="zh-CN" sz="12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1.20</a:t>
            </a:r>
            <a:r>
              <a:rPr lang="zh-CN" altLang="en-US" sz="12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，保留</a:t>
            </a:r>
            <a:r>
              <a:rPr lang="en-US" altLang="zh-CN" sz="12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</a:t>
            </a:r>
            <a:r>
              <a:rPr lang="zh-CN" altLang="en-US" sz="12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位</a:t>
            </a:r>
            <a:r>
              <a:rPr lang="zh-CN" altLang="en-US" sz="12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小数</a:t>
            </a:r>
            <a:endParaRPr lang="zh-CN" altLang="en-US" sz="1200" b="0" i="0" u="none" strike="noStrike">
              <a:solidFill>
                <a:srgbClr val="2A21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2" name="AutoShape 6"/>
          <p:cNvSpPr/>
          <p:nvPr>
            <p:custDataLst>
              <p:tags r:id="rId7"/>
            </p:custDataLst>
          </p:nvPr>
        </p:nvSpPr>
        <p:spPr>
          <a:xfrm>
            <a:off x="6219190" y="3667125"/>
            <a:ext cx="5255895" cy="2752725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0D9C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7"/>
          <p:cNvSpPr/>
          <p:nvPr>
            <p:custDataLst>
              <p:tags r:id="rId8"/>
            </p:custDataLst>
          </p:nvPr>
        </p:nvSpPr>
        <p:spPr>
          <a:xfrm>
            <a:off x="6196330" y="3667125"/>
            <a:ext cx="5292000" cy="76200"/>
          </a:xfrm>
          <a:prstGeom prst="roundRect">
            <a:avLst>
              <a:gd name="adj" fmla="val 50000"/>
            </a:avLst>
          </a:prstGeom>
          <a:solidFill>
            <a:srgbClr val="E859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8"/>
          <p:cNvSpPr/>
          <p:nvPr>
            <p:custDataLst>
              <p:tags r:id="rId9"/>
            </p:custDataLst>
          </p:nvPr>
        </p:nvSpPr>
        <p:spPr>
          <a:xfrm>
            <a:off x="7479030" y="3930015"/>
            <a:ext cx="2921000" cy="381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zh-CN" altLang="en-US" sz="1700" b="1" i="0" u="none" strike="noStrike">
                <a:solidFill>
                  <a:srgbClr val="B232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业务</a:t>
            </a:r>
            <a:endParaRPr lang="zh-CN" altLang="en-US" sz="1700" b="1" i="0" u="none" strike="noStrike">
              <a:solidFill>
                <a:srgbClr val="B232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5" name="AutoShape 9"/>
          <p:cNvSpPr/>
          <p:nvPr>
            <p:custDataLst>
              <p:tags r:id="rId10"/>
            </p:custDataLst>
          </p:nvPr>
        </p:nvSpPr>
        <p:spPr>
          <a:xfrm>
            <a:off x="6523990" y="4467225"/>
            <a:ext cx="4866640" cy="1655445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60000"/>
              </a:lnSpc>
              <a:defRPr/>
            </a:pPr>
            <a:r>
              <a:rPr lang="en-US" sz="12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</a:t>
            </a:r>
            <a:r>
              <a:rPr lang="zh-CN" altLang="en-US" sz="12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月薪：按职级及岗位序列定心</a:t>
            </a:r>
            <a:endParaRPr lang="zh-CN" altLang="en-US" sz="1200" b="0" i="0" u="none" strike="noStrike">
              <a:solidFill>
                <a:srgbClr val="2A21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60000"/>
              </a:lnSpc>
              <a:defRPr/>
            </a:pPr>
            <a:r>
              <a:rPr lang="en-US" sz="12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</a:t>
            </a:r>
            <a:r>
              <a:rPr lang="zh-CN" altLang="en-US" sz="1200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月度绩效：直播间及一线销售按岗位方案</a:t>
            </a:r>
            <a:r>
              <a:rPr lang="zh-CN" altLang="en-US" sz="1200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执行</a:t>
            </a:r>
            <a:endParaRPr lang="zh-CN" altLang="en-US" sz="1200">
              <a:solidFill>
                <a:srgbClr val="2A21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60000"/>
              </a:lnSpc>
            </a:pPr>
            <a:r>
              <a:rPr lang="en-US" sz="1200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</a:t>
            </a:r>
            <a:r>
              <a:rPr lang="zh-CN" altLang="en-US" sz="12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季度绩效</a:t>
            </a:r>
            <a:r>
              <a:rPr lang="zh-CN" sz="12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：非月度绩效岗参与，计算方式同职能</a:t>
            </a:r>
            <a:endParaRPr lang="zh-CN" altLang="en-US" sz="1200" b="0" i="0" u="none" strike="noStrike">
              <a:solidFill>
                <a:srgbClr val="2A21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60000"/>
              </a:lnSpc>
            </a:pPr>
            <a:r>
              <a:rPr lang="en-US" sz="12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</a:t>
            </a:r>
            <a:r>
              <a:rPr lang="zh-CN" altLang="en-US" sz="12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季度单项奖：业绩达成后用于关键突破或大促超额激励</a:t>
            </a:r>
            <a:endParaRPr lang="zh-CN" altLang="en-US" sz="1200" b="0" i="0" u="none" strike="noStrike">
              <a:solidFill>
                <a:srgbClr val="2A21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60000"/>
              </a:lnSpc>
            </a:pPr>
            <a:r>
              <a:rPr lang="en-US" sz="1200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</a:t>
            </a:r>
            <a:r>
              <a:rPr lang="zh-CN" altLang="en-US" sz="1200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年度超额利润奖金池：利润与业绩均超额，按年度约定</a:t>
            </a:r>
            <a:r>
              <a:rPr lang="zh-CN" altLang="en-US" sz="1200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计提</a:t>
            </a:r>
            <a:endParaRPr lang="zh-CN" altLang="en-US" sz="1200">
              <a:solidFill>
                <a:srgbClr val="2A21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250690" y="1229995"/>
            <a:ext cx="7287895" cy="27559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r"/>
            <a:r>
              <a:rPr lang="zh-CN" altLang="en-US" sz="1200" u="sng">
                <a:solidFill>
                  <a:srgbClr val="E8590C"/>
                </a:solidFill>
                <a:latin typeface="Arial" panose="020B0604020202020204" pitchFamily="34" charset="0"/>
                <a:ea typeface="微软雅黑" panose="020B0503020204020204" charset="-122"/>
              </a:rPr>
              <a:t>参照市场薪酬固浮比，调整员工薪酬结构，半年及年度开放员工调薪。</a:t>
            </a:r>
            <a:endParaRPr lang="zh-CN" altLang="en-US" sz="1200" u="sng">
              <a:solidFill>
                <a:srgbClr val="E8590C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E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600" y="533400"/>
            <a:ext cx="76200" cy="660400"/>
          </a:xfrm>
          <a:prstGeom prst="roundRect">
            <a:avLst>
              <a:gd name="adj" fmla="val 0"/>
            </a:avLst>
          </a:prstGeom>
          <a:solidFill>
            <a:srgbClr val="E859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838200" y="482600"/>
            <a:ext cx="6350000" cy="254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 spc="100">
                <a:solidFill>
                  <a:srgbClr val="E859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CULTURE · 文化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838200" y="711200"/>
            <a:ext cx="8890000" cy="508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中达绩效文化：四个关键词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 l="59" r="59"/>
          <a:stretch>
            <a:fillRect/>
          </a:stretch>
        </p:blipFill>
        <p:spPr>
          <a:xfrm>
            <a:off x="10896600" y="228600"/>
            <a:ext cx="1016000" cy="850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635000" y="1778000"/>
            <a:ext cx="53975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0D9C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635000" y="1778000"/>
            <a:ext cx="5397500" cy="76200"/>
          </a:xfrm>
          <a:prstGeom prst="roundRect">
            <a:avLst>
              <a:gd name="adj" fmla="val 50000"/>
            </a:avLst>
          </a:prstGeom>
          <a:solidFill>
            <a:srgbClr val="E859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889000" y="2057400"/>
            <a:ext cx="4889500" cy="381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B232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对齐业务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89000" y="2540000"/>
            <a:ext cx="4889500" cy="1016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4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目标跟着经营节奏走，全员同向发力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86500" y="1778000"/>
            <a:ext cx="53975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0D9C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286500" y="1778000"/>
            <a:ext cx="5397500" cy="76200"/>
          </a:xfrm>
          <a:prstGeom prst="roundRect">
            <a:avLst>
              <a:gd name="adj" fmla="val 50000"/>
            </a:avLst>
          </a:prstGeom>
          <a:solidFill>
            <a:srgbClr val="E859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540500" y="2057400"/>
            <a:ext cx="4889500" cy="381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B232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轻形式 · 重反馈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540500" y="2540000"/>
            <a:ext cx="4889500" cy="1016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4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扁平管理、拒绝繁文缛节；重视辅导，件件有回音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35000" y="4064000"/>
            <a:ext cx="53975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0D9C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35000" y="4064000"/>
            <a:ext cx="5397500" cy="76200"/>
          </a:xfrm>
          <a:prstGeom prst="roundRect">
            <a:avLst>
              <a:gd name="adj" fmla="val 50000"/>
            </a:avLst>
          </a:prstGeom>
          <a:solidFill>
            <a:srgbClr val="E859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89000" y="4343400"/>
            <a:ext cx="4889500" cy="381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B232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相对公平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89000" y="4826000"/>
            <a:ext cx="4889500" cy="1016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4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没有绝对公平，只有相对公平；多劳/多创/多燃多得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286500" y="4064000"/>
            <a:ext cx="53975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0D9C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286500" y="4064000"/>
            <a:ext cx="5397500" cy="76200"/>
          </a:xfrm>
          <a:prstGeom prst="roundRect">
            <a:avLst>
              <a:gd name="adj" fmla="val 50000"/>
            </a:avLst>
          </a:prstGeom>
          <a:solidFill>
            <a:srgbClr val="E859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540500" y="4343400"/>
            <a:ext cx="4889500" cy="381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B232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发展导向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540500" y="4826000"/>
            <a:ext cx="4889500" cy="1016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4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绩效是成长的镜子，不是秋后算账；以战代练，以评促长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E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600" y="533400"/>
            <a:ext cx="76200" cy="660400"/>
          </a:xfrm>
          <a:prstGeom prst="roundRect">
            <a:avLst>
              <a:gd name="adj" fmla="val 0"/>
            </a:avLst>
          </a:prstGeom>
          <a:solidFill>
            <a:srgbClr val="E859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838200" y="482600"/>
            <a:ext cx="6350000" cy="254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 spc="100">
                <a:solidFill>
                  <a:srgbClr val="E859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ROLES · 职责分工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838200" y="711200"/>
            <a:ext cx="8890000" cy="508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一盘棋：谁来做、做什么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 l="59" r="59"/>
          <a:stretch>
            <a:fillRect/>
          </a:stretch>
        </p:blipFill>
        <p:spPr>
          <a:xfrm>
            <a:off x="10896600" y="228600"/>
            <a:ext cx="1016000" cy="850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1016000" y="1714500"/>
            <a:ext cx="10160000" cy="660400"/>
          </a:xfrm>
          <a:prstGeom prst="roundRect">
            <a:avLst>
              <a:gd name="adj" fmla="val 1538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0D9C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270000" y="1714500"/>
            <a:ext cx="2540000" cy="660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B232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绩效管理委员会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3937000" y="1714500"/>
            <a:ext cx="6985000" cy="660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审批制度 · 定分布比例 · 裁争议与重大申诉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2501900"/>
            <a:ext cx="10160000" cy="660400"/>
          </a:xfrm>
          <a:prstGeom prst="roundRect">
            <a:avLst>
              <a:gd name="adj" fmla="val 1538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0D9C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270000" y="2501900"/>
            <a:ext cx="2540000" cy="660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B232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人力资源部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937000" y="2501900"/>
            <a:ext cx="6985000" cy="660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统筹周期运行 · 组织校准 · 受理申诉 · 人才盘点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16000" y="3289300"/>
            <a:ext cx="10160000" cy="660400"/>
          </a:xfrm>
          <a:prstGeom prst="roundRect">
            <a:avLst>
              <a:gd name="adj" fmla="val 15384"/>
            </a:avLst>
          </a:prstGeom>
          <a:solidFill>
            <a:srgbClr val="B2320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1270000" y="3289300"/>
            <a:ext cx="2540000" cy="660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部门负责人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937000" y="3289300"/>
            <a:ext cx="6985000" cy="660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设目标 · 跟过程 · 评估与强制分布选择 · 面谈 · 用结果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16000" y="4076700"/>
            <a:ext cx="10160000" cy="660400"/>
          </a:xfrm>
          <a:prstGeom prst="roundRect">
            <a:avLst>
              <a:gd name="adj" fmla="val 1538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0D9C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1270000" y="4076700"/>
            <a:ext cx="2540000" cy="660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B232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HRBP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3937000" y="4076700"/>
            <a:ext cx="6985000" cy="660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帮业务落地 · 监控时效 · 接申诉 · 管档案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016000" y="4864100"/>
            <a:ext cx="10160000" cy="660400"/>
          </a:xfrm>
          <a:prstGeom prst="roundRect">
            <a:avLst>
              <a:gd name="adj" fmla="val 1538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0D9C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1270000" y="4864100"/>
            <a:ext cx="2540000" cy="660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B232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员工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3937000" y="4864100"/>
            <a:ext cx="6985000" cy="660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参与设目标 · 自评 · 接受辅导改进 · 对结果负责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1016000" y="5778500"/>
            <a:ext cx="10160000" cy="3175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67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备注：绩效管理委员会由 CEO 及各部门负责人组成 —— 部门负责人既是执行者，也是决策者。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E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600" y="533400"/>
            <a:ext cx="76200" cy="660400"/>
          </a:xfrm>
          <a:prstGeom prst="roundRect">
            <a:avLst>
              <a:gd name="adj" fmla="val 0"/>
            </a:avLst>
          </a:prstGeom>
          <a:solidFill>
            <a:srgbClr val="E859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838200" y="482600"/>
            <a:ext cx="6350000" cy="254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 spc="100">
                <a:solidFill>
                  <a:srgbClr val="E859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PROCESS · 全周期闭环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838200" y="711200"/>
            <a:ext cx="8890000" cy="508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绩效管理五步闭环（PDCA）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 l="59" r="59"/>
          <a:stretch>
            <a:fillRect/>
          </a:stretch>
        </p:blipFill>
        <p:spPr>
          <a:xfrm>
            <a:off x="10896600" y="228600"/>
            <a:ext cx="1016000" cy="850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1517650" y="2286000"/>
            <a:ext cx="1016000" cy="1016000"/>
          </a:xfrm>
          <a:prstGeom prst="ellipse">
            <a:avLst/>
          </a:prstGeom>
          <a:solidFill>
            <a:srgbClr val="E859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263650" y="3429000"/>
            <a:ext cx="1524000" cy="3048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目标设定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136650" y="3746500"/>
            <a:ext cx="1778000" cy="508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786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三级对齐·SMART·双向共识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49107">
            <a:off x="2597195" y="2787650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F97316">
                <a:alpha val="60000"/>
              </a:srgbClr>
            </a:solidFill>
            <a:prstDash val="solid"/>
            <a:round/>
            <a:headEnd type="none" w="lg" len="lg"/>
            <a:tailEnd type="triangle" w="med" len="sm"/>
          </a:ln>
        </p:spPr>
      </p:cxnSp>
      <p:sp>
        <p:nvSpPr>
          <p:cNvPr id="10" name="AutoShape 10"/>
          <p:cNvSpPr/>
          <p:nvPr/>
        </p:nvSpPr>
        <p:spPr>
          <a:xfrm>
            <a:off x="3549650" y="2286000"/>
            <a:ext cx="1016000" cy="1016000"/>
          </a:xfrm>
          <a:prstGeom prst="ellipse">
            <a:avLst/>
          </a:prstGeom>
          <a:solidFill>
            <a:srgbClr val="E859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295650" y="3429000"/>
            <a:ext cx="1524000" cy="3048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过程跟进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168650" y="3746500"/>
            <a:ext cx="1778000" cy="508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786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定期面谈·48h反馈·辅导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49107">
            <a:off x="4629195" y="2787650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F97316">
                <a:alpha val="60000"/>
              </a:srgbClr>
            </a:solidFill>
            <a:prstDash val="solid"/>
            <a:round/>
            <a:headEnd type="none" w="lg" len="lg"/>
            <a:tailEnd type="triangle" w="med" len="sm"/>
          </a:ln>
        </p:spPr>
      </p:cxnSp>
      <p:sp>
        <p:nvSpPr>
          <p:cNvPr id="14" name="AutoShape 14"/>
          <p:cNvSpPr/>
          <p:nvPr/>
        </p:nvSpPr>
        <p:spPr>
          <a:xfrm>
            <a:off x="5581650" y="2286000"/>
            <a:ext cx="1016000" cy="1016000"/>
          </a:xfrm>
          <a:prstGeom prst="ellipse">
            <a:avLst/>
          </a:prstGeom>
          <a:solidFill>
            <a:srgbClr val="E859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3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5327650" y="3429000"/>
            <a:ext cx="1524000" cy="3048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评估校准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5200650" y="3746500"/>
            <a:ext cx="1778000" cy="508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786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百分制·排序·校准会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49107">
            <a:off x="6661195" y="2787650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F97316">
                <a:alpha val="60000"/>
              </a:srgbClr>
            </a:solidFill>
            <a:prstDash val="solid"/>
            <a:round/>
            <a:headEnd type="none" w="lg" len="lg"/>
            <a:tailEnd type="triangle" w="med" len="sm"/>
          </a:ln>
        </p:spPr>
      </p:cxnSp>
      <p:sp>
        <p:nvSpPr>
          <p:cNvPr id="18" name="AutoShape 18"/>
          <p:cNvSpPr/>
          <p:nvPr/>
        </p:nvSpPr>
        <p:spPr>
          <a:xfrm>
            <a:off x="7613650" y="2286000"/>
            <a:ext cx="1016000" cy="1016000"/>
          </a:xfrm>
          <a:prstGeom prst="ellipse">
            <a:avLst/>
          </a:prstGeom>
          <a:solidFill>
            <a:srgbClr val="E859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4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359650" y="3429000"/>
            <a:ext cx="1524000" cy="3048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反馈面谈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232650" y="3746500"/>
            <a:ext cx="1778000" cy="508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786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一人一谈·2701框架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49107">
            <a:off x="8693195" y="2787650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F97316">
                <a:alpha val="60000"/>
              </a:srgbClr>
            </a:solidFill>
            <a:prstDash val="solid"/>
            <a:round/>
            <a:headEnd type="none" w="lg" len="lg"/>
            <a:tailEnd type="triangle" w="med" len="sm"/>
          </a:ln>
        </p:spPr>
      </p:cxnSp>
      <p:sp>
        <p:nvSpPr>
          <p:cNvPr id="22" name="AutoShape 22"/>
          <p:cNvSpPr/>
          <p:nvPr/>
        </p:nvSpPr>
        <p:spPr>
          <a:xfrm>
            <a:off x="9645650" y="2286000"/>
            <a:ext cx="1016000" cy="1016000"/>
          </a:xfrm>
          <a:prstGeom prst="ellipse">
            <a:avLst/>
          </a:prstGeom>
          <a:solidFill>
            <a:srgbClr val="B2320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5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391650" y="3429000"/>
            <a:ext cx="1524000" cy="3048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结果应用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9264650" y="3746500"/>
            <a:ext cx="1778000" cy="508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786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奖金/晋升/PIP/淘汰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1016000" y="5080000"/>
            <a:ext cx="10160000" cy="762000"/>
          </a:xfrm>
          <a:prstGeom prst="roundRect">
            <a:avLst>
              <a:gd name="adj" fmla="val 13333"/>
            </a:avLst>
          </a:prstGeom>
          <a:solidFill>
            <a:srgbClr val="B2320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闭环回到「目标设定」，形成 PDCA 持续改进循环 —— 当期结果直接承接下一周期目标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E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600" y="533400"/>
            <a:ext cx="76200" cy="660400"/>
          </a:xfrm>
          <a:prstGeom prst="roundRect">
            <a:avLst>
              <a:gd name="adj" fmla="val 0"/>
            </a:avLst>
          </a:prstGeom>
          <a:solidFill>
            <a:srgbClr val="E859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838200" y="482600"/>
            <a:ext cx="6350000" cy="254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 spc="100">
                <a:solidFill>
                  <a:srgbClr val="E859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步骤 ① · 目标设定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838200" y="711200"/>
            <a:ext cx="8890000" cy="508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目标设定：对齐 + 共识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 l="59" r="59"/>
          <a:stretch>
            <a:fillRect/>
          </a:stretch>
        </p:blipFill>
        <p:spPr>
          <a:xfrm>
            <a:off x="10896600" y="228600"/>
            <a:ext cx="1016000" cy="850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>
            <p:custDataLst>
              <p:tags r:id="rId2"/>
            </p:custDataLst>
          </p:nvPr>
        </p:nvSpPr>
        <p:spPr>
          <a:xfrm>
            <a:off x="635000" y="1778000"/>
            <a:ext cx="3429000" cy="43180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0D9C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>
            <p:custDataLst>
              <p:tags r:id="rId3"/>
            </p:custDataLst>
          </p:nvPr>
        </p:nvSpPr>
        <p:spPr>
          <a:xfrm>
            <a:off x="635000" y="1778000"/>
            <a:ext cx="3429000" cy="76200"/>
          </a:xfrm>
          <a:prstGeom prst="roundRect">
            <a:avLst>
              <a:gd name="adj" fmla="val 50000"/>
            </a:avLst>
          </a:prstGeom>
          <a:solidFill>
            <a:srgbClr val="E859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>
            <p:custDataLst>
              <p:tags r:id="rId4"/>
            </p:custDataLst>
          </p:nvPr>
        </p:nvSpPr>
        <p:spPr>
          <a:xfrm>
            <a:off x="889000" y="2057400"/>
            <a:ext cx="2921000" cy="381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B232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三级对齐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5"/>
            </p:custDataLst>
          </p:nvPr>
        </p:nvSpPr>
        <p:spPr>
          <a:xfrm>
            <a:off x="914400" y="2603500"/>
            <a:ext cx="2870200" cy="3302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3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公司规划采用平衡记分卡(BSC)分解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3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部门目标 → 个人 KPI / OKR</a:t>
            </a:r>
            <a:endParaRPr lang="en-US" sz="1300" b="0" i="0" u="none" strike="noStrike">
              <a:solidFill>
                <a:srgbClr val="2A21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3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公司—部门—个人纵向贯通·横向协同</a:t>
            </a:r>
            <a:endParaRPr lang="en-US" sz="1300" b="0" i="0" u="none" strike="noStrike">
              <a:solidFill>
                <a:srgbClr val="2A21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3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部门负责人目标由</a:t>
            </a:r>
            <a:r>
              <a:rPr lang="zh-CN" altLang="en-US" sz="13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年度</a:t>
            </a:r>
            <a:r>
              <a:rPr lang="zh-CN" altLang="en-US" sz="13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组织战略目标解码</a:t>
            </a:r>
            <a:r>
              <a:rPr lang="zh-CN" altLang="en-US" sz="13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产出，</a:t>
            </a:r>
            <a:r>
              <a:rPr lang="en-US" sz="13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HR 拉通、CEO 确认</a:t>
            </a:r>
            <a:endParaRPr lang="en-US" sz="1300" b="0" i="0" u="none" strike="noStrike">
              <a:solidFill>
                <a:srgbClr val="2A21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" name="AutoShape 10"/>
          <p:cNvSpPr/>
          <p:nvPr>
            <p:custDataLst>
              <p:tags r:id="rId6"/>
            </p:custDataLst>
          </p:nvPr>
        </p:nvSpPr>
        <p:spPr>
          <a:xfrm>
            <a:off x="4381500" y="1778000"/>
            <a:ext cx="3429000" cy="43180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0D9C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>
            <p:custDataLst>
              <p:tags r:id="rId7"/>
            </p:custDataLst>
          </p:nvPr>
        </p:nvSpPr>
        <p:spPr>
          <a:xfrm>
            <a:off x="4381500" y="1778000"/>
            <a:ext cx="3429000" cy="76200"/>
          </a:xfrm>
          <a:prstGeom prst="roundRect">
            <a:avLst>
              <a:gd name="adj" fmla="val 50000"/>
            </a:avLst>
          </a:prstGeom>
          <a:solidFill>
            <a:srgbClr val="E859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>
            <p:custDataLst>
              <p:tags r:id="rId8"/>
            </p:custDataLst>
          </p:nvPr>
        </p:nvSpPr>
        <p:spPr>
          <a:xfrm>
            <a:off x="4635500" y="2057400"/>
            <a:ext cx="2921000" cy="381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B232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共识原则</a:t>
            </a: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9"/>
            </p:custDataLst>
          </p:nvPr>
        </p:nvSpPr>
        <p:spPr>
          <a:xfrm>
            <a:off x="4660900" y="2603500"/>
            <a:ext cx="2870200" cy="3302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3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符合 SMART（具体·可衡量·可达·相关·有时限）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3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禁止单方面下达未沟通的目标</a:t>
            </a:r>
            <a:endParaRPr lang="en-US" sz="1300" b="0" i="0" u="none" strike="noStrike">
              <a:solidFill>
                <a:srgbClr val="2A21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3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先线下沟通一致，再发起线上审批</a:t>
            </a:r>
            <a:endParaRPr lang="en-US" sz="1300" b="0" i="0" u="none" strike="noStrike">
              <a:solidFill>
                <a:srgbClr val="2A21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3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目标调整每周期≤1次，书面确认报HR</a:t>
            </a:r>
            <a:endParaRPr lang="en-US" sz="1300" b="0" i="0" u="none" strike="noStrike">
              <a:solidFill>
                <a:srgbClr val="2A21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8128000" y="1778000"/>
            <a:ext cx="3429000" cy="43180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0D9C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128000" y="1778000"/>
            <a:ext cx="3429000" cy="76200"/>
          </a:xfrm>
          <a:prstGeom prst="roundRect">
            <a:avLst>
              <a:gd name="adj" fmla="val 50000"/>
            </a:avLst>
          </a:prstGeom>
          <a:solidFill>
            <a:srgbClr val="E859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382000" y="2057400"/>
            <a:ext cx="2921000" cy="381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B232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权重建议（合计=100%）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407400" y="2603500"/>
            <a:ext cx="2870200" cy="3302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3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KPI 关键结果指标 60%–80%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3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OKR 过程/创新目标 20%–40%</a:t>
            </a:r>
            <a:endParaRPr lang="en-US" sz="1300" b="0" i="0" u="none" strike="noStrike">
              <a:solidFill>
                <a:srgbClr val="2A21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3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行为价值观/胜任力 0%–20%（</a:t>
            </a:r>
            <a:r>
              <a:rPr lang="zh-CN" altLang="en-US" sz="13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年度综合评定考察</a:t>
            </a:r>
            <a:r>
              <a:rPr lang="en-US" sz="13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）</a:t>
            </a:r>
            <a:endParaRPr lang="en-US" sz="1300" b="0" i="0" u="none" strike="noStrike">
              <a:solidFill>
                <a:srgbClr val="2A21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3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KPI 量化结果，OKR 过程突破</a:t>
            </a:r>
            <a:endParaRPr lang="en-US" sz="1300" b="0" i="0" u="none" strike="noStrike">
              <a:solidFill>
                <a:srgbClr val="2A21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E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600" y="533400"/>
            <a:ext cx="76200" cy="660400"/>
          </a:xfrm>
          <a:prstGeom prst="roundRect">
            <a:avLst>
              <a:gd name="adj" fmla="val 0"/>
            </a:avLst>
          </a:prstGeom>
          <a:solidFill>
            <a:srgbClr val="E859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838200" y="482600"/>
            <a:ext cx="6350000" cy="254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 spc="100">
                <a:solidFill>
                  <a:srgbClr val="E859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步骤 ② · 过程跟进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838200" y="711200"/>
            <a:ext cx="8890000" cy="508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过程跟进：别等期末算总账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 l="59" r="59"/>
          <a:stretch>
            <a:fillRect/>
          </a:stretch>
        </p:blipFill>
        <p:spPr>
          <a:xfrm>
            <a:off x="10896600" y="228600"/>
            <a:ext cx="1016000" cy="850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>
            <p:custDataLst>
              <p:tags r:id="rId2"/>
            </p:custDataLst>
          </p:nvPr>
        </p:nvSpPr>
        <p:spPr>
          <a:xfrm>
            <a:off x="635000" y="1778000"/>
            <a:ext cx="3429000" cy="43180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0D9C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>
            <p:custDataLst>
              <p:tags r:id="rId3"/>
            </p:custDataLst>
          </p:nvPr>
        </p:nvSpPr>
        <p:spPr>
          <a:xfrm>
            <a:off x="635000" y="1778000"/>
            <a:ext cx="3429000" cy="76200"/>
          </a:xfrm>
          <a:prstGeom prst="roundRect">
            <a:avLst>
              <a:gd name="adj" fmla="val 50000"/>
            </a:avLst>
          </a:prstGeom>
          <a:solidFill>
            <a:srgbClr val="E859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>
            <p:custDataLst>
              <p:tags r:id="rId4"/>
            </p:custDataLst>
          </p:nvPr>
        </p:nvSpPr>
        <p:spPr>
          <a:xfrm>
            <a:off x="889000" y="2057400"/>
            <a:ext cx="2921000" cy="381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B232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持续追踪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5"/>
            </p:custDataLst>
          </p:nvPr>
        </p:nvSpPr>
        <p:spPr>
          <a:xfrm>
            <a:off x="914400" y="2603500"/>
            <a:ext cx="2870200" cy="3302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3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每周期至少 1 次绩效进展面谈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3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每次跟进留简要记录（纪要/日志）</a:t>
            </a:r>
            <a:endParaRPr lang="en-US" sz="1300" b="0" i="0" u="none" strike="noStrike">
              <a:solidFill>
                <a:srgbClr val="2A21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3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业务变化及时重新对焦优先级</a:t>
            </a:r>
            <a:endParaRPr lang="en-US" sz="1300" b="0" i="0" u="none" strike="noStrike">
              <a:solidFill>
                <a:srgbClr val="2A21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3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避免「期末突击评价」</a:t>
            </a:r>
            <a:endParaRPr lang="en-US" sz="1300" b="0" i="0" u="none" strike="noStrike">
              <a:solidFill>
                <a:srgbClr val="2A21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" name="AutoShape 10"/>
          <p:cNvSpPr/>
          <p:nvPr>
            <p:custDataLst>
              <p:tags r:id="rId6"/>
            </p:custDataLst>
          </p:nvPr>
        </p:nvSpPr>
        <p:spPr>
          <a:xfrm>
            <a:off x="4381500" y="1778000"/>
            <a:ext cx="3429000" cy="43180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0D9C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>
            <p:custDataLst>
              <p:tags r:id="rId7"/>
            </p:custDataLst>
          </p:nvPr>
        </p:nvSpPr>
        <p:spPr>
          <a:xfrm>
            <a:off x="4381500" y="1778000"/>
            <a:ext cx="3429000" cy="76200"/>
          </a:xfrm>
          <a:prstGeom prst="roundRect">
            <a:avLst>
              <a:gd name="adj" fmla="val 50000"/>
            </a:avLst>
          </a:prstGeom>
          <a:solidFill>
            <a:srgbClr val="E859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>
            <p:custDataLst>
              <p:tags r:id="rId8"/>
            </p:custDataLst>
          </p:nvPr>
        </p:nvSpPr>
        <p:spPr>
          <a:xfrm>
            <a:off x="4635500" y="2057400"/>
            <a:ext cx="2921000" cy="381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B232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及时反馈</a:t>
            </a: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9"/>
            </p:custDataLst>
          </p:nvPr>
        </p:nvSpPr>
        <p:spPr>
          <a:xfrm>
            <a:off x="4660900" y="2603500"/>
            <a:ext cx="2858770" cy="3302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3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正向：及时认可，指出「好在哪、为何好」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3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改进：事件后48h内反馈，对事不对人</a:t>
            </a:r>
            <a:endParaRPr lang="en-US" sz="1300" b="0" i="0" u="none" strike="noStrike">
              <a:solidFill>
                <a:srgbClr val="2A21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3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「即时反馈 + 定期复盘」双轨制</a:t>
            </a:r>
            <a:endParaRPr lang="en-US" sz="1300" b="0" i="0" u="none" strike="noStrike">
              <a:solidFill>
                <a:srgbClr val="2A21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3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1:1 面谈 / 即时通讯快速反馈</a:t>
            </a:r>
            <a:endParaRPr lang="en-US" sz="1300" b="0" i="0" u="none" strike="noStrike">
              <a:solidFill>
                <a:srgbClr val="2A21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" name="AutoShape 14"/>
          <p:cNvSpPr/>
          <p:nvPr>
            <p:custDataLst>
              <p:tags r:id="rId10"/>
            </p:custDataLst>
          </p:nvPr>
        </p:nvSpPr>
        <p:spPr>
          <a:xfrm>
            <a:off x="8128000" y="1778000"/>
            <a:ext cx="3429000" cy="43180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F0D9C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>
            <p:custDataLst>
              <p:tags r:id="rId11"/>
            </p:custDataLst>
          </p:nvPr>
        </p:nvSpPr>
        <p:spPr>
          <a:xfrm>
            <a:off x="8128000" y="1778000"/>
            <a:ext cx="3429000" cy="76200"/>
          </a:xfrm>
          <a:prstGeom prst="roundRect">
            <a:avLst>
              <a:gd name="adj" fmla="val 50000"/>
            </a:avLst>
          </a:prstGeom>
          <a:solidFill>
            <a:srgbClr val="E859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>
            <p:custDataLst>
              <p:tags r:id="rId12"/>
            </p:custDataLst>
          </p:nvPr>
        </p:nvSpPr>
        <p:spPr>
          <a:xfrm>
            <a:off x="8382000" y="2057400"/>
            <a:ext cx="2921000" cy="381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B232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辅导支持</a:t>
            </a:r>
            <a:endParaRPr lang="en-US" sz="1100"/>
          </a:p>
        </p:txBody>
      </p:sp>
      <p:sp>
        <p:nvSpPr>
          <p:cNvPr id="17" name="AutoShape 17"/>
          <p:cNvSpPr/>
          <p:nvPr>
            <p:custDataLst>
              <p:tags r:id="rId13"/>
            </p:custDataLst>
          </p:nvPr>
        </p:nvSpPr>
        <p:spPr>
          <a:xfrm>
            <a:off x="8407400" y="2603500"/>
            <a:ext cx="2870200" cy="3302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3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抓准时机：新岗/连续两次未达/求助/发展选择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3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按能力与意愿矩阵灵活切换辅导风格</a:t>
            </a:r>
            <a:endParaRPr lang="en-US" sz="1300" b="0" i="0" u="none" strike="noStrike">
              <a:solidFill>
                <a:srgbClr val="2A21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3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目标—辅导—检查—反馈闭环</a:t>
            </a:r>
            <a:endParaRPr lang="en-US" sz="1300" b="0" i="0" u="none" strike="noStrike">
              <a:solidFill>
                <a:srgbClr val="2A21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E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600" y="533400"/>
            <a:ext cx="76200" cy="660400"/>
          </a:xfrm>
          <a:prstGeom prst="roundRect">
            <a:avLst>
              <a:gd name="adj" fmla="val 0"/>
            </a:avLst>
          </a:prstGeom>
          <a:solidFill>
            <a:srgbClr val="E859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838200" y="482600"/>
            <a:ext cx="6350000" cy="254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 spc="100">
                <a:solidFill>
                  <a:srgbClr val="E859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步骤 ③ · 评估校准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838200" y="711200"/>
            <a:ext cx="8890000" cy="508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评估校准：尺度要公平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 l="59" r="59"/>
          <a:stretch>
            <a:fillRect/>
          </a:stretch>
        </p:blipFill>
        <p:spPr>
          <a:xfrm>
            <a:off x="10896600" y="228600"/>
            <a:ext cx="1016000" cy="850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635000" y="1778000"/>
            <a:ext cx="3429000" cy="43180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0D9C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635000" y="1778000"/>
            <a:ext cx="3429000" cy="76200"/>
          </a:xfrm>
          <a:prstGeom prst="roundRect">
            <a:avLst>
              <a:gd name="adj" fmla="val 50000"/>
            </a:avLst>
          </a:prstGeom>
          <a:solidFill>
            <a:srgbClr val="E859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889000" y="2057400"/>
            <a:ext cx="2921000" cy="381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B232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怎么评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14400" y="2603500"/>
            <a:ext cx="2870200" cy="3302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3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定量打分（百分制）+ 定性评语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3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同团队内部须相对排序</a:t>
            </a:r>
            <a:endParaRPr lang="en-US" sz="1300" b="0" i="0" u="none" strike="noStrike">
              <a:solidFill>
                <a:srgbClr val="2A21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3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评分须有事实/数据支撑，禁主观臆断</a:t>
            </a:r>
            <a:endParaRPr lang="en-US" sz="1300" b="0" i="0" u="none" strike="noStrike">
              <a:solidFill>
                <a:srgbClr val="2A21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3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评估表附关键事件、数据报表佐证</a:t>
            </a:r>
            <a:endParaRPr lang="en-US" sz="1300" b="0" i="0" u="none" strike="noStrike">
              <a:solidFill>
                <a:srgbClr val="2A21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4381500" y="1778000"/>
            <a:ext cx="3429000" cy="43180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0D9C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381500" y="1778000"/>
            <a:ext cx="3429000" cy="76200"/>
          </a:xfrm>
          <a:prstGeom prst="roundRect">
            <a:avLst>
              <a:gd name="adj" fmla="val 50000"/>
            </a:avLst>
          </a:prstGeom>
          <a:solidFill>
            <a:srgbClr val="E859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635500" y="2057400"/>
            <a:ext cx="2921000" cy="381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B232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怎么校准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660900" y="2603500"/>
            <a:ext cx="2870200" cy="3302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3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团队校准会：</a:t>
            </a:r>
            <a:r>
              <a:rPr lang="zh-CN" altLang="en-US" sz="13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部门</a:t>
            </a:r>
            <a:r>
              <a:rPr lang="en-US" sz="13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负责人召集、HRBP 参与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3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跨部门校准：HR 牵头拉通部门差异</a:t>
            </a:r>
            <a:endParaRPr lang="en-US" sz="1300" b="0" i="0" u="none" strike="noStrike">
              <a:solidFill>
                <a:srgbClr val="2A21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3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校准结果留会议纪要，作为调整依据</a:t>
            </a:r>
            <a:endParaRPr lang="en-US" sz="1300" b="0" i="0" u="none" strike="noStrike">
              <a:solidFill>
                <a:srgbClr val="2A21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3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先线下沟通一致，再线上审批</a:t>
            </a:r>
            <a:endParaRPr lang="en-US" sz="1300" b="0" i="0" u="none" strike="noStrike">
              <a:solidFill>
                <a:srgbClr val="2A21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8128000" y="1778000"/>
            <a:ext cx="3429000" cy="4318000"/>
          </a:xfrm>
          <a:prstGeom prst="roundRect">
            <a:avLst>
              <a:gd name="adj" fmla="val 4444"/>
            </a:avLst>
          </a:prstGeom>
          <a:solidFill>
            <a:srgbClr val="B2320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382000" y="2057400"/>
            <a:ext cx="2921000" cy="381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三大红线（校准原则）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407400" y="2603500"/>
            <a:ext cx="2870200" cy="3302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3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同一表现应得相近分，不受偏好影响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3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避免「居中倾向」（全员平均分）</a:t>
            </a:r>
            <a:endParaRPr lang="en-US" sz="1300" b="0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3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避免「宽厚误差」（不敢打低分）</a:t>
            </a:r>
            <a:endParaRPr lang="en-US" sz="1300" b="0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E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600" y="533400"/>
            <a:ext cx="76200" cy="660400"/>
          </a:xfrm>
          <a:prstGeom prst="roundRect">
            <a:avLst>
              <a:gd name="adj" fmla="val 0"/>
            </a:avLst>
          </a:prstGeom>
          <a:solidFill>
            <a:srgbClr val="E859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838200" y="482600"/>
            <a:ext cx="6350000" cy="254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 spc="100">
                <a:solidFill>
                  <a:srgbClr val="E859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步骤 ③ · 评估校准-加减分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838200" y="711200"/>
            <a:ext cx="8890000" cy="508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加分减分：奖优罚劣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 l="59" r="59"/>
          <a:stretch>
            <a:fillRect/>
          </a:stretch>
        </p:blipFill>
        <p:spPr>
          <a:xfrm>
            <a:off x="10896600" y="228600"/>
            <a:ext cx="1016000" cy="850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>
            <p:custDataLst>
              <p:tags r:id="rId2"/>
            </p:custDataLst>
          </p:nvPr>
        </p:nvSpPr>
        <p:spPr>
          <a:xfrm>
            <a:off x="762000" y="1778000"/>
            <a:ext cx="5207000" cy="3653155"/>
          </a:xfrm>
          <a:prstGeom prst="roundRect">
            <a:avLst>
              <a:gd name="adj" fmla="val 3529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0D9C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>
            <p:custDataLst>
              <p:tags r:id="rId3"/>
            </p:custDataLst>
          </p:nvPr>
        </p:nvSpPr>
        <p:spPr>
          <a:xfrm>
            <a:off x="762000" y="1778000"/>
            <a:ext cx="5207000" cy="76200"/>
          </a:xfrm>
          <a:prstGeom prst="roundRect">
            <a:avLst>
              <a:gd name="adj" fmla="val 50000"/>
            </a:avLst>
          </a:prstGeom>
          <a:solidFill>
            <a:srgbClr val="E859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>
            <p:custDataLst>
              <p:tags r:id="rId4"/>
            </p:custDataLst>
          </p:nvPr>
        </p:nvSpPr>
        <p:spPr>
          <a:xfrm>
            <a:off x="1016000" y="2095500"/>
            <a:ext cx="4699000" cy="381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B232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加分项（累计≤10分·单项≤5分）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5"/>
            </p:custDataLst>
          </p:nvPr>
        </p:nvSpPr>
        <p:spPr>
          <a:xfrm>
            <a:off x="1079500" y="2255520"/>
            <a:ext cx="4572000" cy="3175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67000"/>
              </a:lnSpc>
              <a:defRPr/>
            </a:pPr>
            <a:r>
              <a:rPr lang="en-US" sz="14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业务突破：达成率≥120%、标杆客户/重大项目</a:t>
            </a:r>
            <a:endParaRPr lang="en-US" sz="1100"/>
          </a:p>
          <a:p>
            <a:pPr marL="0" indent="0" algn="l">
              <a:lnSpc>
                <a:spcPct val="167000"/>
              </a:lnSpc>
            </a:pPr>
            <a:r>
              <a:rPr lang="en-US" sz="14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创新与效率：流程/技术/模式创新降本增效</a:t>
            </a:r>
            <a:endParaRPr lang="en-US" sz="1400" b="0" i="0" u="none" strike="noStrike">
              <a:solidFill>
                <a:srgbClr val="2A21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67000"/>
              </a:lnSpc>
            </a:pPr>
            <a:r>
              <a:rPr lang="en-US" sz="14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风险规避：及时化解重大经营/合规/安全风险</a:t>
            </a:r>
            <a:endParaRPr lang="en-US" sz="1400" b="0" i="0" u="none" strike="noStrike">
              <a:solidFill>
                <a:srgbClr val="2A21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67000"/>
              </a:lnSpc>
            </a:pPr>
            <a:r>
              <a:rPr lang="en-US" sz="14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人才与知识：高质量带教、继任培养、方法沉淀</a:t>
            </a:r>
            <a:endParaRPr lang="en-US" sz="1400" b="0" i="0" u="none" strike="noStrike">
              <a:solidFill>
                <a:srgbClr val="2A21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67000"/>
              </a:lnSpc>
            </a:pPr>
            <a:r>
              <a:rPr lang="en-US" sz="14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文化标杆：价值观践行、跨部门协作表率</a:t>
            </a:r>
            <a:endParaRPr lang="zh-CN" altLang="en-US" sz="1400" b="0" i="0" u="none" strike="noStrike">
              <a:solidFill>
                <a:srgbClr val="2A21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" name="AutoShape 10"/>
          <p:cNvSpPr/>
          <p:nvPr>
            <p:custDataLst>
              <p:tags r:id="rId6"/>
            </p:custDataLst>
          </p:nvPr>
        </p:nvSpPr>
        <p:spPr>
          <a:xfrm>
            <a:off x="6223000" y="1778000"/>
            <a:ext cx="5207000" cy="3653155"/>
          </a:xfrm>
          <a:prstGeom prst="roundRect">
            <a:avLst>
              <a:gd name="adj" fmla="val 3529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0D9C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>
            <p:custDataLst>
              <p:tags r:id="rId7"/>
            </p:custDataLst>
          </p:nvPr>
        </p:nvSpPr>
        <p:spPr>
          <a:xfrm>
            <a:off x="6223000" y="1778000"/>
            <a:ext cx="5207000" cy="76200"/>
          </a:xfrm>
          <a:prstGeom prst="roundRect">
            <a:avLst>
              <a:gd name="adj" fmla="val 50000"/>
            </a:avLst>
          </a:prstGeom>
          <a:solidFill>
            <a:srgbClr val="B2320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>
            <p:custDataLst>
              <p:tags r:id="rId8"/>
            </p:custDataLst>
          </p:nvPr>
        </p:nvSpPr>
        <p:spPr>
          <a:xfrm>
            <a:off x="6477000" y="2095500"/>
            <a:ext cx="4699000" cy="381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B232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减分项（单项≥10分·红线否决）</a:t>
            </a: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9"/>
            </p:custDataLst>
          </p:nvPr>
        </p:nvSpPr>
        <p:spPr>
          <a:xfrm>
            <a:off x="6540500" y="2255520"/>
            <a:ext cx="4572000" cy="3175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67000"/>
              </a:lnSpc>
              <a:defRPr/>
            </a:pPr>
            <a:r>
              <a:rPr lang="en-US" sz="14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目标延误：关键节点严重延期、交付不达标</a:t>
            </a:r>
            <a:endParaRPr lang="en-US" sz="1100"/>
          </a:p>
          <a:p>
            <a:pPr marL="0" indent="0" algn="l">
              <a:lnSpc>
                <a:spcPct val="167000"/>
              </a:lnSpc>
            </a:pPr>
            <a:r>
              <a:rPr lang="en-US" sz="14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协作失职：跨部门投诉成立、推诿造成损失</a:t>
            </a:r>
            <a:endParaRPr lang="en-US" sz="1400" b="0" i="0" u="none" strike="noStrike">
              <a:solidFill>
                <a:srgbClr val="2A21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67000"/>
              </a:lnSpc>
            </a:pPr>
            <a:r>
              <a:rPr lang="en-US" sz="14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管理失当：对团队问题失察/隐瞒/处理不当</a:t>
            </a:r>
            <a:endParaRPr lang="en-US" sz="1400" b="0" i="0" u="none" strike="noStrike">
              <a:solidFill>
                <a:srgbClr val="2A21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67000"/>
              </a:lnSpc>
            </a:pPr>
            <a:r>
              <a:rPr lang="en-US" sz="14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合规红线：违规/廉洁/数据安全（一票否决）</a:t>
            </a:r>
            <a:endParaRPr lang="en-US" sz="1400" b="0" i="0" u="none" strike="noStrike">
              <a:solidFill>
                <a:srgbClr val="2A21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67000"/>
              </a:lnSpc>
            </a:pPr>
            <a:r>
              <a:rPr lang="en-US" sz="14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执行：须举证·分级审批·纳入校准会审视</a:t>
            </a:r>
            <a:endParaRPr lang="en-US" sz="1400" b="0" i="0" u="none" strike="noStrike">
              <a:solidFill>
                <a:srgbClr val="2A21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045210" y="5572125"/>
            <a:ext cx="10223500" cy="801370"/>
          </a:xfrm>
          <a:prstGeom prst="rect">
            <a:avLst/>
          </a:prstGeom>
        </p:spPr>
        <p:txBody>
          <a:bodyPr wrap="square">
            <a:spAutoFit/>
          </a:bodyPr>
          <a:p>
            <a:pPr algn="ctr">
              <a:lnSpc>
                <a:spcPct val="190000"/>
              </a:lnSpc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鼓励超越预期的价值贡献、约束重大失误与违规行为，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40000"/>
              </a:lnSpc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在常规绩效评分基础上设置加分项与减分项，经认定后计入当期最终评级。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E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600" y="533400"/>
            <a:ext cx="76200" cy="660400"/>
          </a:xfrm>
          <a:prstGeom prst="roundRect">
            <a:avLst>
              <a:gd name="adj" fmla="val 0"/>
            </a:avLst>
          </a:prstGeom>
          <a:solidFill>
            <a:srgbClr val="E859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838200" y="482600"/>
            <a:ext cx="6350000" cy="254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 spc="100">
                <a:solidFill>
                  <a:srgbClr val="E859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步骤 ③ · 评估校准-强制分布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838200" y="711200"/>
            <a:ext cx="8890000" cy="508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800" b="1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绩效等级及分布</a:t>
            </a:r>
            <a:r>
              <a:rPr lang="zh-CN" altLang="en-US" sz="2800" b="1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规则</a:t>
            </a:r>
            <a:endParaRPr lang="zh-CN" altLang="en-US" sz="2800" b="1" i="0" u="none" strike="noStrike">
              <a:solidFill>
                <a:srgbClr val="2A21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 l="59" r="59"/>
          <a:stretch>
            <a:fillRect/>
          </a:stretch>
        </p:blipFill>
        <p:spPr>
          <a:xfrm>
            <a:off x="10896600" y="228600"/>
            <a:ext cx="1016000" cy="850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635000" y="1539240"/>
          <a:ext cx="7065010" cy="4168775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486535"/>
                <a:gridCol w="1554480"/>
                <a:gridCol w="2795271"/>
                <a:gridCol w="1228725"/>
              </a:tblGrid>
              <a:tr h="564515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等级</a:t>
                      </a:r>
                      <a:endParaRPr lang="en-US" sz="1100"/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2320A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比例范围</a:t>
                      </a:r>
                      <a:endParaRPr lang="en-US" sz="1100"/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2320A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定义</a:t>
                      </a:r>
                      <a:endParaRPr lang="en-US" sz="1100"/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2320A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2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绩效</a:t>
                      </a: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系数</a:t>
                      </a:r>
                      <a:endParaRPr lang="en-US" sz="1100"/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2320A">
                        <a:alpha val="100000"/>
                      </a:srgbClr>
                    </a:solidFill>
                  </a:tcPr>
                </a:tc>
              </a:tr>
              <a:tr h="72644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B232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S / 卓越</a:t>
                      </a:r>
                      <a:endParaRPr lang="en-US" sz="1100"/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A211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0–5%</a:t>
                      </a:r>
                      <a:endParaRPr lang="en-US" sz="1100"/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A211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持续超出预期·高潜储备</a:t>
                      </a:r>
                      <a:endParaRPr lang="en-US" sz="1100"/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A211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1.4</a:t>
                      </a:r>
                      <a:endParaRPr lang="en-US" sz="1100"/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2644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B232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A / 优秀</a:t>
                      </a:r>
                      <a:endParaRPr lang="en-US" sz="1100"/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0E1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A211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5–15%</a:t>
                      </a:r>
                      <a:endParaRPr lang="en-US" sz="1100"/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0E1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A211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稳定超出预期·骨干</a:t>
                      </a:r>
                      <a:endParaRPr lang="en-US" sz="1100"/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0E1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A211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1.2</a:t>
                      </a:r>
                      <a:endParaRPr lang="en-US" sz="1100"/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0E1">
                        <a:alpha val="100000"/>
                      </a:srgbClr>
                    </a:solidFill>
                  </a:tcPr>
                </a:tc>
              </a:tr>
              <a:tr h="725805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B232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B / 符合预期</a:t>
                      </a:r>
                      <a:endParaRPr lang="en-US" sz="1100"/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A211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70%</a:t>
                      </a:r>
                      <a:endParaRPr lang="en-US" sz="1100"/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A211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达成目标·符合岗位</a:t>
                      </a:r>
                      <a:endParaRPr lang="en-US" sz="1100"/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A211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1.0</a:t>
                      </a:r>
                      <a:endParaRPr lang="en-US" sz="1100"/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2644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B232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C / 需改进</a:t>
                      </a:r>
                      <a:endParaRPr lang="en-US" sz="1100"/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0E1">
                        <a:alpha val="100000"/>
                      </a:srgbClr>
                    </a:solidFill>
                  </a:tcPr>
                </a:tc>
                <a:tc rowSpan="2"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A211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10%</a:t>
                      </a:r>
                      <a:endParaRPr lang="en-US" altLang="en-US" sz="1100"/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0E1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A211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部分未达·</a:t>
                      </a:r>
                      <a:r>
                        <a:rPr lang="zh-CN" altLang="en-US" sz="1200" b="0" i="0" u="none" strike="noStrike">
                          <a:solidFill>
                            <a:srgbClr val="2A211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提升带教及辅导</a:t>
                      </a:r>
                      <a:r>
                        <a:rPr lang="en-US" altLang="zh-CN" sz="1200" b="0" i="0" u="none" strike="noStrike">
                          <a:solidFill>
                            <a:srgbClr val="2A211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·</a:t>
                      </a:r>
                      <a:r>
                        <a:rPr lang="zh-CN" altLang="en-US" sz="1200" b="0" i="0" u="none" strike="noStrike">
                          <a:solidFill>
                            <a:srgbClr val="2A211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视情况</a:t>
                      </a:r>
                      <a:r>
                        <a:rPr lang="en-US" altLang="zh-CN" sz="1200" b="0" i="0" u="none" strike="noStrike">
                          <a:solidFill>
                            <a:srgbClr val="2A211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PIP</a:t>
                      </a:r>
                      <a:endParaRPr lang="en-US" altLang="zh-CN" sz="1200" b="0" i="0" u="none" strike="noStrike">
                        <a:solidFill>
                          <a:srgbClr val="2A211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0E1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A211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0.8</a:t>
                      </a:r>
                      <a:endParaRPr lang="en-US" sz="1100"/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0E1">
                        <a:alpha val="100000"/>
                      </a:srgbClr>
                    </a:solidFill>
                  </a:tcPr>
                </a:tc>
              </a:tr>
              <a:tr h="699135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B232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D / 不合格</a:t>
                      </a:r>
                      <a:endParaRPr lang="en-US" sz="1100"/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vMerge="1"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3E9"/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A211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严重未达·淘汰·转岗/PIP</a:t>
                      </a:r>
                      <a:endParaRPr lang="en-US" sz="1100"/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A211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0/0.6</a:t>
                      </a:r>
                      <a:endParaRPr lang="en-US" sz="1100"/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AutoShape 7"/>
          <p:cNvSpPr/>
          <p:nvPr>
            <p:custDataLst>
              <p:tags r:id="rId2"/>
            </p:custDataLst>
          </p:nvPr>
        </p:nvSpPr>
        <p:spPr>
          <a:xfrm>
            <a:off x="8318500" y="1539240"/>
            <a:ext cx="3302000" cy="1206500"/>
          </a:xfrm>
          <a:prstGeom prst="roundRect">
            <a:avLst>
              <a:gd name="adj" fmla="val 842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0D9C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>
            <p:custDataLst>
              <p:tags r:id="rId3"/>
            </p:custDataLst>
          </p:nvPr>
        </p:nvSpPr>
        <p:spPr>
          <a:xfrm>
            <a:off x="8318500" y="1539240"/>
            <a:ext cx="3302000" cy="63500"/>
          </a:xfrm>
          <a:prstGeom prst="roundRect">
            <a:avLst>
              <a:gd name="adj" fmla="val 40000"/>
            </a:avLst>
          </a:prstGeom>
          <a:solidFill>
            <a:srgbClr val="E859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>
            <p:custDataLst>
              <p:tags r:id="rId4"/>
            </p:custDataLst>
          </p:nvPr>
        </p:nvSpPr>
        <p:spPr>
          <a:xfrm>
            <a:off x="8509000" y="1729740"/>
            <a:ext cx="2921000" cy="3048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B232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全员优秀=失职</a:t>
            </a:r>
            <a:endParaRPr lang="en-US" sz="1100"/>
          </a:p>
        </p:txBody>
      </p:sp>
      <p:sp>
        <p:nvSpPr>
          <p:cNvPr id="10" name="AutoShape 10"/>
          <p:cNvSpPr/>
          <p:nvPr>
            <p:custDataLst>
              <p:tags r:id="rId5"/>
            </p:custDataLst>
          </p:nvPr>
        </p:nvSpPr>
        <p:spPr>
          <a:xfrm>
            <a:off x="8509000" y="2072640"/>
            <a:ext cx="2921000" cy="5715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团队</a:t>
            </a:r>
            <a:r>
              <a:rPr lang="zh-CN" altLang="en-US" sz="11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原则上</a:t>
            </a:r>
            <a:r>
              <a:rPr lang="en-US" sz="11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必须有前/后段人员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不允许「全员平均」</a:t>
            </a:r>
            <a:endParaRPr lang="en-US" sz="1100" b="0" i="0" u="none" strike="noStrike">
              <a:solidFill>
                <a:srgbClr val="2A21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1" name="AutoShape 11"/>
          <p:cNvSpPr/>
          <p:nvPr>
            <p:custDataLst>
              <p:tags r:id="rId6"/>
            </p:custDataLst>
          </p:nvPr>
        </p:nvSpPr>
        <p:spPr>
          <a:xfrm>
            <a:off x="8318500" y="2936240"/>
            <a:ext cx="3302000" cy="1206500"/>
          </a:xfrm>
          <a:prstGeom prst="roundRect">
            <a:avLst>
              <a:gd name="adj" fmla="val 842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0D9C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>
            <p:custDataLst>
              <p:tags r:id="rId7"/>
            </p:custDataLst>
          </p:nvPr>
        </p:nvSpPr>
        <p:spPr>
          <a:xfrm>
            <a:off x="8318500" y="2936240"/>
            <a:ext cx="3302000" cy="63500"/>
          </a:xfrm>
          <a:prstGeom prst="roundRect">
            <a:avLst>
              <a:gd name="adj" fmla="val 40000"/>
            </a:avLst>
          </a:prstGeom>
          <a:solidFill>
            <a:srgbClr val="E859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>
            <p:custDataLst>
              <p:tags r:id="rId8"/>
            </p:custDataLst>
          </p:nvPr>
        </p:nvSpPr>
        <p:spPr>
          <a:xfrm>
            <a:off x="8509000" y="3126740"/>
            <a:ext cx="2921000" cy="3048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B232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未达标部门约束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9"/>
            </p:custDataLst>
          </p:nvPr>
        </p:nvSpPr>
        <p:spPr>
          <a:xfrm>
            <a:off x="8509000" y="3469640"/>
            <a:ext cx="2921000" cy="5715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</a:t>
            </a:r>
            <a:r>
              <a:rPr lang="zh-CN" altLang="en-US" sz="11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系数高于</a:t>
            </a:r>
            <a:r>
              <a:rPr lang="en-US" sz="11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1.0 </a:t>
            </a:r>
            <a:r>
              <a:rPr lang="zh-CN" altLang="en-US" sz="11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的人员</a:t>
            </a:r>
            <a:r>
              <a:rPr lang="en-US" sz="11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占比≤10%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且必须有</a:t>
            </a:r>
            <a:r>
              <a:rPr lang="zh-CN" altLang="en-US" sz="11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低于</a:t>
            </a:r>
            <a:r>
              <a:rPr lang="en-US" sz="11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1.0 </a:t>
            </a:r>
            <a:r>
              <a:rPr lang="zh-CN" altLang="en-US" sz="11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的</a:t>
            </a:r>
            <a:r>
              <a:rPr lang="en-US" sz="11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员工</a:t>
            </a:r>
            <a:endParaRPr lang="en-US" sz="1100" b="0" i="0" u="none" strike="noStrike">
              <a:solidFill>
                <a:srgbClr val="2A21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5" name="AutoShape 15"/>
          <p:cNvSpPr/>
          <p:nvPr>
            <p:custDataLst>
              <p:tags r:id="rId10"/>
            </p:custDataLst>
          </p:nvPr>
        </p:nvSpPr>
        <p:spPr>
          <a:xfrm>
            <a:off x="8318500" y="4333240"/>
            <a:ext cx="3302000" cy="1374775"/>
          </a:xfrm>
          <a:prstGeom prst="roundRect">
            <a:avLst>
              <a:gd name="adj" fmla="val 842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0D9C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>
            <p:custDataLst>
              <p:tags r:id="rId11"/>
            </p:custDataLst>
          </p:nvPr>
        </p:nvSpPr>
        <p:spPr>
          <a:xfrm>
            <a:off x="8318500" y="4333240"/>
            <a:ext cx="3302000" cy="63500"/>
          </a:xfrm>
          <a:prstGeom prst="roundRect">
            <a:avLst>
              <a:gd name="adj" fmla="val 40000"/>
            </a:avLst>
          </a:prstGeom>
          <a:solidFill>
            <a:srgbClr val="E859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>
            <p:custDataLst>
              <p:tags r:id="rId12"/>
            </p:custDataLst>
          </p:nvPr>
        </p:nvSpPr>
        <p:spPr>
          <a:xfrm>
            <a:off x="8509000" y="4523740"/>
            <a:ext cx="2921000" cy="3048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B232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特殊情形</a:t>
            </a:r>
            <a:endParaRPr lang="en-US" sz="1100"/>
          </a:p>
        </p:txBody>
      </p:sp>
      <p:sp>
        <p:nvSpPr>
          <p:cNvPr id="18" name="AutoShape 18"/>
          <p:cNvSpPr/>
          <p:nvPr>
            <p:custDataLst>
              <p:tags r:id="rId13"/>
            </p:custDataLst>
          </p:nvPr>
        </p:nvSpPr>
        <p:spPr>
          <a:xfrm>
            <a:off x="8509000" y="4866640"/>
            <a:ext cx="2921000" cy="5715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S级</a:t>
            </a:r>
            <a:r>
              <a:rPr lang="zh-CN" altLang="en-US" sz="11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</a:t>
            </a:r>
            <a:r>
              <a:rPr lang="en-US" sz="11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须跨部门对标</a:t>
            </a:r>
            <a:r>
              <a:rPr lang="zh-CN" altLang="en-US" sz="11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，并由</a:t>
            </a:r>
            <a:r>
              <a:rPr lang="en-US" altLang="zh-CN" sz="11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HR</a:t>
            </a:r>
            <a:r>
              <a:rPr lang="zh-CN" altLang="en-US" sz="11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确认</a:t>
            </a:r>
            <a:endParaRPr lang="zh-CN" altLang="en-US" sz="1100" b="0" i="0" u="none" strike="noStrike">
              <a:solidFill>
                <a:srgbClr val="2A21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D</a:t>
            </a:r>
            <a:r>
              <a:rPr lang="zh-CN" altLang="en-US" sz="11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级：</a:t>
            </a:r>
            <a:r>
              <a:rPr lang="en-US" altLang="zh-CN" sz="11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0.6</a:t>
            </a:r>
            <a:r>
              <a:rPr lang="zh-CN" altLang="en-US" sz="11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用于转岗</a:t>
            </a:r>
            <a:r>
              <a:rPr lang="en-US" altLang="zh-CN" sz="11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/PIP</a:t>
            </a:r>
            <a:r>
              <a:rPr lang="zh-CN" altLang="en-US" sz="11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，</a:t>
            </a:r>
            <a:r>
              <a:rPr lang="en-US" altLang="zh-CN" sz="11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</a:t>
            </a:r>
            <a:r>
              <a:rPr lang="zh-CN" altLang="en-US" sz="11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用于淘汰</a:t>
            </a:r>
            <a:endParaRPr lang="en-US" sz="1100" b="0" i="0" u="none" strike="noStrike">
              <a:solidFill>
                <a:srgbClr val="2A21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新业务首年</a:t>
            </a:r>
            <a:r>
              <a:rPr lang="zh-CN" altLang="en-US" sz="11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可依实际情况设置保底，最高</a:t>
            </a:r>
            <a:r>
              <a:rPr lang="en-US" sz="11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0.8</a:t>
            </a:r>
            <a:endParaRPr lang="en-US" sz="1100" b="0" i="0" u="none" strike="noStrike">
              <a:solidFill>
                <a:srgbClr val="2A21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7" name="Rounded Rectangle 18"/>
          <p:cNvSpPr/>
          <p:nvPr/>
        </p:nvSpPr>
        <p:spPr>
          <a:xfrm>
            <a:off x="681990" y="6032500"/>
            <a:ext cx="10918190" cy="457200"/>
          </a:xfrm>
          <a:prstGeom prst="roundRect">
            <a:avLst>
              <a:gd name="adj" fmla="val 10000"/>
            </a:avLst>
          </a:prstGeom>
          <a:solidFill>
            <a:srgbClr val="FFF0EB"/>
          </a:solidFill>
          <a:ln w="9525">
            <a:solidFill>
              <a:srgbClr val="F5D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sz="1200">
                <a:solidFill>
                  <a:srgbClr val="E8590C"/>
                </a:solidFill>
                <a:latin typeface="微软雅黑" panose="020B0503020204020204" charset="-122"/>
                <a:ea typeface="微软雅黑" panose="020B0503020204020204" charset="-122"/>
              </a:rPr>
              <a:t>分布口径：</a:t>
            </a:r>
            <a:r>
              <a:rPr lang="en-US" altLang="zh-CN" sz="1200">
                <a:solidFill>
                  <a:srgbClr val="E8590C"/>
                </a:solidFill>
                <a:latin typeface="微软雅黑" panose="020B0503020204020204" charset="-122"/>
                <a:ea typeface="微软雅黑" panose="020B0503020204020204" charset="-122"/>
              </a:rPr>
              <a:t>S 0-5%</a:t>
            </a:r>
            <a:r>
              <a:rPr lang="zh-CN" altLang="en-US" sz="1200">
                <a:solidFill>
                  <a:srgbClr val="E8590C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altLang="zh-CN" sz="1200">
                <a:solidFill>
                  <a:srgbClr val="E8590C"/>
                </a:solidFill>
                <a:latin typeface="微软雅黑" panose="020B0503020204020204" charset="-122"/>
                <a:ea typeface="微软雅黑" panose="020B0503020204020204" charset="-122"/>
              </a:rPr>
              <a:t>A 5-15%</a:t>
            </a:r>
            <a:r>
              <a:rPr lang="zh-CN" altLang="en-US" sz="1200">
                <a:solidFill>
                  <a:srgbClr val="E8590C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altLang="zh-CN" sz="1200">
                <a:solidFill>
                  <a:srgbClr val="E8590C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r>
              <a:rPr lang="zh-CN" altLang="en-US" sz="1200">
                <a:solidFill>
                  <a:srgbClr val="E8590C"/>
                </a:solidFill>
                <a:latin typeface="微软雅黑" panose="020B0503020204020204" charset="-122"/>
                <a:ea typeface="微软雅黑" panose="020B0503020204020204" charset="-122"/>
              </a:rPr>
              <a:t>原则</a:t>
            </a:r>
            <a:r>
              <a:rPr lang="en-US" altLang="zh-CN" sz="1200">
                <a:solidFill>
                  <a:srgbClr val="E8590C"/>
                </a:solidFill>
                <a:latin typeface="微软雅黑" panose="020B0503020204020204" charset="-122"/>
                <a:ea typeface="微软雅黑" panose="020B0503020204020204" charset="-122"/>
              </a:rPr>
              <a:t>70%</a:t>
            </a:r>
            <a:r>
              <a:rPr lang="zh-CN" altLang="en-US" sz="1200">
                <a:solidFill>
                  <a:srgbClr val="E8590C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altLang="zh-CN" sz="1200">
                <a:solidFill>
                  <a:srgbClr val="E8590C"/>
                </a:solidFill>
                <a:latin typeface="微软雅黑" panose="020B0503020204020204" charset="-122"/>
                <a:ea typeface="微软雅黑" panose="020B0503020204020204" charset="-122"/>
              </a:rPr>
              <a:t>C+D</a:t>
            </a:r>
            <a:r>
              <a:rPr lang="zh-CN" altLang="en-US" sz="1200">
                <a:solidFill>
                  <a:srgbClr val="E8590C"/>
                </a:solidFill>
                <a:latin typeface="微软雅黑" panose="020B0503020204020204" charset="-122"/>
                <a:ea typeface="微软雅黑" panose="020B0503020204020204" charset="-122"/>
              </a:rPr>
              <a:t>约</a:t>
            </a:r>
            <a:r>
              <a:rPr lang="en-US" altLang="zh-CN" sz="1200">
                <a:solidFill>
                  <a:srgbClr val="E8590C"/>
                </a:solidFill>
                <a:latin typeface="微软雅黑" panose="020B0503020204020204" charset="-122"/>
                <a:ea typeface="微软雅黑" panose="020B0503020204020204" charset="-122"/>
              </a:rPr>
              <a:t>10%</a:t>
            </a:r>
            <a:r>
              <a:rPr lang="zh-CN" altLang="en-US" sz="1200">
                <a:solidFill>
                  <a:srgbClr val="E8590C"/>
                </a:solidFill>
                <a:latin typeface="微软雅黑" panose="020B0503020204020204" charset="-122"/>
                <a:ea typeface="微软雅黑" panose="020B0503020204020204" charset="-122"/>
              </a:rPr>
              <a:t>；小团队可合并校准，各等级比例合计</a:t>
            </a:r>
            <a:r>
              <a:rPr lang="en-US" altLang="zh-CN" sz="1200">
                <a:solidFill>
                  <a:srgbClr val="E8590C"/>
                </a:solidFill>
                <a:latin typeface="微软雅黑" panose="020B0503020204020204" charset="-122"/>
                <a:ea typeface="微软雅黑" panose="020B0503020204020204" charset="-122"/>
              </a:rPr>
              <a:t>100%</a:t>
            </a:r>
            <a:r>
              <a:rPr lang="zh-CN" altLang="en-US" sz="1200">
                <a:solidFill>
                  <a:srgbClr val="E8590C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altLang="en-US" sz="1200">
              <a:solidFill>
                <a:srgbClr val="E8590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E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600" y="533400"/>
            <a:ext cx="76200" cy="660400"/>
          </a:xfrm>
          <a:prstGeom prst="roundRect">
            <a:avLst>
              <a:gd name="adj" fmla="val 0"/>
            </a:avLst>
          </a:prstGeom>
          <a:solidFill>
            <a:srgbClr val="E859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838200" y="482600"/>
            <a:ext cx="6350000" cy="254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 spc="100">
                <a:solidFill>
                  <a:srgbClr val="E859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步骤 ④ · 反馈面谈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838200" y="711200"/>
            <a:ext cx="8890000" cy="508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一人一谈、面向成长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 l="59" r="59"/>
          <a:stretch>
            <a:fillRect/>
          </a:stretch>
        </p:blipFill>
        <p:spPr>
          <a:xfrm>
            <a:off x="10896600" y="228600"/>
            <a:ext cx="1016000" cy="850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635000" y="1778000"/>
            <a:ext cx="3429000" cy="43180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0D9C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635000" y="1778000"/>
            <a:ext cx="3429000" cy="76200"/>
          </a:xfrm>
          <a:prstGeom prst="roundRect">
            <a:avLst>
              <a:gd name="adj" fmla="val 50000"/>
            </a:avLst>
          </a:prstGeom>
          <a:solidFill>
            <a:srgbClr val="E859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889000" y="2057400"/>
            <a:ext cx="2921000" cy="381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B232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基本要求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14400" y="2603500"/>
            <a:ext cx="2870200" cy="3302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3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一人一谈：1对1 当面，禁邮件/群消息替代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3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面向成长：谈优势与不足，非单纯通知分数</a:t>
            </a:r>
            <a:endParaRPr lang="en-US" sz="1300" b="0" i="0" u="none" strike="noStrike">
              <a:solidFill>
                <a:srgbClr val="2A21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3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结论与改进计划当场达成共识</a:t>
            </a:r>
            <a:endParaRPr lang="en-US" sz="1300" b="0" i="0" u="none" strike="noStrike">
              <a:solidFill>
                <a:srgbClr val="2A21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4381500" y="1778000"/>
            <a:ext cx="3429000" cy="43180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0D9C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381500" y="1778000"/>
            <a:ext cx="3429000" cy="76200"/>
          </a:xfrm>
          <a:prstGeom prst="roundRect">
            <a:avLst>
              <a:gd name="adj" fmla="val 50000"/>
            </a:avLst>
          </a:prstGeom>
          <a:solidFill>
            <a:srgbClr val="E859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635500" y="2057400"/>
            <a:ext cx="2921000" cy="381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B232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面谈框架（2701）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660900" y="2603500"/>
            <a:ext cx="2870200" cy="3302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3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2 分钟：开场破冰、定调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3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7 分钟：讲事实与数据</a:t>
            </a:r>
            <a:endParaRPr lang="en-US" sz="1300" b="0" i="0" u="none" strike="noStrike">
              <a:solidFill>
                <a:srgbClr val="2A21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3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0 留白：员工充分表达</a:t>
            </a:r>
            <a:endParaRPr lang="en-US" sz="1300" b="0" i="0" u="none" strike="noStrike">
              <a:solidFill>
                <a:srgbClr val="2A21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3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1 分钟：共识下一步行动</a:t>
            </a:r>
            <a:endParaRPr lang="en-US" sz="1300" b="0" i="0" u="none" strike="noStrike">
              <a:solidFill>
                <a:srgbClr val="2A21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8128000" y="1778000"/>
            <a:ext cx="3429000" cy="43180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0D9C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128000" y="1778000"/>
            <a:ext cx="3429000" cy="76200"/>
          </a:xfrm>
          <a:prstGeom prst="roundRect">
            <a:avLst>
              <a:gd name="adj" fmla="val 50000"/>
            </a:avLst>
          </a:prstGeom>
          <a:solidFill>
            <a:srgbClr val="E859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382000" y="2057400"/>
            <a:ext cx="2921000" cy="381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B232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记录与跟进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407400" y="2603500"/>
            <a:ext cx="2870200" cy="3302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3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面谈记录签字确认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3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改进计划纳入下一周期目标</a:t>
            </a:r>
            <a:endParaRPr lang="en-US" sz="1300" b="0" i="0" u="none" strike="noStrike">
              <a:solidFill>
                <a:srgbClr val="2A21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3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HRBP 抽查面谈质量</a:t>
            </a:r>
            <a:endParaRPr lang="en-US" sz="1300" b="0" i="0" u="none" strike="noStrike">
              <a:solidFill>
                <a:srgbClr val="2A21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3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未按期面谈纳入管理者扣分</a:t>
            </a:r>
            <a:endParaRPr lang="en-US" sz="1300" b="0" i="0" u="none" strike="noStrike">
              <a:solidFill>
                <a:srgbClr val="2A21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E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600" y="533400"/>
            <a:ext cx="76200" cy="660400"/>
          </a:xfrm>
          <a:prstGeom prst="roundRect">
            <a:avLst>
              <a:gd name="adj" fmla="val 0"/>
            </a:avLst>
          </a:prstGeom>
          <a:solidFill>
            <a:srgbClr val="E859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838200" y="482600"/>
            <a:ext cx="6350000" cy="254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 spc="100">
                <a:solidFill>
                  <a:srgbClr val="E859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步骤 ⑤ · 结果应用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838200" y="711200"/>
            <a:ext cx="8890000" cy="508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有程序 · 有依据 · 有沟通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 l="59" r="59"/>
          <a:stretch>
            <a:fillRect/>
          </a:stretch>
        </p:blipFill>
        <p:spPr>
          <a:xfrm>
            <a:off x="10896600" y="228600"/>
            <a:ext cx="1016000" cy="850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>
            <p:custDataLst>
              <p:tags r:id="rId2"/>
            </p:custDataLst>
          </p:nvPr>
        </p:nvSpPr>
        <p:spPr>
          <a:xfrm>
            <a:off x="635000" y="1651000"/>
            <a:ext cx="3429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0D9C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>
            <p:custDataLst>
              <p:tags r:id="rId3"/>
            </p:custDataLst>
          </p:nvPr>
        </p:nvSpPr>
        <p:spPr>
          <a:xfrm>
            <a:off x="635000" y="1651000"/>
            <a:ext cx="3429000" cy="63500"/>
          </a:xfrm>
          <a:prstGeom prst="roundRect">
            <a:avLst>
              <a:gd name="adj" fmla="val 40000"/>
            </a:avLst>
          </a:prstGeom>
          <a:solidFill>
            <a:srgbClr val="E859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>
            <p:custDataLst>
              <p:tags r:id="rId4"/>
            </p:custDataLst>
          </p:nvPr>
        </p:nvSpPr>
        <p:spPr>
          <a:xfrm>
            <a:off x="889000" y="1879600"/>
            <a:ext cx="2921000" cy="3556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B232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绩效奖金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5"/>
            </p:custDataLst>
          </p:nvPr>
        </p:nvSpPr>
        <p:spPr>
          <a:xfrm>
            <a:off x="889000" y="2349500"/>
            <a:ext cx="2921000" cy="635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按等级差异化发放</a:t>
            </a:r>
            <a:endParaRPr lang="en-US" sz="1100"/>
          </a:p>
        </p:txBody>
      </p:sp>
      <p:sp>
        <p:nvSpPr>
          <p:cNvPr id="10" name="AutoShape 10"/>
          <p:cNvSpPr/>
          <p:nvPr>
            <p:custDataLst>
              <p:tags r:id="rId6"/>
            </p:custDataLst>
          </p:nvPr>
        </p:nvSpPr>
        <p:spPr>
          <a:xfrm>
            <a:off x="4381500" y="1651000"/>
            <a:ext cx="3429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0D9C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>
            <p:custDataLst>
              <p:tags r:id="rId7"/>
            </p:custDataLst>
          </p:nvPr>
        </p:nvSpPr>
        <p:spPr>
          <a:xfrm>
            <a:off x="4381500" y="1651000"/>
            <a:ext cx="3429000" cy="63500"/>
          </a:xfrm>
          <a:prstGeom prst="roundRect">
            <a:avLst>
              <a:gd name="adj" fmla="val 40000"/>
            </a:avLst>
          </a:prstGeom>
          <a:solidFill>
            <a:srgbClr val="E859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>
            <p:custDataLst>
              <p:tags r:id="rId8"/>
            </p:custDataLst>
          </p:nvPr>
        </p:nvSpPr>
        <p:spPr>
          <a:xfrm>
            <a:off x="4635500" y="1879600"/>
            <a:ext cx="2921000" cy="3556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B232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薪酬调整</a:t>
            </a: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9"/>
            </p:custDataLst>
          </p:nvPr>
        </p:nvSpPr>
        <p:spPr>
          <a:xfrm>
            <a:off x="4635500" y="2349500"/>
            <a:ext cx="2921000" cy="635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高绩效更大调幅·连续C/D冻结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10"/>
            </p:custDataLst>
          </p:nvPr>
        </p:nvSpPr>
        <p:spPr>
          <a:xfrm>
            <a:off x="8128000" y="1651000"/>
            <a:ext cx="3429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0D9C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>
            <p:custDataLst>
              <p:tags r:id="rId11"/>
            </p:custDataLst>
          </p:nvPr>
        </p:nvSpPr>
        <p:spPr>
          <a:xfrm>
            <a:off x="8128000" y="1651000"/>
            <a:ext cx="3429000" cy="63500"/>
          </a:xfrm>
          <a:prstGeom prst="roundRect">
            <a:avLst>
              <a:gd name="adj" fmla="val 40000"/>
            </a:avLst>
          </a:prstGeom>
          <a:solidFill>
            <a:srgbClr val="E859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>
            <p:custDataLst>
              <p:tags r:id="rId12"/>
            </p:custDataLst>
          </p:nvPr>
        </p:nvSpPr>
        <p:spPr>
          <a:xfrm>
            <a:off x="8382000" y="1879600"/>
            <a:ext cx="2921000" cy="3556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B232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晋升选拔</a:t>
            </a:r>
            <a:endParaRPr lang="en-US" sz="1100"/>
          </a:p>
        </p:txBody>
      </p:sp>
      <p:sp>
        <p:nvSpPr>
          <p:cNvPr id="17" name="AutoShape 17"/>
          <p:cNvSpPr/>
          <p:nvPr>
            <p:custDataLst>
              <p:tags r:id="rId13"/>
            </p:custDataLst>
          </p:nvPr>
        </p:nvSpPr>
        <p:spPr>
          <a:xfrm>
            <a:off x="8382000" y="2349500"/>
            <a:ext cx="2921000" cy="635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近两周期达 A 及以上</a:t>
            </a:r>
            <a:endParaRPr lang="en-US" sz="1100"/>
          </a:p>
        </p:txBody>
      </p:sp>
      <p:sp>
        <p:nvSpPr>
          <p:cNvPr id="18" name="AutoShape 18"/>
          <p:cNvSpPr/>
          <p:nvPr>
            <p:custDataLst>
              <p:tags r:id="rId14"/>
            </p:custDataLst>
          </p:nvPr>
        </p:nvSpPr>
        <p:spPr>
          <a:xfrm>
            <a:off x="635000" y="3556000"/>
            <a:ext cx="3429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0D9C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>
            <p:custDataLst>
              <p:tags r:id="rId15"/>
            </p:custDataLst>
          </p:nvPr>
        </p:nvSpPr>
        <p:spPr>
          <a:xfrm>
            <a:off x="635000" y="3556000"/>
            <a:ext cx="3429000" cy="63500"/>
          </a:xfrm>
          <a:prstGeom prst="roundRect">
            <a:avLst>
              <a:gd name="adj" fmla="val 40000"/>
            </a:avLst>
          </a:prstGeom>
          <a:solidFill>
            <a:srgbClr val="E859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>
            <p:custDataLst>
              <p:tags r:id="rId16"/>
            </p:custDataLst>
          </p:nvPr>
        </p:nvSpPr>
        <p:spPr>
          <a:xfrm>
            <a:off x="889000" y="3784600"/>
            <a:ext cx="2921000" cy="3556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B232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人才盘点</a:t>
            </a:r>
            <a:endParaRPr lang="en-US" sz="1100"/>
          </a:p>
        </p:txBody>
      </p:sp>
      <p:sp>
        <p:nvSpPr>
          <p:cNvPr id="21" name="AutoShape 21"/>
          <p:cNvSpPr/>
          <p:nvPr>
            <p:custDataLst>
              <p:tags r:id="rId17"/>
            </p:custDataLst>
          </p:nvPr>
        </p:nvSpPr>
        <p:spPr>
          <a:xfrm>
            <a:off x="889000" y="4254500"/>
            <a:ext cx="2921000" cy="635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纳入九宫格·匹配发展计划</a:t>
            </a:r>
            <a:endParaRPr lang="en-US" sz="1100"/>
          </a:p>
        </p:txBody>
      </p:sp>
      <p:sp>
        <p:nvSpPr>
          <p:cNvPr id="22" name="AutoShape 22"/>
          <p:cNvSpPr/>
          <p:nvPr>
            <p:custDataLst>
              <p:tags r:id="rId18"/>
            </p:custDataLst>
          </p:nvPr>
        </p:nvSpPr>
        <p:spPr>
          <a:xfrm>
            <a:off x="4381500" y="3556000"/>
            <a:ext cx="3429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0D9C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>
            <p:custDataLst>
              <p:tags r:id="rId19"/>
            </p:custDataLst>
          </p:nvPr>
        </p:nvSpPr>
        <p:spPr>
          <a:xfrm>
            <a:off x="4381500" y="3556000"/>
            <a:ext cx="3429000" cy="63500"/>
          </a:xfrm>
          <a:prstGeom prst="roundRect">
            <a:avLst>
              <a:gd name="adj" fmla="val 40000"/>
            </a:avLst>
          </a:prstGeom>
          <a:solidFill>
            <a:srgbClr val="E859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>
            <p:custDataLst>
              <p:tags r:id="rId20"/>
            </p:custDataLst>
          </p:nvPr>
        </p:nvSpPr>
        <p:spPr>
          <a:xfrm>
            <a:off x="4635500" y="3784600"/>
            <a:ext cx="2921000" cy="3556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B232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PIP</a:t>
            </a:r>
            <a:endParaRPr lang="en-US" sz="1100"/>
          </a:p>
        </p:txBody>
      </p:sp>
      <p:sp>
        <p:nvSpPr>
          <p:cNvPr id="25" name="AutoShape 25"/>
          <p:cNvSpPr/>
          <p:nvPr>
            <p:custDataLst>
              <p:tags r:id="rId21"/>
            </p:custDataLst>
          </p:nvPr>
        </p:nvSpPr>
        <p:spPr>
          <a:xfrm>
            <a:off x="4635500" y="4254500"/>
            <a:ext cx="2921000" cy="635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C/D 级 </a:t>
            </a:r>
            <a:r>
              <a:rPr lang="zh-CN" altLang="en-US" sz="13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视情况</a:t>
            </a:r>
            <a:r>
              <a:rPr lang="en-US" sz="13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1-3 月改进计划</a:t>
            </a:r>
            <a:endParaRPr lang="en-US" sz="1100"/>
          </a:p>
        </p:txBody>
      </p:sp>
      <p:sp>
        <p:nvSpPr>
          <p:cNvPr id="26" name="AutoShape 26"/>
          <p:cNvSpPr/>
          <p:nvPr>
            <p:custDataLst>
              <p:tags r:id="rId22"/>
            </p:custDataLst>
          </p:nvPr>
        </p:nvSpPr>
        <p:spPr>
          <a:xfrm>
            <a:off x="8128000" y="3556000"/>
            <a:ext cx="3429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0D9C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>
            <p:custDataLst>
              <p:tags r:id="rId23"/>
            </p:custDataLst>
          </p:nvPr>
        </p:nvSpPr>
        <p:spPr>
          <a:xfrm>
            <a:off x="8128000" y="3556000"/>
            <a:ext cx="3429000" cy="63500"/>
          </a:xfrm>
          <a:prstGeom prst="roundRect">
            <a:avLst>
              <a:gd name="adj" fmla="val 40000"/>
            </a:avLst>
          </a:prstGeom>
          <a:solidFill>
            <a:srgbClr val="E859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>
            <p:custDataLst>
              <p:tags r:id="rId24"/>
            </p:custDataLst>
          </p:nvPr>
        </p:nvSpPr>
        <p:spPr>
          <a:xfrm>
            <a:off x="8382000" y="3784600"/>
            <a:ext cx="2921000" cy="3556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B232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淘汰 / 转岗</a:t>
            </a:r>
            <a:endParaRPr lang="en-US" sz="1100"/>
          </a:p>
        </p:txBody>
      </p:sp>
      <p:sp>
        <p:nvSpPr>
          <p:cNvPr id="29" name="AutoShape 29"/>
          <p:cNvSpPr/>
          <p:nvPr>
            <p:custDataLst>
              <p:tags r:id="rId25"/>
            </p:custDataLst>
          </p:nvPr>
        </p:nvSpPr>
        <p:spPr>
          <a:xfrm>
            <a:off x="8382000" y="4254500"/>
            <a:ext cx="2921000" cy="635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连续两周期 D 或 PIP 未过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35000" y="5461000"/>
            <a:ext cx="10922000" cy="762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300" b="1" i="0" u="none" strike="noStrike">
                <a:solidFill>
                  <a:srgbClr val="B232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应用原则：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3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① 心要仁慈，刀要快 —— 该决断时果断，但全程给沟通与过渡； ② 有程序·有依据·有沟通 —— 决策可追溯、申诉三级（3/5/10 工作日答复）。</a:t>
            </a:r>
            <a:endParaRPr lang="en-US" sz="1300" b="0" i="0" u="none" strike="noStrike">
              <a:solidFill>
                <a:srgbClr val="2A21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E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600" y="533400"/>
            <a:ext cx="76200" cy="660400"/>
          </a:xfrm>
          <a:prstGeom prst="roundRect">
            <a:avLst>
              <a:gd name="adj" fmla="val 0"/>
            </a:avLst>
          </a:prstGeom>
          <a:solidFill>
            <a:srgbClr val="E859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838200" y="482600"/>
            <a:ext cx="6350000" cy="254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 spc="100">
                <a:solidFill>
                  <a:srgbClr val="E859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规则 · 试用期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838200" y="711200"/>
            <a:ext cx="8890000" cy="508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试用期考评周期与转正流程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 l="59" r="59"/>
          <a:stretch>
            <a:fillRect/>
          </a:stretch>
        </p:blipFill>
        <p:spPr>
          <a:xfrm>
            <a:off x="10896600" y="228600"/>
            <a:ext cx="1016000" cy="850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635000" y="1651000"/>
            <a:ext cx="4826000" cy="4479925"/>
          </a:xfrm>
          <a:prstGeom prst="roundRect">
            <a:avLst>
              <a:gd name="adj" fmla="val 3529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0D9C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635000" y="1651000"/>
            <a:ext cx="4826000" cy="76200"/>
          </a:xfrm>
          <a:prstGeom prst="roundRect">
            <a:avLst>
              <a:gd name="adj" fmla="val 50000"/>
            </a:avLst>
          </a:prstGeom>
          <a:solidFill>
            <a:srgbClr val="E859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889000" y="1930400"/>
            <a:ext cx="4318000" cy="381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B232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两套机制 + 考评周期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2476500"/>
            <a:ext cx="4254500" cy="3302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8000"/>
              </a:lnSpc>
              <a:defRPr/>
            </a:pPr>
            <a:r>
              <a:rPr lang="en-US" sz="13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入职即纳入试用期管理，考核分两套独立机制</a:t>
            </a:r>
            <a:endParaRPr lang="en-US" sz="1100"/>
          </a:p>
          <a:p>
            <a:pPr marL="0" indent="0" algn="l">
              <a:lnSpc>
                <a:spcPct val="158000"/>
              </a:lnSpc>
            </a:pPr>
            <a:r>
              <a:rPr lang="en-US" sz="13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转正评估：判定能否转正（转正依据）</a:t>
            </a:r>
            <a:endParaRPr lang="en-US" sz="1300" b="0" i="0" u="none" strike="noStrike">
              <a:solidFill>
                <a:srgbClr val="2A21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58000"/>
              </a:lnSpc>
            </a:pPr>
            <a:r>
              <a:rPr lang="en-US" sz="13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部门绩效：用于绩效奖金兑现（奖金依据）</a:t>
            </a:r>
            <a:endParaRPr lang="en-US" sz="1300" b="0" i="0" u="none" strike="noStrike">
              <a:solidFill>
                <a:srgbClr val="2A21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58000"/>
              </a:lnSpc>
            </a:pPr>
            <a:r>
              <a:rPr lang="en-US" sz="13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新入职</a:t>
            </a:r>
            <a:r>
              <a:rPr lang="zh-CN" altLang="en-US" sz="13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可</a:t>
            </a:r>
            <a:r>
              <a:rPr lang="en-US" sz="13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参与</a:t>
            </a:r>
            <a:r>
              <a:rPr lang="zh-CN" altLang="en-US" sz="13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当期过程评估，原则上</a:t>
            </a:r>
            <a:r>
              <a:rPr lang="en-US" sz="13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不核发当期</a:t>
            </a:r>
            <a:r>
              <a:rPr lang="zh-CN" altLang="en-US" sz="13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绩效</a:t>
            </a:r>
            <a:r>
              <a:rPr lang="en-US" sz="13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奖金</a:t>
            </a:r>
            <a:endParaRPr lang="en-US" sz="1300" b="0" i="0" u="none" strike="noStrike">
              <a:solidFill>
                <a:srgbClr val="2A21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58000"/>
              </a:lnSpc>
            </a:pPr>
            <a:r>
              <a:rPr lang="en-US" sz="13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（Offer 约定或经 HR 负责人审批除外）</a:t>
            </a:r>
            <a:endParaRPr lang="en-US" sz="1300" b="0" i="0" u="none" strike="noStrike">
              <a:solidFill>
                <a:srgbClr val="2A21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58000"/>
              </a:lnSpc>
            </a:pPr>
            <a:r>
              <a:rPr lang="en-US" sz="13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考评周期：依法最长≤6个月，入职满3个月</a:t>
            </a:r>
            <a:r>
              <a:rPr lang="zh-CN" altLang="en-US" sz="13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方可</a:t>
            </a:r>
            <a:r>
              <a:rPr lang="zh-CN" altLang="en-US" sz="13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予以转正</a:t>
            </a:r>
            <a:endParaRPr lang="zh-CN" altLang="en-US" sz="1300" b="0" i="0" u="none" strike="noStrike">
              <a:solidFill>
                <a:srgbClr val="2A21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" name="AutoShape 10"/>
          <p:cNvSpPr/>
          <p:nvPr>
            <p:custDataLst>
              <p:tags r:id="rId2"/>
            </p:custDataLst>
          </p:nvPr>
        </p:nvSpPr>
        <p:spPr>
          <a:xfrm>
            <a:off x="5842000" y="1714500"/>
            <a:ext cx="508000" cy="508000"/>
          </a:xfrm>
          <a:prstGeom prst="ellipse">
            <a:avLst/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3"/>
            </p:custDataLst>
          </p:nvPr>
        </p:nvSpPr>
        <p:spPr>
          <a:xfrm>
            <a:off x="6477000" y="1651000"/>
            <a:ext cx="5080000" cy="635000"/>
          </a:xfrm>
          <a:prstGeom prst="roundRect">
            <a:avLst>
              <a:gd name="adj" fmla="val 16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0D9C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>
            <p:custDataLst>
              <p:tags r:id="rId4"/>
            </p:custDataLst>
          </p:nvPr>
        </p:nvSpPr>
        <p:spPr>
          <a:xfrm>
            <a:off x="6667500" y="1651000"/>
            <a:ext cx="4762500" cy="635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B232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目标对齐</a:t>
            </a:r>
            <a:r>
              <a:rPr lang="en-US" sz="12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入职第1月起：对齐岗位职责、3个月转正标准+月里程碑</a:t>
            </a: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5"/>
            </p:custDataLst>
          </p:nvPr>
        </p:nvSpPr>
        <p:spPr>
          <a:xfrm>
            <a:off x="5842000" y="2512060"/>
            <a:ext cx="508000" cy="508000"/>
          </a:xfrm>
          <a:prstGeom prst="ellipse">
            <a:avLst/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6"/>
            </p:custDataLst>
          </p:nvPr>
        </p:nvSpPr>
        <p:spPr>
          <a:xfrm>
            <a:off x="6477000" y="2448560"/>
            <a:ext cx="5080000" cy="635000"/>
          </a:xfrm>
          <a:prstGeom prst="roundRect">
            <a:avLst>
              <a:gd name="adj" fmla="val 16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0D9C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>
            <p:custDataLst>
              <p:tags r:id="rId7"/>
            </p:custDataLst>
          </p:nvPr>
        </p:nvSpPr>
        <p:spPr>
          <a:xfrm>
            <a:off x="6667500" y="2448560"/>
            <a:ext cx="4762500" cy="635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zh-CN" altLang="en-US" sz="1200" b="1" i="0" u="none" strike="noStrike">
                <a:solidFill>
                  <a:srgbClr val="B232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阶段跟进</a:t>
            </a:r>
            <a:r>
              <a:rPr lang="en-US" sz="12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</a:t>
            </a:r>
            <a:r>
              <a:rPr lang="zh-CN" altLang="en-US" sz="12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跟进新员工试用期融入及工作进展</a:t>
            </a:r>
            <a:r>
              <a:rPr lang="en-US" sz="12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，</a:t>
            </a:r>
            <a:r>
              <a:rPr lang="zh-CN" altLang="en-US" sz="12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异常情况</a:t>
            </a:r>
            <a:r>
              <a:rPr lang="en-US" sz="12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同步HR预警</a:t>
            </a:r>
            <a:endParaRPr lang="en-US" sz="1100"/>
          </a:p>
        </p:txBody>
      </p:sp>
      <p:sp>
        <p:nvSpPr>
          <p:cNvPr id="16" name="AutoShape 16"/>
          <p:cNvSpPr/>
          <p:nvPr>
            <p:custDataLst>
              <p:tags r:id="rId8"/>
            </p:custDataLst>
          </p:nvPr>
        </p:nvSpPr>
        <p:spPr>
          <a:xfrm>
            <a:off x="5842000" y="3309620"/>
            <a:ext cx="508000" cy="508000"/>
          </a:xfrm>
          <a:prstGeom prst="ellipse">
            <a:avLst/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3</a:t>
            </a:r>
            <a:endParaRPr lang="en-US" sz="1100"/>
          </a:p>
        </p:txBody>
      </p:sp>
      <p:sp>
        <p:nvSpPr>
          <p:cNvPr id="17" name="AutoShape 17"/>
          <p:cNvSpPr/>
          <p:nvPr>
            <p:custDataLst>
              <p:tags r:id="rId9"/>
            </p:custDataLst>
          </p:nvPr>
        </p:nvSpPr>
        <p:spPr>
          <a:xfrm>
            <a:off x="6477000" y="3246120"/>
            <a:ext cx="5080000" cy="635000"/>
          </a:xfrm>
          <a:prstGeom prst="roundRect">
            <a:avLst>
              <a:gd name="adj" fmla="val 16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0D9C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>
            <p:custDataLst>
              <p:tags r:id="rId10"/>
            </p:custDataLst>
          </p:nvPr>
        </p:nvSpPr>
        <p:spPr>
          <a:xfrm>
            <a:off x="6667500" y="3246120"/>
            <a:ext cx="4762500" cy="635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B232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转正前置</a:t>
            </a:r>
            <a:r>
              <a:rPr lang="en-US" sz="12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转正前2周：综合2.5个月表现，给出初步决策建议</a:t>
            </a:r>
            <a:endParaRPr lang="en-US" sz="1100"/>
          </a:p>
        </p:txBody>
      </p:sp>
      <p:sp>
        <p:nvSpPr>
          <p:cNvPr id="19" name="AutoShape 19"/>
          <p:cNvSpPr/>
          <p:nvPr>
            <p:custDataLst>
              <p:tags r:id="rId11"/>
            </p:custDataLst>
          </p:nvPr>
        </p:nvSpPr>
        <p:spPr>
          <a:xfrm>
            <a:off x="5842000" y="4107180"/>
            <a:ext cx="508000" cy="508000"/>
          </a:xfrm>
          <a:prstGeom prst="ellipse">
            <a:avLst/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4</a:t>
            </a:r>
            <a:endParaRPr lang="en-US" sz="1100"/>
          </a:p>
        </p:txBody>
      </p:sp>
      <p:sp>
        <p:nvSpPr>
          <p:cNvPr id="20" name="AutoShape 20"/>
          <p:cNvSpPr/>
          <p:nvPr>
            <p:custDataLst>
              <p:tags r:id="rId12"/>
            </p:custDataLst>
          </p:nvPr>
        </p:nvSpPr>
        <p:spPr>
          <a:xfrm>
            <a:off x="6477000" y="4043680"/>
            <a:ext cx="5080000" cy="635000"/>
          </a:xfrm>
          <a:prstGeom prst="roundRect">
            <a:avLst>
              <a:gd name="adj" fmla="val 16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0D9C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>
            <p:custDataLst>
              <p:tags r:id="rId13"/>
            </p:custDataLst>
          </p:nvPr>
        </p:nvSpPr>
        <p:spPr>
          <a:xfrm>
            <a:off x="6667500" y="4043680"/>
            <a:ext cx="4762500" cy="635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B232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转正决策</a:t>
            </a:r>
            <a:r>
              <a:rPr lang="en-US" sz="12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HR协同确认：同意转正/建议延期/建议终止，沟通+归档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5854065" y="5041900"/>
            <a:ext cx="5715000" cy="935355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5000"/>
              </a:lnSpc>
              <a:defRPr/>
            </a:pPr>
            <a:r>
              <a:rPr lang="en-US" altLang="zh-CN" sz="1200" b="1" i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200" b="1" i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试用期转正条件：  </a:t>
            </a:r>
            <a:endParaRPr lang="zh-CN" altLang="en-US" sz="1200" b="1" i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155000"/>
              </a:lnSpc>
              <a:defRPr/>
            </a:pPr>
            <a:r>
              <a:rPr lang="en-US" altLang="zh-CN" sz="1200" i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- </a:t>
            </a:r>
            <a:r>
              <a:rPr lang="zh-CN" altLang="en-US" sz="1200" i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试用期内每月绩效考核系数≥1.0；</a:t>
            </a:r>
            <a:endParaRPr lang="zh-CN" altLang="en-US" sz="1200" i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155000"/>
              </a:lnSpc>
              <a:defRPr/>
            </a:pPr>
            <a:r>
              <a:rPr lang="zh-CN" altLang="en-US" sz="1200" i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- 新员工培训考试≥80分；</a:t>
            </a:r>
            <a:endParaRPr lang="zh-CN" altLang="en-US" sz="1200" i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155000"/>
              </a:lnSpc>
              <a:defRPr/>
            </a:pPr>
            <a:r>
              <a:rPr lang="zh-CN" altLang="en-US" sz="1200" i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- 试用期考勤异常上榜≤2次，且未发生违背企业价值观、违反公司规章制度的行为。</a:t>
            </a:r>
            <a:endParaRPr lang="zh-CN" altLang="en-US" sz="1200" i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E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600" y="533400"/>
            <a:ext cx="76200" cy="660400"/>
          </a:xfrm>
          <a:prstGeom prst="roundRect">
            <a:avLst>
              <a:gd name="adj" fmla="val 0"/>
            </a:avLst>
          </a:prstGeom>
          <a:solidFill>
            <a:srgbClr val="E859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838200" y="482600"/>
            <a:ext cx="6350000" cy="254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 spc="100">
                <a:solidFill>
                  <a:srgbClr val="E859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规则 · 考核节奏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838200" y="711200"/>
            <a:ext cx="8890000" cy="508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日常绩效考评周期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 l="59" r="59"/>
          <a:stretch>
            <a:fillRect/>
          </a:stretch>
        </p:blipFill>
        <p:spPr>
          <a:xfrm>
            <a:off x="10896600" y="228600"/>
            <a:ext cx="1016000" cy="850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graphicFrame>
        <p:nvGraphicFramePr>
          <p:cNvPr id="6" name="Table 6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635000" y="1714500"/>
          <a:ext cx="7112000" cy="3810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851535"/>
                <a:gridCol w="817245"/>
                <a:gridCol w="3564255"/>
                <a:gridCol w="1878965"/>
              </a:tblGrid>
              <a:tr h="541020">
                <a:tc gridSpan="2">
                  <a:txBody>
                    <a:bodyPr rtlCol="0"/>
                    <a:lstStyle/>
                    <a:p>
                      <a:pPr algn="ctr" fontAlgn="t"/>
                      <a:r>
                        <a:rPr lang="zh-CN" altLang="en-US" sz="1200" b="1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分类</a:t>
                      </a:r>
                      <a:endParaRPr lang="zh-CN" altLang="en-US" sz="1200" b="1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2320A">
                        <a:alpha val="100000"/>
                      </a:srgbClr>
                    </a:solidFill>
                  </a:tcPr>
                </a:tc>
                <a:tc hMerge="1"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2320A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 fontAlgn="t"/>
                      <a:r>
                        <a:rPr lang="zh-CN" altLang="en-US" sz="1200" b="1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涉及对象</a:t>
                      </a:r>
                      <a:endParaRPr lang="zh-CN" altLang="en-US" sz="1200" b="1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2320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p>
                      <a:pPr algn="ctr" fontAlgn="t"/>
                      <a:r>
                        <a:rPr lang="zh-CN" altLang="en-US" sz="1200" b="1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备案截止时间</a:t>
                      </a:r>
                      <a:endParaRPr lang="zh-CN" altLang="en-US" sz="1200" b="1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2320A">
                        <a:alpha val="100000"/>
                      </a:srgbClr>
                    </a:solidFill>
                  </a:tcPr>
                </a:tc>
              </a:tr>
              <a:tr h="654050">
                <a:tc rowSpan="2">
                  <a:txBody>
                    <a:bodyPr rtlCol="0"/>
                    <a:lstStyle/>
                    <a:p>
                      <a:pPr algn="l" fontAlgn="ctr"/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职能部门</a:t>
                      </a:r>
                      <a:endParaRPr lang="zh-CN" altLang="en-US" sz="12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algn="l" fontAlgn="ctr"/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季度</a:t>
                      </a:r>
                      <a:endParaRPr lang="zh-CN" altLang="en-US" sz="12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algn="l" fontAlgn="t"/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所有员工、部门负责人</a:t>
                      </a:r>
                      <a:endParaRPr lang="zh-CN" altLang="en-US" sz="12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本季度开始首月</a:t>
                      </a:r>
                      <a:r>
                        <a:rPr lang="en-US" altLang="zh-CN" sz="12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15</a:t>
                      </a:r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日前</a:t>
                      </a:r>
                      <a:endParaRPr lang="zh-CN" altLang="en-US" sz="12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53415">
                <a:tc vMerge="1"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0E1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fontAlgn="t"/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年度</a:t>
                      </a:r>
                      <a:endParaRPr lang="zh-CN" altLang="en-US" sz="12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0E1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fontAlgn="t"/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部门负责人</a:t>
                      </a:r>
                      <a:endParaRPr lang="zh-CN" altLang="en-US" sz="12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0E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当年</a:t>
                      </a:r>
                      <a:r>
                        <a:rPr lang="en-US" altLang="zh-CN" sz="12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</a:t>
                      </a:r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月</a:t>
                      </a:r>
                      <a:r>
                        <a:rPr lang="en-US" altLang="zh-CN" sz="12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15</a:t>
                      </a:r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日前</a:t>
                      </a:r>
                      <a:endParaRPr lang="zh-CN" altLang="en-US" sz="12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0E1">
                        <a:alpha val="100000"/>
                      </a:srgbClr>
                    </a:solidFill>
                  </a:tcPr>
                </a:tc>
              </a:tr>
              <a:tr h="654050">
                <a:tc rowSpan="3">
                  <a:txBody>
                    <a:bodyPr/>
                    <a:p>
                      <a:pPr algn="l" fontAlgn="ctr"/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业务部门</a:t>
                      </a:r>
                      <a:endParaRPr lang="zh-CN" altLang="en-US" sz="12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月度</a:t>
                      </a:r>
                      <a:endParaRPr lang="zh-CN" altLang="en-US" sz="12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fontAlgn="t"/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直播间岗位人员、一线销售岗位人员</a:t>
                      </a:r>
                      <a:endParaRPr lang="zh-CN" altLang="en-US" sz="12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本月</a:t>
                      </a:r>
                      <a:r>
                        <a:rPr lang="en-US" altLang="zh-CN" sz="12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</a:t>
                      </a:r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日前</a:t>
                      </a:r>
                      <a:endParaRPr lang="zh-CN" altLang="en-US" sz="12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53415">
                <a:tc vMerge="1"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algn="l" fontAlgn="ctr"/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季度</a:t>
                      </a:r>
                      <a:endParaRPr lang="zh-CN" altLang="en-US" sz="12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fontAlgn="t"/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非月度</a:t>
                      </a:r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绩效岗位员工、部门负责人</a:t>
                      </a:r>
                      <a:endParaRPr lang="zh-CN" altLang="en-US" sz="12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本季度开始首月</a:t>
                      </a:r>
                      <a:r>
                        <a:rPr lang="en-US" altLang="zh-CN" sz="12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15</a:t>
                      </a:r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日前</a:t>
                      </a:r>
                      <a:endParaRPr lang="zh-CN" altLang="en-US" sz="12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54050">
                <a:tc vMerge="1"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0E1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algn="l" fontAlgn="ctr"/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年度</a:t>
                      </a:r>
                      <a:endParaRPr lang="zh-CN" altLang="en-US" sz="12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0E1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fontAlgn="t"/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部门负责人</a:t>
                      </a:r>
                      <a:endParaRPr lang="zh-CN" altLang="en-US" sz="12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0E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当年</a:t>
                      </a:r>
                      <a:r>
                        <a:rPr lang="en-US" altLang="zh-CN" sz="12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</a:t>
                      </a:r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月</a:t>
                      </a:r>
                      <a:r>
                        <a:rPr lang="en-US" altLang="zh-CN" sz="12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15</a:t>
                      </a:r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日前</a:t>
                      </a:r>
                      <a:endParaRPr lang="zh-CN" altLang="en-US" sz="12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0E1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7" name="AutoShape 7"/>
          <p:cNvSpPr/>
          <p:nvPr/>
        </p:nvSpPr>
        <p:spPr>
          <a:xfrm>
            <a:off x="8001000" y="1714500"/>
            <a:ext cx="36195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0D9C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8001000" y="1714500"/>
            <a:ext cx="3619500" cy="63500"/>
          </a:xfrm>
          <a:prstGeom prst="roundRect">
            <a:avLst>
              <a:gd name="adj" fmla="val 40000"/>
            </a:avLst>
          </a:prstGeom>
          <a:solidFill>
            <a:srgbClr val="E859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8191500" y="1905000"/>
            <a:ext cx="3238500" cy="330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B232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职能 / 业务分类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191500" y="2311400"/>
            <a:ext cx="3238500" cy="10795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1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职能员工统一</a:t>
            </a:r>
            <a:r>
              <a:rPr lang="zh-CN" altLang="en-US" sz="11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季度考核</a:t>
            </a:r>
            <a:endParaRPr lang="zh-CN" altLang="en-US" sz="1100" b="0" i="0" u="none" strike="noStrike">
              <a:solidFill>
                <a:srgbClr val="2A21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33000"/>
              </a:lnSpc>
              <a:defRPr/>
            </a:pPr>
            <a:r>
              <a:rPr lang="en-US" sz="11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业务</a:t>
            </a:r>
            <a:r>
              <a:rPr lang="zh-CN" altLang="en-US" sz="11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员工依据岗位性质区分月度、季度考核</a:t>
            </a:r>
            <a:endParaRPr lang="zh-CN" altLang="en-US" sz="1100" b="0" i="0" u="none" strike="noStrike">
              <a:solidFill>
                <a:srgbClr val="2A21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33000"/>
              </a:lnSpc>
              <a:defRPr/>
            </a:pPr>
            <a:r>
              <a:rPr lang="en-US" sz="1100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</a:t>
            </a:r>
            <a:r>
              <a:rPr lang="zh-CN" altLang="en-US" sz="1100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部门</a:t>
            </a:r>
            <a:r>
              <a:rPr lang="en-US" sz="1100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负责人</a:t>
            </a:r>
            <a:r>
              <a:rPr lang="zh-CN" altLang="en-US" sz="1100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为季度</a:t>
            </a:r>
            <a:r>
              <a:rPr lang="en-US" altLang="zh-CN" sz="1100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+</a:t>
            </a:r>
            <a:r>
              <a:rPr lang="en-US" sz="1100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年度</a:t>
            </a:r>
            <a:r>
              <a:rPr lang="zh-CN" altLang="en-US" sz="1100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考核</a:t>
            </a:r>
            <a:endParaRPr lang="en-US" sz="1100" b="0" i="0" u="none" strike="noStrike">
              <a:solidFill>
                <a:srgbClr val="2A21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非标准周期岗位须 HR 备案方可执行</a:t>
            </a:r>
            <a:endParaRPr lang="en-US" sz="1100" b="0" i="0" u="none" strike="noStrike">
              <a:solidFill>
                <a:srgbClr val="2A21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8001000" y="3746500"/>
            <a:ext cx="36195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0D9C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8001000" y="3746500"/>
            <a:ext cx="3619500" cy="63500"/>
          </a:xfrm>
          <a:prstGeom prst="roundRect">
            <a:avLst>
              <a:gd name="adj" fmla="val 40000"/>
            </a:avLst>
          </a:prstGeom>
          <a:solidFill>
            <a:srgbClr val="E859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8191500" y="3937000"/>
            <a:ext cx="3238500" cy="330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B232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不核发</a:t>
            </a:r>
            <a:r>
              <a:rPr lang="zh-CN" altLang="en-US" sz="1400" b="1" i="0" u="none" strike="noStrike">
                <a:solidFill>
                  <a:srgbClr val="B232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当期绩效</a:t>
            </a:r>
            <a:r>
              <a:rPr lang="en-US" sz="1400" b="1" i="0" u="none" strike="noStrike">
                <a:solidFill>
                  <a:srgbClr val="B232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奖金</a:t>
            </a:r>
            <a:r>
              <a:rPr lang="zh-CN" altLang="en-US" sz="1400" b="1" i="0" u="none" strike="noStrike">
                <a:solidFill>
                  <a:srgbClr val="B232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的</a:t>
            </a:r>
            <a:r>
              <a:rPr lang="zh-CN" altLang="en-US" sz="1400" b="1" i="0" u="none" strike="noStrike">
                <a:solidFill>
                  <a:srgbClr val="B232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情况</a:t>
            </a:r>
            <a:endParaRPr lang="zh-CN" altLang="en-US" sz="1400" b="1" i="0" u="none" strike="noStrike">
              <a:solidFill>
                <a:srgbClr val="B232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8191500" y="4343400"/>
            <a:ext cx="3238500" cy="10795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1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新入职人员（不参与部门当期</a:t>
            </a:r>
            <a:r>
              <a:rPr lang="zh-CN" altLang="en-US" sz="11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奖金发放</a:t>
            </a:r>
            <a:r>
              <a:rPr lang="en-US" sz="11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）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</a:t>
            </a:r>
            <a:r>
              <a:rPr lang="zh-CN" altLang="en-US" sz="11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实际</a:t>
            </a:r>
            <a:r>
              <a:rPr lang="en-US" sz="11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出勤&lt;1/2应出勤（法定带薪假不计缺勤）</a:t>
            </a:r>
            <a:endParaRPr lang="en-US" sz="1100" b="0" i="0" u="none" strike="noStrike">
              <a:solidFill>
                <a:srgbClr val="2A21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考核周期内离职人员</a:t>
            </a:r>
            <a:endParaRPr lang="en-US" sz="1100" b="0" i="0" u="none" strike="noStrike">
              <a:solidFill>
                <a:srgbClr val="2A21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应参与但逾期未完成者，视为放弃</a:t>
            </a:r>
            <a:r>
              <a:rPr lang="zh-CN" altLang="en-US" sz="11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当期</a:t>
            </a:r>
            <a:r>
              <a:rPr lang="zh-CN" altLang="en-US" sz="11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奖金</a:t>
            </a:r>
            <a:endParaRPr lang="zh-CN" altLang="en-US" sz="1100" b="0" i="0" u="none" strike="noStrike">
              <a:solidFill>
                <a:srgbClr val="2A21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35000" y="5699760"/>
            <a:ext cx="7112000" cy="3175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8A6F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备注：时间节点以公司绩效流程通知为准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E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600" y="533400"/>
            <a:ext cx="76200" cy="660400"/>
          </a:xfrm>
          <a:prstGeom prst="roundRect">
            <a:avLst>
              <a:gd name="adj" fmla="val 0"/>
            </a:avLst>
          </a:prstGeom>
          <a:solidFill>
            <a:srgbClr val="E859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838200" y="482600"/>
            <a:ext cx="6350000" cy="254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 spc="100">
                <a:solidFill>
                  <a:srgbClr val="E859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ANNUAL · 年度评定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838200" y="711200"/>
            <a:ext cx="8890000" cy="508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年度综合评定：述职与闭环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 l="59" r="59"/>
          <a:stretch>
            <a:fillRect/>
          </a:stretch>
        </p:blipFill>
        <p:spPr>
          <a:xfrm>
            <a:off x="10896600" y="228600"/>
            <a:ext cx="1016000" cy="850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>
            <p:custDataLst>
              <p:tags r:id="rId2"/>
            </p:custDataLst>
          </p:nvPr>
        </p:nvSpPr>
        <p:spPr>
          <a:xfrm>
            <a:off x="762000" y="1778000"/>
            <a:ext cx="5207000" cy="3924300"/>
          </a:xfrm>
          <a:prstGeom prst="roundRect">
            <a:avLst>
              <a:gd name="adj" fmla="val 3529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0D9C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>
            <p:custDataLst>
              <p:tags r:id="rId3"/>
            </p:custDataLst>
          </p:nvPr>
        </p:nvSpPr>
        <p:spPr>
          <a:xfrm>
            <a:off x="762000" y="1778000"/>
            <a:ext cx="5207000" cy="76200"/>
          </a:xfrm>
          <a:prstGeom prst="roundRect">
            <a:avLst>
              <a:gd name="adj" fmla="val 50000"/>
            </a:avLst>
          </a:prstGeom>
          <a:solidFill>
            <a:srgbClr val="E859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>
            <p:custDataLst>
              <p:tags r:id="rId4"/>
            </p:custDataLst>
          </p:nvPr>
        </p:nvSpPr>
        <p:spPr>
          <a:xfrm>
            <a:off x="1016000" y="2095500"/>
            <a:ext cx="4699000" cy="381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B232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员工层述职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5"/>
            </p:custDataLst>
          </p:nvPr>
        </p:nvSpPr>
        <p:spPr>
          <a:xfrm>
            <a:off x="1079500" y="2382520"/>
            <a:ext cx="4572000" cy="3175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67000"/>
              </a:lnSpc>
              <a:defRPr/>
            </a:pPr>
            <a:r>
              <a:rPr lang="en-US" sz="14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年度结束后</a:t>
            </a:r>
            <a:r>
              <a:rPr lang="zh-CN" altLang="en-US" sz="14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，各部门须组织</a:t>
            </a:r>
            <a:r>
              <a:rPr lang="zh-CN" altLang="en-US" sz="14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完成员工层级年度述职</a:t>
            </a:r>
            <a:endParaRPr lang="en-US" sz="1100"/>
          </a:p>
          <a:p>
            <a:pPr marL="0" indent="0" algn="l">
              <a:lnSpc>
                <a:spcPct val="167000"/>
              </a:lnSpc>
            </a:pPr>
            <a:r>
              <a:rPr lang="en-US" sz="14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现场汇报 或 书面述职+答辩</a:t>
            </a:r>
            <a:endParaRPr lang="en-US" sz="1400" b="0" i="0" u="none" strike="noStrike">
              <a:solidFill>
                <a:srgbClr val="2A21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67000"/>
              </a:lnSpc>
            </a:pPr>
            <a:r>
              <a:rPr lang="en-US" sz="14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内容：达成·亮点·不足反思·下年规划·</a:t>
            </a:r>
            <a:r>
              <a:rPr lang="zh-CN" altLang="en-US" sz="14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价值观践行</a:t>
            </a:r>
            <a:endParaRPr lang="en-US" sz="1400" b="0" i="0" u="none" strike="noStrike">
              <a:solidFill>
                <a:srgbClr val="2A21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67000"/>
              </a:lnSpc>
            </a:pPr>
            <a:r>
              <a:rPr lang="en-US" sz="14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部门负责人给</a:t>
            </a:r>
            <a:r>
              <a:rPr lang="zh-CN" altLang="en-US" sz="14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出</a:t>
            </a:r>
            <a:r>
              <a:rPr lang="en-US" sz="14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年度综合评级+推优名单</a:t>
            </a:r>
            <a:endParaRPr lang="en-US" sz="1400" b="0" i="0" u="none" strike="noStrike">
              <a:solidFill>
                <a:srgbClr val="2A21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67000"/>
              </a:lnSpc>
            </a:pPr>
            <a:r>
              <a:rPr lang="en-US" sz="14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结果报 HRBP，作为调薪/</a:t>
            </a:r>
            <a:r>
              <a:rPr lang="zh-CN" altLang="en-US" sz="14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晋升</a:t>
            </a:r>
            <a:r>
              <a:rPr lang="en-US" altLang="zh-CN" sz="14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/</a:t>
            </a:r>
            <a:r>
              <a:rPr lang="zh-CN" altLang="en-US" sz="14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评优</a:t>
            </a:r>
            <a:r>
              <a:rPr lang="en-US" sz="14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核心输入</a:t>
            </a:r>
            <a:endParaRPr lang="en-US" sz="1400" b="0" i="0" u="none" strike="noStrike">
              <a:solidFill>
                <a:srgbClr val="2A21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" name="AutoShape 10"/>
          <p:cNvSpPr/>
          <p:nvPr>
            <p:custDataLst>
              <p:tags r:id="rId6"/>
            </p:custDataLst>
          </p:nvPr>
        </p:nvSpPr>
        <p:spPr>
          <a:xfrm>
            <a:off x="6223000" y="1778000"/>
            <a:ext cx="5207000" cy="3924300"/>
          </a:xfrm>
          <a:prstGeom prst="roundRect">
            <a:avLst>
              <a:gd name="adj" fmla="val 3529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0D9C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>
            <p:custDataLst>
              <p:tags r:id="rId7"/>
            </p:custDataLst>
          </p:nvPr>
        </p:nvSpPr>
        <p:spPr>
          <a:xfrm>
            <a:off x="6223000" y="1778000"/>
            <a:ext cx="5207000" cy="76200"/>
          </a:xfrm>
          <a:prstGeom prst="roundRect">
            <a:avLst>
              <a:gd name="adj" fmla="val 50000"/>
            </a:avLst>
          </a:prstGeom>
          <a:solidFill>
            <a:srgbClr val="B2320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>
            <p:custDataLst>
              <p:tags r:id="rId8"/>
            </p:custDataLst>
          </p:nvPr>
        </p:nvSpPr>
        <p:spPr>
          <a:xfrm>
            <a:off x="6477000" y="2095500"/>
            <a:ext cx="4699000" cy="381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B232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公司层述职</a:t>
            </a: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9"/>
            </p:custDataLst>
          </p:nvPr>
        </p:nvSpPr>
        <p:spPr>
          <a:xfrm>
            <a:off x="6540500" y="2382520"/>
            <a:ext cx="4805045" cy="3175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67000"/>
              </a:lnSpc>
              <a:defRPr/>
            </a:pPr>
            <a:r>
              <a:rPr lang="en-US" sz="14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</a:t>
            </a:r>
            <a:r>
              <a:rPr lang="zh-CN" altLang="en-US" sz="14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年度结束后，公司层面组织</a:t>
            </a:r>
            <a:r>
              <a:rPr lang="en-US" sz="14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部门负责人&amp;推优人员</a:t>
            </a:r>
            <a:r>
              <a:rPr lang="zh-CN" altLang="en-US" sz="14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年度述职</a:t>
            </a:r>
            <a:endParaRPr lang="zh-CN" altLang="en-US" sz="1400" b="0" i="0" u="none" strike="noStrike">
              <a:solidFill>
                <a:srgbClr val="2A21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67000"/>
              </a:lnSpc>
              <a:defRPr/>
            </a:pPr>
            <a:r>
              <a:rPr lang="en-US" sz="14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</a:t>
            </a:r>
            <a:r>
              <a:rPr lang="zh-CN" altLang="en-US" sz="14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现场汇报</a:t>
            </a:r>
            <a:endParaRPr lang="en-US" sz="1400" b="0" i="0" u="none" strike="noStrike">
              <a:solidFill>
                <a:srgbClr val="2A21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67000"/>
              </a:lnSpc>
              <a:defRPr/>
            </a:pPr>
            <a:r>
              <a:rPr lang="en-US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</a:t>
            </a:r>
            <a:r>
              <a:rPr lang="en-US" sz="14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评委：CEO·分管高管·HR负责人·跨部门负责人</a:t>
            </a:r>
            <a:endParaRPr lang="en-US" sz="1400" b="0" i="0" u="none" strike="noStrike">
              <a:solidFill>
                <a:srgbClr val="2A21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67000"/>
              </a:lnSpc>
            </a:pPr>
            <a:r>
              <a:rPr lang="en-US" sz="14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部门负责人评级关联</a:t>
            </a:r>
            <a:r>
              <a:rPr lang="zh-CN" altLang="en-US" sz="14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下一年度薪酬</a:t>
            </a:r>
            <a:r>
              <a:rPr lang="en-US" sz="14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/晋升/授权</a:t>
            </a:r>
            <a:endParaRPr lang="en-US" sz="1400" b="0" i="0" u="none" strike="noStrike">
              <a:solidFill>
                <a:srgbClr val="2A21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67000"/>
              </a:lnSpc>
            </a:pPr>
            <a:r>
              <a:rPr lang="en-US" sz="14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推优名单由公司层面最终确定</a:t>
            </a:r>
            <a:endParaRPr lang="en-US" sz="1400" b="0" i="0" u="none" strike="noStrike">
              <a:solidFill>
                <a:srgbClr val="2A21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17880" y="5963920"/>
            <a:ext cx="7112000" cy="3175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8A6F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备注：</a:t>
            </a:r>
            <a:r>
              <a:rPr lang="zh-CN" altLang="en-US" sz="1100" b="0" i="0" u="none" strike="noStrike">
                <a:solidFill>
                  <a:srgbClr val="8A6F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具体</a:t>
            </a:r>
            <a:r>
              <a:rPr lang="en-US" sz="1100" b="0" i="0" u="none" strike="noStrike">
                <a:solidFill>
                  <a:srgbClr val="8A6F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时间节点</a:t>
            </a:r>
            <a:r>
              <a:rPr lang="zh-CN" altLang="en-US" sz="1100" b="0" i="0" u="none" strike="noStrike">
                <a:solidFill>
                  <a:srgbClr val="8A6F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及要求</a:t>
            </a:r>
            <a:r>
              <a:rPr lang="en-US" sz="1100" b="0" i="0" u="none" strike="noStrike">
                <a:solidFill>
                  <a:srgbClr val="8A6F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以公司</a:t>
            </a:r>
            <a:r>
              <a:rPr lang="zh-CN" altLang="en-US" sz="1100" b="0" i="0" u="none" strike="noStrike">
                <a:solidFill>
                  <a:srgbClr val="8A6F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年度述职</a:t>
            </a:r>
            <a:r>
              <a:rPr lang="en-US" sz="1100" b="0" i="0" u="none" strike="noStrike">
                <a:solidFill>
                  <a:srgbClr val="8A6F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通知为准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E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600" y="533400"/>
            <a:ext cx="76200" cy="660400"/>
          </a:xfrm>
          <a:prstGeom prst="roundRect">
            <a:avLst>
              <a:gd name="adj" fmla="val 0"/>
            </a:avLst>
          </a:prstGeom>
          <a:solidFill>
            <a:srgbClr val="E859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838200" y="711200"/>
            <a:ext cx="8890000" cy="508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800" b="1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宣导后，员工与管理者分别要做</a:t>
            </a:r>
            <a:r>
              <a:rPr lang="zh-CN" altLang="en-US" sz="2800" b="1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什么</a:t>
            </a:r>
            <a:endParaRPr lang="zh-CN" altLang="en-US" sz="2800" b="1" i="0" u="none" strike="noStrike">
              <a:solidFill>
                <a:srgbClr val="2A21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 l="59" r="59"/>
          <a:stretch>
            <a:fillRect/>
          </a:stretch>
        </p:blipFill>
        <p:spPr>
          <a:xfrm>
            <a:off x="10896600" y="228600"/>
            <a:ext cx="1016000" cy="850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9" name="Rounded Rectangle 6"/>
          <p:cNvSpPr/>
          <p:nvPr/>
        </p:nvSpPr>
        <p:spPr>
          <a:xfrm>
            <a:off x="651510" y="1851660"/>
            <a:ext cx="522000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Oval 7"/>
          <p:cNvSpPr/>
          <p:nvPr/>
        </p:nvSpPr>
        <p:spPr>
          <a:xfrm>
            <a:off x="761238" y="2080260"/>
            <a:ext cx="457200" cy="457200"/>
          </a:xfrm>
          <a:prstGeom prst="ellipse">
            <a:avLst/>
          </a:prstGeom>
          <a:solidFill>
            <a:srgbClr val="B23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8"/>
          <p:cNvSpPr txBox="1"/>
          <p:nvPr/>
        </p:nvSpPr>
        <p:spPr>
          <a:xfrm>
            <a:off x="761238" y="2125980"/>
            <a:ext cx="457200" cy="365760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ctr">
              <a:lnSpc>
                <a:spcPct val="125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1</a:t>
            </a:r>
            <a:endParaRPr>
              <a:ea typeface="微软雅黑" panose="020B0503020204020204" charset="-122"/>
            </a:endParaRPr>
          </a:p>
        </p:txBody>
      </p:sp>
      <p:sp>
        <p:nvSpPr>
          <p:cNvPr id="22" name="TextBox 9"/>
          <p:cNvSpPr txBox="1"/>
          <p:nvPr/>
        </p:nvSpPr>
        <p:spPr>
          <a:xfrm>
            <a:off x="1309878" y="2141982"/>
            <a:ext cx="4747107" cy="658368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lnSpc>
                <a:spcPct val="125000"/>
              </a:lnSpc>
              <a:spcAft>
                <a:spcPts val="0"/>
              </a:spcAft>
              <a:defRPr sz="1400" b="0">
                <a:solidFill>
                  <a:srgbClr val="2A211C"/>
                </a:solidFill>
                <a:latin typeface="微软雅黑" panose="020B0503020204020204" charset="-122"/>
              </a:defRPr>
            </a:pPr>
            <a:r>
              <a:rPr lang="zh-CN">
                <a:ea typeface="微软雅黑" panose="020B0503020204020204" charset="-122"/>
                <a:cs typeface="微软雅黑" panose="020B0503020204020204" charset="-122"/>
              </a:rPr>
              <a:t>双方：</a:t>
            </a:r>
            <a:r>
              <a:rPr lang="zh-CN">
                <a:ea typeface="微软雅黑" panose="020B0503020204020204" charset="-122"/>
                <a:cs typeface="微软雅黑" panose="020B0503020204020204" charset="-122"/>
              </a:rPr>
              <a:t>达成目标共识，确认指标、权重和计算</a:t>
            </a:r>
            <a:r>
              <a:rPr lang="zh-CN">
                <a:ea typeface="微软雅黑" panose="020B0503020204020204" charset="-122"/>
                <a:cs typeface="微软雅黑" panose="020B0503020204020204" charset="-122"/>
              </a:rPr>
              <a:t>口径</a:t>
            </a:r>
            <a:endParaRPr lang="zh-CN"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ounded Rectangle 10"/>
          <p:cNvSpPr/>
          <p:nvPr/>
        </p:nvSpPr>
        <p:spPr>
          <a:xfrm>
            <a:off x="651510" y="2921508"/>
            <a:ext cx="522000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Oval 11"/>
          <p:cNvSpPr/>
          <p:nvPr/>
        </p:nvSpPr>
        <p:spPr>
          <a:xfrm>
            <a:off x="761238" y="3150108"/>
            <a:ext cx="457200" cy="457200"/>
          </a:xfrm>
          <a:prstGeom prst="ellipse">
            <a:avLst/>
          </a:prstGeom>
          <a:solidFill>
            <a:srgbClr val="B23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12"/>
          <p:cNvSpPr txBox="1"/>
          <p:nvPr/>
        </p:nvSpPr>
        <p:spPr>
          <a:xfrm>
            <a:off x="761238" y="3195828"/>
            <a:ext cx="457200" cy="365760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ctr">
              <a:lnSpc>
                <a:spcPct val="125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2</a:t>
            </a:r>
            <a:endParaRPr>
              <a:ea typeface="微软雅黑" panose="020B0503020204020204" charset="-122"/>
            </a:endParaRPr>
          </a:p>
        </p:txBody>
      </p:sp>
      <p:sp>
        <p:nvSpPr>
          <p:cNvPr id="26" name="TextBox 13"/>
          <p:cNvSpPr txBox="1"/>
          <p:nvPr/>
        </p:nvSpPr>
        <p:spPr>
          <a:xfrm>
            <a:off x="1309878" y="3211830"/>
            <a:ext cx="4747107" cy="658368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lnSpc>
                <a:spcPct val="125000"/>
              </a:lnSpc>
              <a:spcAft>
                <a:spcPts val="0"/>
              </a:spcAft>
              <a:defRPr sz="1400" b="0">
                <a:solidFill>
                  <a:srgbClr val="2A211C"/>
                </a:solidFill>
                <a:latin typeface="微软雅黑" panose="020B0503020204020204" charset="-122"/>
              </a:defRPr>
            </a:pPr>
            <a:r>
              <a:rPr lang="zh-CN">
                <a:ea typeface="微软雅黑" panose="020B0503020204020204" charset="-122"/>
              </a:rPr>
              <a:t>员工：定期复盘进展，主要提出资源及支持</a:t>
            </a:r>
            <a:r>
              <a:rPr lang="zh-CN">
                <a:ea typeface="微软雅黑" panose="020B0503020204020204" charset="-122"/>
              </a:rPr>
              <a:t>需求</a:t>
            </a:r>
            <a:endParaRPr lang="zh-CN">
              <a:ea typeface="微软雅黑" panose="020B0503020204020204" charset="-122"/>
            </a:endParaRPr>
          </a:p>
        </p:txBody>
      </p:sp>
      <p:sp>
        <p:nvSpPr>
          <p:cNvPr id="27" name="Rounded Rectangle 14"/>
          <p:cNvSpPr/>
          <p:nvPr/>
        </p:nvSpPr>
        <p:spPr>
          <a:xfrm>
            <a:off x="651510" y="3991356"/>
            <a:ext cx="522000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Oval 15"/>
          <p:cNvSpPr/>
          <p:nvPr/>
        </p:nvSpPr>
        <p:spPr>
          <a:xfrm>
            <a:off x="761238" y="4219956"/>
            <a:ext cx="457200" cy="457200"/>
          </a:xfrm>
          <a:prstGeom prst="ellipse">
            <a:avLst/>
          </a:prstGeom>
          <a:solidFill>
            <a:srgbClr val="B23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16"/>
          <p:cNvSpPr txBox="1"/>
          <p:nvPr/>
        </p:nvSpPr>
        <p:spPr>
          <a:xfrm>
            <a:off x="761238" y="4265676"/>
            <a:ext cx="457200" cy="365760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ctr">
              <a:lnSpc>
                <a:spcPct val="125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3</a:t>
            </a:r>
            <a:endParaRPr>
              <a:ea typeface="微软雅黑" panose="020B0503020204020204" charset="-122"/>
            </a:endParaRPr>
          </a:p>
        </p:txBody>
      </p:sp>
      <p:sp>
        <p:nvSpPr>
          <p:cNvPr id="30" name="TextBox 17"/>
          <p:cNvSpPr txBox="1"/>
          <p:nvPr/>
        </p:nvSpPr>
        <p:spPr>
          <a:xfrm>
            <a:off x="1309878" y="4281678"/>
            <a:ext cx="4747107" cy="658368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lnSpc>
                <a:spcPct val="125000"/>
              </a:lnSpc>
              <a:spcAft>
                <a:spcPts val="0"/>
              </a:spcAft>
              <a:defRPr sz="1400" b="0">
                <a:solidFill>
                  <a:srgbClr val="2A211C"/>
                </a:solidFill>
                <a:latin typeface="微软雅黑" panose="020B0503020204020204" charset="-122"/>
              </a:defRPr>
            </a:pPr>
            <a:r>
              <a:rPr lang="zh-CN">
                <a:ea typeface="微软雅黑" panose="020B0503020204020204" charset="-122"/>
                <a:cs typeface="微软雅黑" panose="020B0503020204020204" charset="-122"/>
                <a:sym typeface="+mn-ea"/>
              </a:rPr>
              <a:t>管理者：持续跟进，事件发生</a:t>
            </a:r>
            <a:r>
              <a:rPr lang="en-US" altLang="zh-CN">
                <a:ea typeface="微软雅黑" panose="020B0503020204020204" charset="-122"/>
                <a:cs typeface="微软雅黑" panose="020B0503020204020204" charset="-122"/>
                <a:sym typeface="+mn-ea"/>
              </a:rPr>
              <a:t>48</a:t>
            </a:r>
            <a:r>
              <a:rPr lang="zh-CN" altLang="en-US">
                <a:ea typeface="微软雅黑" panose="020B0503020204020204" charset="-122"/>
                <a:cs typeface="微软雅黑" panose="020B0503020204020204" charset="-122"/>
                <a:sym typeface="+mn-ea"/>
              </a:rPr>
              <a:t>小时内反馈</a:t>
            </a:r>
            <a:endParaRPr lang="zh-CN" altLang="en-US"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  <a:defRPr sz="1400" b="0">
                <a:solidFill>
                  <a:srgbClr val="2A211C"/>
                </a:solidFill>
                <a:latin typeface="微软雅黑" panose="020B0503020204020204" charset="-122"/>
              </a:defRPr>
            </a:pPr>
            <a:endParaRPr lang="zh-CN">
              <a:ea typeface="微软雅黑" panose="020B0503020204020204" charset="-122"/>
            </a:endParaRPr>
          </a:p>
        </p:txBody>
      </p:sp>
      <p:sp>
        <p:nvSpPr>
          <p:cNvPr id="31" name="Rounded Rectangle 18"/>
          <p:cNvSpPr/>
          <p:nvPr/>
        </p:nvSpPr>
        <p:spPr>
          <a:xfrm>
            <a:off x="651510" y="5061204"/>
            <a:ext cx="522000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Oval 19"/>
          <p:cNvSpPr/>
          <p:nvPr/>
        </p:nvSpPr>
        <p:spPr>
          <a:xfrm>
            <a:off x="761238" y="5289804"/>
            <a:ext cx="457200" cy="457200"/>
          </a:xfrm>
          <a:prstGeom prst="ellipse">
            <a:avLst/>
          </a:prstGeom>
          <a:solidFill>
            <a:srgbClr val="B23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TextBox 20"/>
          <p:cNvSpPr txBox="1"/>
          <p:nvPr/>
        </p:nvSpPr>
        <p:spPr>
          <a:xfrm>
            <a:off x="761238" y="5335524"/>
            <a:ext cx="457200" cy="365760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ctr">
              <a:lnSpc>
                <a:spcPct val="125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4</a:t>
            </a:r>
            <a:endParaRPr>
              <a:ea typeface="微软雅黑" panose="020B0503020204020204" charset="-122"/>
            </a:endParaRPr>
          </a:p>
        </p:txBody>
      </p:sp>
      <p:sp>
        <p:nvSpPr>
          <p:cNvPr id="34" name="TextBox 21"/>
          <p:cNvSpPr txBox="1"/>
          <p:nvPr/>
        </p:nvSpPr>
        <p:spPr>
          <a:xfrm>
            <a:off x="1309878" y="5351526"/>
            <a:ext cx="4747107" cy="658368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lnSpc>
                <a:spcPct val="125000"/>
              </a:lnSpc>
              <a:spcAft>
                <a:spcPts val="0"/>
              </a:spcAft>
              <a:defRPr sz="1400" b="0">
                <a:solidFill>
                  <a:srgbClr val="2A211C"/>
                </a:solidFill>
                <a:latin typeface="微软雅黑" panose="020B0503020204020204" charset="-122"/>
              </a:defRPr>
            </a:pPr>
            <a:r>
              <a:rPr lang="zh-CN">
                <a:ea typeface="微软雅黑" panose="020B0503020204020204" charset="-122"/>
                <a:sym typeface="+mn-ea"/>
              </a:rPr>
              <a:t>员工：用事实自评，参加一对一反馈并确认改进计划</a:t>
            </a:r>
            <a:endParaRPr lang="zh-CN" altLang="en-US"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Rounded Rectangle 22"/>
          <p:cNvSpPr/>
          <p:nvPr/>
        </p:nvSpPr>
        <p:spPr>
          <a:xfrm>
            <a:off x="6278727" y="1851660"/>
            <a:ext cx="522000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Oval 23"/>
          <p:cNvSpPr/>
          <p:nvPr/>
        </p:nvSpPr>
        <p:spPr>
          <a:xfrm>
            <a:off x="6388455" y="2080260"/>
            <a:ext cx="457200" cy="457200"/>
          </a:xfrm>
          <a:prstGeom prst="ellipse">
            <a:avLst/>
          </a:prstGeom>
          <a:solidFill>
            <a:srgbClr val="B23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TextBox 24"/>
          <p:cNvSpPr txBox="1"/>
          <p:nvPr/>
        </p:nvSpPr>
        <p:spPr>
          <a:xfrm>
            <a:off x="6388455" y="2125980"/>
            <a:ext cx="457200" cy="365760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ctr">
              <a:lnSpc>
                <a:spcPct val="125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lang="en-US">
                <a:ea typeface="微软雅黑" panose="020B0503020204020204" charset="-122"/>
              </a:rPr>
              <a:t>5</a:t>
            </a:r>
            <a:endParaRPr lang="en-US">
              <a:ea typeface="微软雅黑" panose="020B0503020204020204" charset="-122"/>
            </a:endParaRPr>
          </a:p>
        </p:txBody>
      </p:sp>
      <p:sp>
        <p:nvSpPr>
          <p:cNvPr id="38" name="TextBox 25"/>
          <p:cNvSpPr txBox="1"/>
          <p:nvPr/>
        </p:nvSpPr>
        <p:spPr>
          <a:xfrm>
            <a:off x="6937095" y="2130552"/>
            <a:ext cx="4747107" cy="658368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lnSpc>
                <a:spcPct val="125000"/>
              </a:lnSpc>
              <a:spcAft>
                <a:spcPts val="0"/>
              </a:spcAft>
              <a:defRPr sz="1400" b="0">
                <a:solidFill>
                  <a:srgbClr val="2A211C"/>
                </a:solidFill>
                <a:latin typeface="微软雅黑" panose="020B0503020204020204" charset="-122"/>
              </a:defRPr>
            </a:pPr>
            <a:r>
              <a:rPr lang="zh-CN">
                <a:ea typeface="微软雅黑" panose="020B0503020204020204" charset="-122"/>
                <a:cs typeface="微软雅黑" panose="020B0503020204020204" charset="-122"/>
              </a:rPr>
              <a:t>管理者：统一尺度评估并参加校准，不能全员</a:t>
            </a:r>
            <a:r>
              <a:rPr lang="zh-CN">
                <a:ea typeface="微软雅黑" panose="020B0503020204020204" charset="-122"/>
                <a:cs typeface="微软雅黑" panose="020B0503020204020204" charset="-122"/>
              </a:rPr>
              <a:t>平均</a:t>
            </a:r>
            <a:endParaRPr lang="zh-CN"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Rounded Rectangle 26"/>
          <p:cNvSpPr/>
          <p:nvPr/>
        </p:nvSpPr>
        <p:spPr>
          <a:xfrm>
            <a:off x="6278727" y="2921508"/>
            <a:ext cx="522000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Oval 27"/>
          <p:cNvSpPr/>
          <p:nvPr/>
        </p:nvSpPr>
        <p:spPr>
          <a:xfrm>
            <a:off x="6388455" y="3150108"/>
            <a:ext cx="457200" cy="457200"/>
          </a:xfrm>
          <a:prstGeom prst="ellipse">
            <a:avLst/>
          </a:prstGeom>
          <a:solidFill>
            <a:srgbClr val="B23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TextBox 28"/>
          <p:cNvSpPr txBox="1"/>
          <p:nvPr/>
        </p:nvSpPr>
        <p:spPr>
          <a:xfrm>
            <a:off x="6388455" y="3195828"/>
            <a:ext cx="457200" cy="365760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ctr">
              <a:lnSpc>
                <a:spcPct val="125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6</a:t>
            </a:r>
            <a:endParaRPr>
              <a:ea typeface="微软雅黑" panose="020B0503020204020204" charset="-122"/>
            </a:endParaRPr>
          </a:p>
        </p:txBody>
      </p:sp>
      <p:sp>
        <p:nvSpPr>
          <p:cNvPr id="42" name="TextBox 29"/>
          <p:cNvSpPr txBox="1"/>
          <p:nvPr/>
        </p:nvSpPr>
        <p:spPr>
          <a:xfrm>
            <a:off x="6937095" y="3200400"/>
            <a:ext cx="4747107" cy="658368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lnSpc>
                <a:spcPct val="125000"/>
              </a:lnSpc>
              <a:spcAft>
                <a:spcPts val="0"/>
              </a:spcAft>
              <a:defRPr sz="1400" b="0">
                <a:solidFill>
                  <a:srgbClr val="2A211C"/>
                </a:solidFill>
                <a:latin typeface="微软雅黑" panose="020B0503020204020204" charset="-122"/>
              </a:defRPr>
            </a:pPr>
            <a:r>
              <a:rPr lang="zh-CN">
                <a:ea typeface="微软雅黑" panose="020B0503020204020204" charset="-122"/>
              </a:rPr>
              <a:t>管理者：完成面谈、结果应用和必要的</a:t>
            </a:r>
            <a:r>
              <a:rPr lang="en-US" altLang="zh-CN">
                <a:ea typeface="微软雅黑" panose="020B0503020204020204" charset="-122"/>
              </a:rPr>
              <a:t>PIP</a:t>
            </a:r>
            <a:endParaRPr lang="en-US" altLang="zh-CN">
              <a:ea typeface="微软雅黑" panose="020B0503020204020204" charset="-122"/>
            </a:endParaRPr>
          </a:p>
        </p:txBody>
      </p:sp>
      <p:sp>
        <p:nvSpPr>
          <p:cNvPr id="43" name="Rounded Rectangle 30"/>
          <p:cNvSpPr/>
          <p:nvPr/>
        </p:nvSpPr>
        <p:spPr>
          <a:xfrm>
            <a:off x="6278727" y="3991356"/>
            <a:ext cx="522000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Oval 31"/>
          <p:cNvSpPr/>
          <p:nvPr/>
        </p:nvSpPr>
        <p:spPr>
          <a:xfrm>
            <a:off x="6388455" y="4219956"/>
            <a:ext cx="457200" cy="457200"/>
          </a:xfrm>
          <a:prstGeom prst="ellipse">
            <a:avLst/>
          </a:prstGeom>
          <a:solidFill>
            <a:srgbClr val="B23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TextBox 32"/>
          <p:cNvSpPr txBox="1"/>
          <p:nvPr/>
        </p:nvSpPr>
        <p:spPr>
          <a:xfrm>
            <a:off x="6388455" y="4265676"/>
            <a:ext cx="457200" cy="365760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ctr">
              <a:lnSpc>
                <a:spcPct val="125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7</a:t>
            </a:r>
            <a:endParaRPr>
              <a:ea typeface="微软雅黑" panose="020B0503020204020204" charset="-122"/>
            </a:endParaRPr>
          </a:p>
        </p:txBody>
      </p:sp>
      <p:sp>
        <p:nvSpPr>
          <p:cNvPr id="46" name="TextBox 33"/>
          <p:cNvSpPr txBox="1"/>
          <p:nvPr/>
        </p:nvSpPr>
        <p:spPr>
          <a:xfrm>
            <a:off x="6937095" y="4270248"/>
            <a:ext cx="4747107" cy="658368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lnSpc>
                <a:spcPct val="125000"/>
              </a:lnSpc>
              <a:spcAft>
                <a:spcPts val="0"/>
              </a:spcAft>
              <a:defRPr sz="1400" b="0">
                <a:solidFill>
                  <a:srgbClr val="2A211C"/>
                </a:solidFill>
                <a:latin typeface="微软雅黑" panose="020B0503020204020204" charset="-122"/>
              </a:defRPr>
            </a:pPr>
            <a:r>
              <a:rPr lang="zh-CN">
                <a:ea typeface="微软雅黑" panose="020B0503020204020204" charset="-122"/>
                <a:cs typeface="微软雅黑" panose="020B0503020204020204" charset="-122"/>
              </a:rPr>
              <a:t>双方：有异议时按申诉流程提出并保留事实</a:t>
            </a:r>
            <a:r>
              <a:rPr lang="zh-CN">
                <a:ea typeface="微软雅黑" panose="020B0503020204020204" charset="-122"/>
                <a:cs typeface="微软雅黑" panose="020B0503020204020204" charset="-122"/>
              </a:rPr>
              <a:t>材料</a:t>
            </a:r>
            <a:endParaRPr lang="zh-CN"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AutoShape 3"/>
          <p:cNvSpPr/>
          <p:nvPr/>
        </p:nvSpPr>
        <p:spPr>
          <a:xfrm>
            <a:off x="838200" y="482600"/>
            <a:ext cx="6350000" cy="254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200" b="1" i="0" u="none" strike="noStrike" spc="100">
                <a:solidFill>
                  <a:srgbClr val="E859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管理</a:t>
            </a:r>
            <a:r>
              <a:rPr lang="zh-CN" altLang="en-US" sz="1200" b="1" i="0" u="none" strike="noStrike" spc="100">
                <a:solidFill>
                  <a:srgbClr val="E859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要求</a:t>
            </a:r>
            <a:endParaRPr lang="zh-CN" altLang="en-US" sz="1200" b="1" i="0" u="none" strike="noStrike" spc="100">
              <a:solidFill>
                <a:srgbClr val="E8590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3572"/>
            <a:ext cx="12179300" cy="6850856"/>
          </a:xfrm>
          <a:prstGeom prst="rect">
            <a:avLst/>
          </a:prstGeom>
          <a:solidFill>
            <a:srgbClr val="000000">
              <a:alpha val="100000"/>
            </a:srgbClr>
          </a:solidFill>
          <a:ln w="12700">
            <a:noFill/>
            <a:prstDash val="solid"/>
          </a:ln>
        </p:spPr>
      </p:pic>
      <p:sp>
        <p:nvSpPr>
          <p:cNvPr id="3" name="AutoShape 3"/>
          <p:cNvSpPr/>
          <p:nvPr/>
        </p:nvSpPr>
        <p:spPr>
          <a:xfrm>
            <a:off x="0" y="3572"/>
            <a:ext cx="12179300" cy="6850856"/>
          </a:xfrm>
          <a:prstGeom prst="rect">
            <a:avLst/>
          </a:prstGeom>
          <a:gradFill rotWithShape="1"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80000"/>
                </a:srgbClr>
              </a:gs>
            </a:gsLst>
            <a:lin ang="2700000"/>
          </a:gradFill>
          <a:ln w="12700" cap="flat">
            <a:noFill/>
            <a:prstDash val="solid"/>
          </a:ln>
          <a:effectLst>
            <a:outerShdw blurRad="254000" dist="431800" dir="5400000" sx="90000" sy="90000" algn="t" rotWithShape="0">
              <a:srgbClr val="3B3838">
                <a:alpha val="15000"/>
              </a:srgbClr>
            </a:outerShdw>
          </a:effectLst>
        </p:spPr>
        <p:txBody>
          <a:bodyPr wrap="square" lIns="91344" tIns="45672" rIns="91344" bIns="45672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0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grpSp>
        <p:nvGrpSpPr>
          <p:cNvPr id="12" name="组合 11"/>
          <p:cNvGrpSpPr/>
          <p:nvPr/>
        </p:nvGrpSpPr>
        <p:grpSpPr>
          <a:xfrm>
            <a:off x="1016000" y="900467"/>
            <a:ext cx="9501505" cy="4811993"/>
            <a:chOff x="1600" y="2457"/>
            <a:chExt cx="14963" cy="6743"/>
          </a:xfrm>
        </p:grpSpPr>
        <p:sp>
          <p:nvSpPr>
            <p:cNvPr id="6" name="AutoShape 2"/>
            <p:cNvSpPr/>
            <p:nvPr/>
          </p:nvSpPr>
          <p:spPr>
            <a:xfrm>
              <a:off x="1727" y="5001"/>
              <a:ext cx="12000" cy="500"/>
            </a:xfrm>
            <a:prstGeom prst="rect">
              <a:avLst/>
            </a:prstGeom>
            <a:noFill/>
            <a:ln w="12687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800" b="1" i="0" u="none" strike="noStrike" spc="200">
                  <a:solidFill>
                    <a:srgbClr val="E8590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战略解码方法论 · </a:t>
              </a:r>
              <a:r>
                <a:rPr lang="zh-CN" altLang="en-US" sz="1800" b="1" i="0" u="none" strike="noStrike" spc="200">
                  <a:solidFill>
                    <a:srgbClr val="E8590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个人指标设定</a:t>
              </a:r>
              <a:r>
                <a:rPr lang="zh-CN" altLang="en-US" sz="1800" b="1" i="0" u="none" strike="noStrike" spc="200">
                  <a:solidFill>
                    <a:srgbClr val="E8590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要点</a:t>
              </a:r>
              <a:endParaRPr lang="zh-CN" altLang="en-US" sz="1800" b="1" i="0" u="none" strike="noStrike" spc="200">
                <a:solidFill>
                  <a:srgbClr val="E859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7" name="AutoShape 3"/>
            <p:cNvSpPr/>
            <p:nvPr/>
          </p:nvSpPr>
          <p:spPr>
            <a:xfrm>
              <a:off x="1600" y="2457"/>
              <a:ext cx="14963" cy="2400"/>
            </a:xfrm>
            <a:prstGeom prst="rect">
              <a:avLst/>
            </a:prstGeom>
            <a:noFill/>
            <a:ln w="12687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zh-CN" altLang="en-US" sz="5400" b="1" i="0" u="none" strike="noStrike">
                  <a:solidFill>
                    <a:srgbClr val="E8590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战略目标分解及个人指标</a:t>
              </a:r>
              <a:r>
                <a:rPr lang="zh-CN" altLang="en-US" sz="5400" b="1" i="0" u="none" strike="noStrike">
                  <a:solidFill>
                    <a:srgbClr val="E8590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设定</a:t>
              </a:r>
              <a:endParaRPr lang="zh-CN" altLang="en-US" sz="5400" b="1" i="0" u="none" strike="noStrike">
                <a:solidFill>
                  <a:srgbClr val="E859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9" name="AutoShape 5"/>
            <p:cNvSpPr/>
            <p:nvPr/>
          </p:nvSpPr>
          <p:spPr>
            <a:xfrm>
              <a:off x="1600" y="7600"/>
              <a:ext cx="12000" cy="500"/>
            </a:xfrm>
            <a:prstGeom prst="rect">
              <a:avLst/>
            </a:prstGeom>
            <a:noFill/>
            <a:ln w="12687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800" b="0" i="0" u="none" strike="noStrike">
                  <a:solidFill>
                    <a:srgbClr val="E8590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目的作用 · 流程要点 · 案例</a:t>
              </a:r>
              <a:endParaRPr lang="en-US" sz="1800" b="0" i="0" u="none" strike="noStrike">
                <a:solidFill>
                  <a:srgbClr val="E859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0" name="AutoShape 6"/>
            <p:cNvSpPr/>
            <p:nvPr/>
          </p:nvSpPr>
          <p:spPr>
            <a:xfrm>
              <a:off x="1600" y="8400"/>
              <a:ext cx="4535" cy="60"/>
            </a:xfrm>
            <a:prstGeom prst="roundRect">
              <a:avLst>
                <a:gd name="adj" fmla="val 0"/>
              </a:avLst>
            </a:prstGeom>
            <a:solidFill>
              <a:srgbClr val="FFB478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lnSpc>
                  <a:spcPct val="125000"/>
                </a:lnSpc>
                <a:defRPr/>
              </a:pPr>
              <a:endParaRPr sz="1800">
                <a:solidFill>
                  <a:srgbClr val="E8590C"/>
                </a:solidFill>
              </a:endParaRPr>
            </a:p>
          </p:txBody>
        </p:sp>
        <p:sp>
          <p:nvSpPr>
            <p:cNvPr id="11" name="AutoShape 7"/>
            <p:cNvSpPr/>
            <p:nvPr/>
          </p:nvSpPr>
          <p:spPr>
            <a:xfrm>
              <a:off x="1600" y="8700"/>
              <a:ext cx="14000" cy="500"/>
            </a:xfrm>
            <a:prstGeom prst="rect">
              <a:avLst/>
            </a:prstGeom>
            <a:noFill/>
            <a:ln w="12687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600" b="0" u="none" strike="noStrike">
                  <a:solidFill>
                    <a:srgbClr val="E8590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战略不破解，就是墙上的标语；目标不对齐，就是各跑各的。</a:t>
              </a:r>
              <a:endParaRPr lang="en-US" sz="1600" b="0" u="none" strike="noStrike">
                <a:solidFill>
                  <a:srgbClr val="E859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</p:grpSp>
      <p:pic>
        <p:nvPicPr>
          <p:cNvPr id="13" name="Picture 4"/>
          <p:cNvPicPr>
            <a:picLocks noChangeAspect="1"/>
          </p:cNvPicPr>
          <p:nvPr/>
        </p:nvPicPr>
        <p:blipFill>
          <a:blip r:embed="rId2"/>
          <a:srcRect l="59" r="59"/>
          <a:stretch>
            <a:fillRect/>
          </a:stretch>
        </p:blipFill>
        <p:spPr>
          <a:xfrm>
            <a:off x="10896600" y="228600"/>
            <a:ext cx="1016000" cy="850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E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600" y="533400"/>
            <a:ext cx="76200" cy="660400"/>
          </a:xfrm>
          <a:prstGeom prst="roundRect">
            <a:avLst>
              <a:gd name="adj" fmla="val 0"/>
            </a:avLst>
          </a:prstGeom>
          <a:solidFill>
            <a:srgbClr val="E859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838200" y="482600"/>
            <a:ext cx="6350000" cy="254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 spc="100">
                <a:solidFill>
                  <a:srgbClr val="E859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Performance Objective C</a:t>
            </a:r>
            <a:r>
              <a:rPr lang="en-US" sz="1200" b="1" i="0" u="none" strike="noStrike" spc="100">
                <a:solidFill>
                  <a:srgbClr val="E859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ascading</a:t>
            </a:r>
            <a:endParaRPr lang="en-US" sz="1200" b="1" i="0" u="none" strike="noStrike" spc="100">
              <a:solidFill>
                <a:srgbClr val="E8590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868680" y="711200"/>
            <a:ext cx="8890000" cy="508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800" b="1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战略目标分解流程</a:t>
            </a:r>
            <a:endParaRPr lang="zh-CN" altLang="en-US" sz="2800" b="1" i="0" u="none" strike="noStrike">
              <a:solidFill>
                <a:srgbClr val="2A21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 l="59" r="59"/>
          <a:stretch>
            <a:fillRect/>
          </a:stretch>
        </p:blipFill>
        <p:spPr>
          <a:xfrm>
            <a:off x="10896600" y="228600"/>
            <a:ext cx="1016000" cy="850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TextBox 7"/>
          <p:cNvSpPr txBox="1"/>
          <p:nvPr/>
        </p:nvSpPr>
        <p:spPr>
          <a:xfrm>
            <a:off x="841248" y="1371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明确指标分解方式及跟踪频次，优化绩效指标库，为绩效管理提供合理的工具及方法支撑。</a:t>
            </a:r>
            <a:endParaRPr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41248" y="1874519"/>
            <a:ext cx="54864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24D22"/>
                </a:solidFill>
                <a:latin typeface="微软雅黑" panose="020B0503020204020204" charset="-122"/>
              </a:defRPr>
            </a:pPr>
            <a:r>
              <a:rPr lang="zh-CN">
                <a:ea typeface="微软雅黑" panose="020B0503020204020204" charset="-122"/>
              </a:rPr>
              <a:t>目标</a:t>
            </a:r>
            <a:r>
              <a:rPr>
                <a:ea typeface="微软雅黑" panose="020B0503020204020204" charset="-122"/>
              </a:rPr>
              <a:t>分解流程</a:t>
            </a:r>
            <a:endParaRPr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41248" y="2240280"/>
            <a:ext cx="548640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950976" y="2404872"/>
            <a:ext cx="1005840" cy="457200"/>
          </a:xfrm>
          <a:prstGeom prst="roundRect">
            <a:avLst>
              <a:gd name="adj" fmla="val 15000"/>
            </a:avLst>
          </a:prstGeom>
          <a:solidFill>
            <a:srgbClr val="E24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公司层</a:t>
            </a:r>
            <a:endParaRPr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121408" y="235000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方法工具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2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BSC 平衡记分卡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315968" y="235000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跟踪周期</a:t>
            </a:r>
            <a:endParaRPr>
              <a:ea typeface="微软雅黑" panose="020B0503020204020204" charset="-122"/>
            </a:endParaRPr>
          </a:p>
          <a:p>
            <a:pPr>
              <a:defRPr sz="1200" b="1">
                <a:solidFill>
                  <a:srgbClr val="E24D22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年度</a:t>
            </a:r>
            <a:endParaRPr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121408" y="278892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公司年度战略目标解码</a:t>
            </a:r>
            <a:endParaRPr>
              <a:ea typeface="微软雅黑" panose="020B0503020204020204" charset="-122"/>
            </a:endParaRPr>
          </a:p>
        </p:txBody>
      </p:sp>
      <p:sp>
        <p:nvSpPr>
          <p:cNvPr id="15" name="Down Arrow 14"/>
          <p:cNvSpPr/>
          <p:nvPr/>
        </p:nvSpPr>
        <p:spPr>
          <a:xfrm>
            <a:off x="3447288" y="3113532"/>
            <a:ext cx="274320" cy="100584"/>
          </a:xfrm>
          <a:prstGeom prst="downArrow">
            <a:avLst/>
          </a:prstGeom>
          <a:solidFill>
            <a:srgbClr val="F5C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41248" y="3218688"/>
            <a:ext cx="548640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950976" y="3383280"/>
            <a:ext cx="1005840" cy="457200"/>
          </a:xfrm>
          <a:prstGeom prst="roundRect">
            <a:avLst>
              <a:gd name="adj" fmla="val 15000"/>
            </a:avLst>
          </a:prstGeom>
          <a:solidFill>
            <a:srgbClr val="E24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部门层</a:t>
            </a:r>
            <a:endParaRPr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121408" y="3328416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方法工具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2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BSC 平衡记分卡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315968" y="3328416"/>
            <a:ext cx="1188720" cy="414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跟踪周期</a:t>
            </a:r>
            <a:endParaRPr>
              <a:ea typeface="微软雅黑" panose="020B0503020204020204" charset="-122"/>
            </a:endParaRPr>
          </a:p>
          <a:p>
            <a:pPr>
              <a:defRPr sz="1200" b="1">
                <a:solidFill>
                  <a:srgbClr val="E24D22"/>
                </a:solidFill>
                <a:latin typeface="微软雅黑" panose="020B0503020204020204" charset="-122"/>
              </a:defRPr>
            </a:pPr>
            <a:r>
              <a:rPr lang="zh-CN">
                <a:ea typeface="微软雅黑" panose="020B0503020204020204" charset="-122"/>
              </a:rPr>
              <a:t>季度</a:t>
            </a:r>
            <a:r>
              <a:rPr lang="en-US" altLang="zh-CN">
                <a:ea typeface="微软雅黑" panose="020B0503020204020204" charset="-122"/>
              </a:rPr>
              <a:t> / </a:t>
            </a:r>
            <a:r>
              <a:rPr>
                <a:ea typeface="微软雅黑" panose="020B0503020204020204" charset="-122"/>
              </a:rPr>
              <a:t>年度</a:t>
            </a:r>
            <a:endParaRPr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121408" y="3767328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部门承接组织战略主题</a:t>
            </a:r>
            <a:endParaRPr>
              <a:ea typeface="微软雅黑" panose="020B0503020204020204" charset="-122"/>
            </a:endParaRPr>
          </a:p>
        </p:txBody>
      </p:sp>
      <p:sp>
        <p:nvSpPr>
          <p:cNvPr id="21" name="Down Arrow 20"/>
          <p:cNvSpPr/>
          <p:nvPr/>
        </p:nvSpPr>
        <p:spPr>
          <a:xfrm>
            <a:off x="3447288" y="4091939"/>
            <a:ext cx="274320" cy="100584"/>
          </a:xfrm>
          <a:prstGeom prst="downArrow">
            <a:avLst/>
          </a:prstGeom>
          <a:solidFill>
            <a:srgbClr val="F5C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41248" y="4197096"/>
            <a:ext cx="548640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950976" y="4361688"/>
            <a:ext cx="1005840" cy="457200"/>
          </a:xfrm>
          <a:prstGeom prst="roundRect">
            <a:avLst>
              <a:gd name="adj" fmla="val 15000"/>
            </a:avLst>
          </a:prstGeom>
          <a:solidFill>
            <a:srgbClr val="E24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团队层</a:t>
            </a:r>
            <a:endParaRPr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121408" y="4306824"/>
            <a:ext cx="2103120" cy="383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方法工具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2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000">
                <a:ea typeface="微软雅黑" panose="020B0503020204020204" charset="-122"/>
                <a:cs typeface="微软雅黑" panose="020B0503020204020204" charset="-122"/>
              </a:rPr>
              <a:t>KPI 关键绩效指标</a:t>
            </a:r>
            <a:r>
              <a:rPr lang="en-US" sz="1000">
                <a:ea typeface="微软雅黑" panose="020B0503020204020204" charset="-122"/>
                <a:cs typeface="微软雅黑" panose="020B0503020204020204" charset="-122"/>
              </a:rPr>
              <a:t>/OKR </a:t>
            </a:r>
            <a:r>
              <a:rPr lang="zh-CN" altLang="en-US" sz="1000">
                <a:ea typeface="微软雅黑" panose="020B0503020204020204" charset="-122"/>
                <a:cs typeface="微软雅黑" panose="020B0503020204020204" charset="-122"/>
              </a:rPr>
              <a:t>关键任务</a:t>
            </a:r>
            <a:endParaRPr lang="zh-CN" altLang="en-US" sz="1000"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315968" y="4306824"/>
            <a:ext cx="1188720" cy="414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跟踪周期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200" b="1">
                <a:solidFill>
                  <a:srgbClr val="E24D22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季度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121408" y="4745736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团队目标拆解与跟踪</a:t>
            </a:r>
            <a:endParaRPr>
              <a:ea typeface="微软雅黑" panose="020B0503020204020204" charset="-122"/>
            </a:endParaRPr>
          </a:p>
        </p:txBody>
      </p:sp>
      <p:sp>
        <p:nvSpPr>
          <p:cNvPr id="27" name="Down Arrow 26"/>
          <p:cNvSpPr/>
          <p:nvPr/>
        </p:nvSpPr>
        <p:spPr>
          <a:xfrm>
            <a:off x="3447288" y="5070348"/>
            <a:ext cx="274320" cy="100584"/>
          </a:xfrm>
          <a:prstGeom prst="downArrow">
            <a:avLst/>
          </a:prstGeom>
          <a:solidFill>
            <a:srgbClr val="F5C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841248" y="5175504"/>
            <a:ext cx="548640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950976" y="5340096"/>
            <a:ext cx="1005840" cy="457200"/>
          </a:xfrm>
          <a:prstGeom prst="roundRect">
            <a:avLst>
              <a:gd name="adj" fmla="val 15000"/>
            </a:avLst>
          </a:prstGeom>
          <a:solidFill>
            <a:srgbClr val="E24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个人层</a:t>
            </a:r>
            <a:endParaRPr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121408" y="5285232"/>
            <a:ext cx="2103120" cy="383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方法工具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2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000">
                <a:ea typeface="微软雅黑" panose="020B0503020204020204" charset="-122"/>
                <a:cs typeface="微软雅黑" panose="020B0503020204020204" charset="-122"/>
                <a:sym typeface="+mn-ea"/>
              </a:rPr>
              <a:t>KPI 关键绩效指标</a:t>
            </a:r>
            <a:r>
              <a:rPr lang="en-US" sz="1000">
                <a:ea typeface="微软雅黑" panose="020B0503020204020204" charset="-122"/>
                <a:cs typeface="微软雅黑" panose="020B0503020204020204" charset="-122"/>
                <a:sym typeface="+mn-ea"/>
              </a:rPr>
              <a:t>/OKR </a:t>
            </a:r>
            <a:r>
              <a:rPr lang="zh-CN" altLang="en-US" sz="1000">
                <a:ea typeface="微软雅黑" panose="020B0503020204020204" charset="-122"/>
                <a:cs typeface="微软雅黑" panose="020B0503020204020204" charset="-122"/>
                <a:sym typeface="+mn-ea"/>
              </a:rPr>
              <a:t>关键任务</a:t>
            </a:r>
            <a:endParaRPr lang="zh-CN" altLang="en-US" sz="1000"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315968" y="5285232"/>
            <a:ext cx="1188720" cy="414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跟踪周期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200" b="1">
                <a:solidFill>
                  <a:srgbClr val="E24D22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季度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121408" y="5724144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个人指标设定与考核</a:t>
            </a:r>
            <a:endParaRPr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583680" y="1874519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24D22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优化指标库</a:t>
            </a:r>
            <a:endParaRPr>
              <a:ea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6583680" y="2240280"/>
            <a:ext cx="4754880" cy="397763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6583680" y="2240280"/>
            <a:ext cx="4754880" cy="54864"/>
          </a:xfrm>
          <a:prstGeom prst="rect">
            <a:avLst/>
          </a:prstGeom>
          <a:solidFill>
            <a:srgbClr val="E24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812280" y="242316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绩效目标的主要来源</a:t>
            </a:r>
            <a:endParaRPr>
              <a:ea typeface="微软雅黑" panose="020B0503020204020204" charset="-122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6812280" y="2834639"/>
            <a:ext cx="292608" cy="292608"/>
          </a:xfrm>
          <a:prstGeom prst="ellipse">
            <a:avLst/>
          </a:prstGeom>
          <a:solidFill>
            <a:srgbClr val="FFE8DF"/>
          </a:solidFill>
          <a:ln w="6350">
            <a:solidFill>
              <a:srgbClr val="F5D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E24D22"/>
                </a:solidFill>
                <a:latin typeface="Arial" panose="020B060402020202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223760" y="2788920"/>
            <a:ext cx="3886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公司战略目标分解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  <a:defRPr sz="95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从组织BSC战略地图层层解码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6812280" y="3428999"/>
            <a:ext cx="292608" cy="292608"/>
          </a:xfrm>
          <a:prstGeom prst="ellipse">
            <a:avLst/>
          </a:prstGeom>
          <a:solidFill>
            <a:srgbClr val="FFE8DF"/>
          </a:solidFill>
          <a:ln w="6350">
            <a:solidFill>
              <a:srgbClr val="F5D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E24D22"/>
                </a:solidFill>
                <a:latin typeface="Arial" panose="020B060402020202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223760" y="3383279"/>
            <a:ext cx="3886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部门或岗位职责</a:t>
            </a:r>
            <a:endParaRPr>
              <a:ea typeface="微软雅黑" panose="020B0503020204020204" charset="-122"/>
            </a:endParaRPr>
          </a:p>
          <a:p>
            <a:pPr>
              <a:spcBef>
                <a:spcPts val="200"/>
              </a:spcBef>
              <a:defRPr sz="95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基于岗位说明书与核心职责提取</a:t>
            </a:r>
            <a:endParaRPr>
              <a:ea typeface="微软雅黑" panose="020B0503020204020204" charset="-122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6812280" y="4069080"/>
            <a:ext cx="4297680" cy="1097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812280" y="42062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从「有」到「优」的优化方式</a:t>
            </a:r>
            <a:endParaRPr>
              <a:ea typeface="微软雅黑" panose="020B0503020204020204" charset="-122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6858000" y="4645152"/>
            <a:ext cx="109728" cy="109728"/>
          </a:xfrm>
          <a:prstGeom prst="ellipse">
            <a:avLst/>
          </a:prstGeom>
          <a:solidFill>
            <a:srgbClr val="E24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086600" y="457200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05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检查与公司战略目标、岗位职责的关联性</a:t>
            </a:r>
            <a:endParaRPr>
              <a:ea typeface="微软雅黑" panose="020B0503020204020204" charset="-122"/>
            </a:endParaRPr>
          </a:p>
        </p:txBody>
      </p:sp>
      <p:sp>
        <p:nvSpPr>
          <p:cNvPr id="45" name="Oval 44"/>
          <p:cNvSpPr/>
          <p:nvPr/>
        </p:nvSpPr>
        <p:spPr>
          <a:xfrm>
            <a:off x="6858000" y="5148072"/>
            <a:ext cx="109728" cy="109728"/>
          </a:xfrm>
          <a:prstGeom prst="ellipse">
            <a:avLst/>
          </a:prstGeom>
          <a:solidFill>
            <a:srgbClr val="E24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086600" y="507492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05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内外部优秀经验分析与对标</a:t>
            </a:r>
            <a:endParaRPr>
              <a:ea typeface="微软雅黑" panose="020B0503020204020204" charset="-122"/>
            </a:endParaRPr>
          </a:p>
        </p:txBody>
      </p:sp>
      <p:sp>
        <p:nvSpPr>
          <p:cNvPr id="47" name="Oval 46"/>
          <p:cNvSpPr/>
          <p:nvPr/>
        </p:nvSpPr>
        <p:spPr>
          <a:xfrm>
            <a:off x="6858000" y="5650992"/>
            <a:ext cx="109728" cy="109728"/>
          </a:xfrm>
          <a:prstGeom prst="ellipse">
            <a:avLst/>
          </a:prstGeom>
          <a:solidFill>
            <a:srgbClr val="E24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086600" y="557784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05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过程性指标和结果性指标共同关注</a:t>
            </a:r>
            <a:endParaRPr>
              <a:ea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812280" y="5897880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i="1">
                <a:solidFill>
                  <a:srgbClr val="E24D22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指标库持续迭代优化，支撑绩效管理闭环运行</a:t>
            </a:r>
            <a:endParaRPr>
              <a:ea typeface="微软雅黑" panose="020B0503020204020204" charset="-122"/>
            </a:endParaRPr>
          </a:p>
        </p:txBody>
      </p:sp>
      <p:sp>
        <p:nvSpPr>
          <p:cNvPr id="6" name="上弧形箭头 5"/>
          <p:cNvSpPr/>
          <p:nvPr/>
        </p:nvSpPr>
        <p:spPr>
          <a:xfrm rot="5820000">
            <a:off x="5580380" y="2991485"/>
            <a:ext cx="698500" cy="350520"/>
          </a:xfrm>
          <a:prstGeom prst="curvedDownArrow">
            <a:avLst/>
          </a:prstGeom>
          <a:gradFill>
            <a:gsLst>
              <a:gs pos="51300">
                <a:srgbClr val="FE5F4A"/>
              </a:gs>
              <a:gs pos="0">
                <a:srgbClr val="DF0303"/>
              </a:gs>
              <a:gs pos="100000">
                <a:srgbClr val="FEA06E"/>
              </a:gs>
            </a:gsLst>
            <a:lin ang="5400000" scaled="1"/>
          </a:gra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上弧形箭头 6"/>
          <p:cNvSpPr/>
          <p:nvPr/>
        </p:nvSpPr>
        <p:spPr>
          <a:xfrm rot="5820000">
            <a:off x="5580380" y="3987165"/>
            <a:ext cx="698500" cy="350520"/>
          </a:xfrm>
          <a:prstGeom prst="curvedDownArrow">
            <a:avLst/>
          </a:prstGeom>
          <a:gradFill>
            <a:gsLst>
              <a:gs pos="51300">
                <a:srgbClr val="FE5F4A"/>
              </a:gs>
              <a:gs pos="0">
                <a:srgbClr val="DF0303"/>
              </a:gs>
              <a:gs pos="100000">
                <a:srgbClr val="FEA06E"/>
              </a:gs>
            </a:gsLst>
            <a:lin ang="5400000" scaled="1"/>
          </a:gra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0" name="上弧形箭头 49"/>
          <p:cNvSpPr/>
          <p:nvPr/>
        </p:nvSpPr>
        <p:spPr>
          <a:xfrm rot="5820000">
            <a:off x="5580380" y="4993640"/>
            <a:ext cx="698500" cy="350520"/>
          </a:xfrm>
          <a:prstGeom prst="curvedDownArrow">
            <a:avLst/>
          </a:prstGeom>
          <a:gradFill>
            <a:gsLst>
              <a:gs pos="51300">
                <a:srgbClr val="FE5F4A"/>
              </a:gs>
              <a:gs pos="0">
                <a:srgbClr val="DF0303"/>
              </a:gs>
              <a:gs pos="100000">
                <a:srgbClr val="FEA06E"/>
              </a:gs>
            </a:gsLst>
            <a:lin ang="5400000" scaled="1"/>
          </a:gra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E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600" y="533400"/>
            <a:ext cx="76200" cy="660400"/>
          </a:xfrm>
          <a:prstGeom prst="roundRect">
            <a:avLst>
              <a:gd name="adj" fmla="val 0"/>
            </a:avLst>
          </a:prstGeom>
          <a:solidFill>
            <a:srgbClr val="E859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838200" y="482600"/>
            <a:ext cx="6350000" cy="254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 spc="100">
                <a:solidFill>
                  <a:srgbClr val="E859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WHY · 解码会议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838200" y="711200"/>
            <a:ext cx="8890000" cy="508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战略解码会：目的与作用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 l="59" r="59"/>
          <a:stretch>
            <a:fillRect/>
          </a:stretch>
        </p:blipFill>
        <p:spPr>
          <a:xfrm>
            <a:off x="10896600" y="228600"/>
            <a:ext cx="1016000" cy="850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635000" y="1587500"/>
            <a:ext cx="10922000" cy="952500"/>
          </a:xfrm>
          <a:prstGeom prst="roundRect">
            <a:avLst>
              <a:gd name="adj" fmla="val 10666"/>
            </a:avLst>
          </a:prstGeom>
          <a:solidFill>
            <a:srgbClr val="FDEBD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889000" y="1587500"/>
            <a:ext cx="10414000" cy="9525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目的：把公司级平衡记分卡（BSC）战略主题，通过跨职能研讨"翻译"成各部门可执行的年度目标，实现战略上下对齐、部门左右拉通、责任落到人头。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35000" y="2857500"/>
            <a:ext cx="2603500" cy="3302000"/>
          </a:xfrm>
          <a:prstGeom prst="roundRect">
            <a:avLst>
              <a:gd name="adj" fmla="val 585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0D9C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35000" y="2857500"/>
            <a:ext cx="2603500" cy="76200"/>
          </a:xfrm>
          <a:prstGeom prst="roundRect">
            <a:avLst>
              <a:gd name="adj" fmla="val 50000"/>
            </a:avLst>
          </a:prstGeom>
          <a:solidFill>
            <a:srgbClr val="E859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825500" y="3149600"/>
            <a:ext cx="2222500" cy="381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B232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战略共识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63600" y="3683000"/>
            <a:ext cx="2159000" cy="2286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3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把少数人的战略判断，变成管理层的共同语言与承诺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429000" y="2857500"/>
            <a:ext cx="2603500" cy="3302000"/>
          </a:xfrm>
          <a:prstGeom prst="roundRect">
            <a:avLst>
              <a:gd name="adj" fmla="val 585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0D9C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3429000" y="2857500"/>
            <a:ext cx="2603500" cy="76200"/>
          </a:xfrm>
          <a:prstGeom prst="roundRect">
            <a:avLst>
              <a:gd name="adj" fmla="val 50000"/>
            </a:avLst>
          </a:prstGeom>
          <a:solidFill>
            <a:srgbClr val="E859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3619500" y="3149600"/>
            <a:ext cx="2222500" cy="381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B232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责任到人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657600" y="3683000"/>
            <a:ext cx="2159000" cy="2286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3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每个部门认领对四大维度的贡献，避免"大家都负责=没人负责"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23000" y="2857500"/>
            <a:ext cx="2603500" cy="3302000"/>
          </a:xfrm>
          <a:prstGeom prst="roundRect">
            <a:avLst>
              <a:gd name="adj" fmla="val 585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0D9C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223000" y="2857500"/>
            <a:ext cx="2603500" cy="76200"/>
          </a:xfrm>
          <a:prstGeom prst="roundRect">
            <a:avLst>
              <a:gd name="adj" fmla="val 50000"/>
            </a:avLst>
          </a:prstGeom>
          <a:solidFill>
            <a:srgbClr val="E859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413500" y="3149600"/>
            <a:ext cx="2222500" cy="381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B232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资源聚焦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451600" y="3683000"/>
            <a:ext cx="2159000" cy="2286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3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目标即优先级，决定预算、编制与精力的投向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9017000" y="2857500"/>
            <a:ext cx="2603500" cy="3302000"/>
          </a:xfrm>
          <a:prstGeom prst="roundRect">
            <a:avLst>
              <a:gd name="adj" fmla="val 585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0D9C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9017000" y="2857500"/>
            <a:ext cx="2603500" cy="76200"/>
          </a:xfrm>
          <a:prstGeom prst="roundRect">
            <a:avLst>
              <a:gd name="adj" fmla="val 50000"/>
            </a:avLst>
          </a:prstGeom>
          <a:solidFill>
            <a:srgbClr val="E859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9207500" y="3149600"/>
            <a:ext cx="2222500" cy="381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B232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衡量标尺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245600" y="3683000"/>
            <a:ext cx="2159000" cy="2286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3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形成可量化、可追踪的部门 KPI/OKR，期末有尺可量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E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600" y="533400"/>
            <a:ext cx="76200" cy="660400"/>
          </a:xfrm>
          <a:prstGeom prst="roundRect">
            <a:avLst>
              <a:gd name="adj" fmla="val 0"/>
            </a:avLst>
          </a:prstGeom>
          <a:solidFill>
            <a:srgbClr val="E859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838200" y="482600"/>
            <a:ext cx="6350000" cy="254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 spc="100">
                <a:solidFill>
                  <a:srgbClr val="E859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FRAMEWORK · 分解框架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838200" y="711200"/>
            <a:ext cx="10160000" cy="508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从 BSC 四维度，找到部门的"贡献点"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 l="59" r="59"/>
          <a:stretch>
            <a:fillRect/>
          </a:stretch>
        </p:blipFill>
        <p:spPr>
          <a:xfrm>
            <a:off x="10896600" y="228600"/>
            <a:ext cx="1016000" cy="850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838200" y="1333500"/>
            <a:ext cx="10541000" cy="3175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786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公司战略地图由四个维度构成因果链；部门目标 = 在本维度认领对组织目标的贡献，并写出可衡量结果。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35000" y="1905000"/>
            <a:ext cx="2603500" cy="2794000"/>
          </a:xfrm>
          <a:prstGeom prst="roundRect">
            <a:avLst>
              <a:gd name="adj" fmla="val 585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0D9C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587500" y="2159000"/>
            <a:ext cx="698500" cy="698500"/>
          </a:xfrm>
          <a:prstGeom prst="ellipse">
            <a:avLst/>
          </a:prstGeom>
          <a:solidFill>
            <a:srgbClr val="E859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财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25500" y="2984500"/>
            <a:ext cx="2222500" cy="330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B232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财务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25500" y="3365500"/>
            <a:ext cx="2222500" cy="279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营收·利润·成本·ROI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89000" y="3746500"/>
            <a:ext cx="2095500" cy="762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786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部门思考：部门如何驱动增长与效率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429000" y="1905000"/>
            <a:ext cx="2603500" cy="2794000"/>
          </a:xfrm>
          <a:prstGeom prst="roundRect">
            <a:avLst>
              <a:gd name="adj" fmla="val 585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0D9C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4381500" y="2159000"/>
            <a:ext cx="698500" cy="698500"/>
          </a:xfrm>
          <a:prstGeom prst="ellipse">
            <a:avLst/>
          </a:prstGeom>
          <a:solidFill>
            <a:srgbClr val="E859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客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619500" y="2984500"/>
            <a:ext cx="2222500" cy="330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B232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客户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619500" y="3365500"/>
            <a:ext cx="2222500" cy="279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用户·份额·满意度·品牌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3683000" y="3746500"/>
            <a:ext cx="2095500" cy="762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786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部门服务谁、交付什么价值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223000" y="1905000"/>
            <a:ext cx="2603500" cy="2794000"/>
          </a:xfrm>
          <a:prstGeom prst="roundRect">
            <a:avLst>
              <a:gd name="adj" fmla="val 585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0D9C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7175500" y="2159000"/>
            <a:ext cx="698500" cy="698500"/>
          </a:xfrm>
          <a:prstGeom prst="ellipse">
            <a:avLst/>
          </a:prstGeom>
          <a:solidFill>
            <a:srgbClr val="E859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流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413500" y="2984500"/>
            <a:ext cx="2222500" cy="330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B232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内部流程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413500" y="3365500"/>
            <a:ext cx="2222500" cy="279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效率·质量·创新·速度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477000" y="3746500"/>
            <a:ext cx="2095500" cy="762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786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部门靠什么流程赢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017000" y="1905000"/>
            <a:ext cx="2603500" cy="2794000"/>
          </a:xfrm>
          <a:prstGeom prst="roundRect">
            <a:avLst>
              <a:gd name="adj" fmla="val 585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0D9C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9969500" y="2159000"/>
            <a:ext cx="698500" cy="698500"/>
          </a:xfrm>
          <a:prstGeom prst="ellipse">
            <a:avLst/>
          </a:prstGeom>
          <a:solidFill>
            <a:srgbClr val="E859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学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9207500" y="2984500"/>
            <a:ext cx="2222500" cy="330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B232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学习成长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9207500" y="3365500"/>
            <a:ext cx="2222500" cy="279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人才·能力·文化·系统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9271000" y="3746500"/>
            <a:ext cx="2095500" cy="762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786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部门靠什么能力支撑前三项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35000" y="4953000"/>
            <a:ext cx="10922000" cy="1524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100" b="1" i="0" u="none" strike="noStrike">
                <a:solidFill>
                  <a:srgbClr val="B232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要点：</a:t>
            </a:r>
            <a:r>
              <a:rPr lang="en-US" sz="1100" b="0" i="0" u="none" strike="noStrike">
                <a:solidFill>
                  <a:srgbClr val="786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部门未必四个维度都认领，但认领的每项都要能回答"我对组织目标哪一条负责、用什么指标证明"。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endParaRPr lang="en-US" sz="1100" b="0" i="0" u="none" strike="noStrike">
              <a:solidFill>
                <a:srgbClr val="7864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100" b="1" i="0" u="none" strike="noStrike">
                <a:solidFill>
                  <a:srgbClr val="786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R主责：</a:t>
            </a:r>
            <a:r>
              <a:rPr lang="en-US" sz="1100" b="0" i="0" u="none" strike="noStrike">
                <a:solidFill>
                  <a:srgbClr val="786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对指标结果负最终责任，纳入负责人BSC考核</a:t>
            </a:r>
            <a:endParaRPr lang="en-US" sz="1100" b="0" i="0" u="none" strike="noStrike">
              <a:solidFill>
                <a:srgbClr val="7864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100" b="1" i="0" u="none" strike="noStrike">
                <a:solidFill>
                  <a:srgbClr val="786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C协同：</a:t>
            </a:r>
            <a:r>
              <a:rPr lang="en-US" sz="1100" b="0" i="0" u="none" strike="noStrike">
                <a:solidFill>
                  <a:srgbClr val="786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配合执行，提供输入支持，指标纳入部门BSC，权重偏低</a:t>
            </a:r>
            <a:endParaRPr lang="en-US" sz="1100" b="0" i="0" u="none" strike="noStrike">
              <a:solidFill>
                <a:srgbClr val="7864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100" b="1" i="0" u="none" strike="noStrike">
                <a:solidFill>
                  <a:srgbClr val="786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I知悉：</a:t>
            </a:r>
            <a:r>
              <a:rPr lang="en-US" sz="1100" b="0" i="0" u="none" strike="noStrike">
                <a:solidFill>
                  <a:srgbClr val="786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仅同步信息，不纳入考核</a:t>
            </a:r>
            <a:endParaRPr lang="en-US" sz="1100" b="0" i="0" u="none" strike="noStrike">
              <a:solidFill>
                <a:srgbClr val="7864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E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600" y="533400"/>
            <a:ext cx="76200" cy="660400"/>
          </a:xfrm>
          <a:prstGeom prst="roundRect">
            <a:avLst>
              <a:gd name="adj" fmla="val 0"/>
            </a:avLst>
          </a:prstGeom>
          <a:solidFill>
            <a:srgbClr val="E859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838200" y="482600"/>
            <a:ext cx="6350000" cy="254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 spc="100">
                <a:solidFill>
                  <a:srgbClr val="E859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PROCESS · 流程要点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838200" y="711200"/>
            <a:ext cx="10160000" cy="508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五步解码流程 + 四个关键要点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 l="59" r="59"/>
          <a:stretch>
            <a:fillRect/>
          </a:stretch>
        </p:blipFill>
        <p:spPr>
          <a:xfrm>
            <a:off x="10896600" y="228600"/>
            <a:ext cx="1016000" cy="850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1289050" y="1836420"/>
            <a:ext cx="889000" cy="889000"/>
          </a:xfrm>
          <a:prstGeom prst="ellipse">
            <a:avLst/>
          </a:prstGeom>
          <a:solidFill>
            <a:srgbClr val="E859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dist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35050" y="2827020"/>
            <a:ext cx="1397000" cy="279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定战略主题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99490" y="3131820"/>
            <a:ext cx="1397635" cy="508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000" b="0" i="0" u="none" strike="noStrike">
                <a:solidFill>
                  <a:srgbClr val="786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公司年度BSC目标与战略地图定稿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57290">
            <a:off x="2470203" y="227457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97316">
                <a:alpha val="50000"/>
              </a:srgbClr>
            </a:solidFill>
            <a:prstDash val="solid"/>
            <a:round/>
            <a:headEnd type="none" w="lg" len="lg"/>
            <a:tailEnd type="triangle" w="sm" len="sm"/>
          </a:ln>
        </p:spPr>
      </p:cxnSp>
      <p:sp>
        <p:nvSpPr>
          <p:cNvPr id="10" name="AutoShape 10"/>
          <p:cNvSpPr/>
          <p:nvPr/>
        </p:nvSpPr>
        <p:spPr>
          <a:xfrm>
            <a:off x="3470910" y="1836420"/>
            <a:ext cx="889000" cy="889000"/>
          </a:xfrm>
          <a:prstGeom prst="ellipse">
            <a:avLst/>
          </a:prstGeom>
          <a:solidFill>
            <a:srgbClr val="E859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dist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208020" y="2827020"/>
            <a:ext cx="1397000" cy="279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开解码会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081020" y="3131820"/>
            <a:ext cx="1778000" cy="508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900" b="0" i="0" u="none" strike="noStrike">
                <a:solidFill>
                  <a:srgbClr val="786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跨职能研讨：上下对齐校验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57290">
            <a:off x="4620313" y="227457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97316">
                <a:alpha val="50000"/>
              </a:srgbClr>
            </a:solidFill>
            <a:prstDash val="solid"/>
            <a:round/>
            <a:headEnd type="none" w="lg" len="lg"/>
            <a:tailEnd type="triangle" w="sm" len="sm"/>
          </a:ln>
        </p:spPr>
      </p:cxnSp>
      <p:sp>
        <p:nvSpPr>
          <p:cNvPr id="14" name="AutoShape 14"/>
          <p:cNvSpPr/>
          <p:nvPr/>
        </p:nvSpPr>
        <p:spPr>
          <a:xfrm>
            <a:off x="5652770" y="1836420"/>
            <a:ext cx="889000" cy="889000"/>
          </a:xfrm>
          <a:prstGeom prst="ellipse">
            <a:avLst/>
          </a:prstGeom>
          <a:solidFill>
            <a:srgbClr val="E859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dist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3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5392420" y="2827020"/>
            <a:ext cx="1397000" cy="279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画价值树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5322570" y="3131820"/>
            <a:ext cx="1562100" cy="508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000" b="0" i="0" u="none" strike="noStrike">
                <a:solidFill>
                  <a:srgbClr val="786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识别部门对四维度的贡献点与因果链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57290">
            <a:off x="6827573" y="227457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97316">
                <a:alpha val="50000"/>
              </a:srgbClr>
            </a:solidFill>
            <a:prstDash val="solid"/>
            <a:round/>
            <a:headEnd type="none" w="lg" len="lg"/>
            <a:tailEnd type="triangle" w="sm" len="sm"/>
          </a:ln>
        </p:spPr>
      </p:cxnSp>
      <p:sp>
        <p:nvSpPr>
          <p:cNvPr id="18" name="AutoShape 18"/>
          <p:cNvSpPr/>
          <p:nvPr/>
        </p:nvSpPr>
        <p:spPr>
          <a:xfrm>
            <a:off x="7834630" y="1836420"/>
            <a:ext cx="889000" cy="889000"/>
          </a:xfrm>
          <a:prstGeom prst="ellipse">
            <a:avLst/>
          </a:prstGeom>
          <a:solidFill>
            <a:srgbClr val="E859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dist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4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588250" y="2827020"/>
            <a:ext cx="1397000" cy="279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成部门目标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461250" y="3131820"/>
            <a:ext cx="1778000" cy="508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900" b="0" i="0" u="none" strike="noStrike">
                <a:solidFill>
                  <a:srgbClr val="786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输出部门KPI/OKR定权重口径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57290">
            <a:off x="9000543" y="227457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97316">
                <a:alpha val="50000"/>
              </a:srgbClr>
            </a:solidFill>
            <a:prstDash val="solid"/>
            <a:round/>
            <a:headEnd type="none" w="lg" len="lg"/>
            <a:tailEnd type="triangle" w="sm" len="sm"/>
          </a:ln>
        </p:spPr>
      </p:cxnSp>
      <p:sp>
        <p:nvSpPr>
          <p:cNvPr id="22" name="AutoShape 22"/>
          <p:cNvSpPr/>
          <p:nvPr/>
        </p:nvSpPr>
        <p:spPr>
          <a:xfrm>
            <a:off x="10016490" y="1836420"/>
            <a:ext cx="889000" cy="889000"/>
          </a:xfrm>
          <a:prstGeom prst="ellipse">
            <a:avLst/>
          </a:prstGeom>
          <a:solidFill>
            <a:srgbClr val="B2320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dist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5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761220" y="2827020"/>
            <a:ext cx="1397000" cy="279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共识归档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9599930" y="3131820"/>
            <a:ext cx="1778000" cy="508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000" b="0" i="0" u="none" strike="noStrike">
                <a:solidFill>
                  <a:srgbClr val="786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双向沟通、书面确认、报CEO/HR备案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35000" y="3937000"/>
            <a:ext cx="10922000" cy="2413000"/>
          </a:xfrm>
          <a:prstGeom prst="roundRect">
            <a:avLst>
              <a:gd name="adj" fmla="val 63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0D9C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889000" y="4127500"/>
            <a:ext cx="10414000" cy="3556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B232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四个关键要点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1016000" y="4572000"/>
            <a:ext cx="10160000" cy="1651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8000"/>
              </a:lnSpc>
              <a:defRPr/>
            </a:pPr>
            <a:r>
              <a:rPr lang="en-US" sz="13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纵向贯通·横向协同：公司—部门—个人三级对齐，跨部门的接口目标必须双人确认</a:t>
            </a:r>
            <a:endParaRPr lang="en-US" sz="1100"/>
          </a:p>
          <a:p>
            <a:pPr marL="0" indent="0" algn="l">
              <a:lnSpc>
                <a:spcPct val="158000"/>
              </a:lnSpc>
            </a:pPr>
            <a:r>
              <a:rPr lang="en-US" sz="13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SMART 可衡量：每项部门目标须有数据源与计算口径，杜绝"加强/提升"式虚指标</a:t>
            </a:r>
            <a:endParaRPr lang="en-US" sz="1300" b="0" i="0" u="none" strike="noStrike">
              <a:solidFill>
                <a:srgbClr val="2A21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58000"/>
              </a:lnSpc>
            </a:pPr>
            <a:r>
              <a:rPr lang="en-US" sz="13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双向共识：禁止单方面下达，先线下一致再线上审批；权重合计须=100%</a:t>
            </a:r>
            <a:endParaRPr lang="en-US" sz="1300" b="0" i="0" u="none" strike="noStrike">
              <a:solidFill>
                <a:srgbClr val="2A21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58000"/>
              </a:lnSpc>
            </a:pPr>
            <a:r>
              <a:rPr lang="en-US" sz="13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动态可调：业务突变时书面确认调整，每周期调整≤1次并报 HR 备案</a:t>
            </a:r>
            <a:endParaRPr lang="en-US" sz="1300" b="0" i="0" u="none" strike="noStrike">
              <a:solidFill>
                <a:srgbClr val="2A21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E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600" y="533400"/>
            <a:ext cx="76200" cy="660400"/>
          </a:xfrm>
          <a:prstGeom prst="roundRect">
            <a:avLst>
              <a:gd name="adj" fmla="val 0"/>
            </a:avLst>
          </a:prstGeom>
          <a:solidFill>
            <a:srgbClr val="E859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838200" y="482600"/>
            <a:ext cx="6350000" cy="254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 spc="100">
                <a:solidFill>
                  <a:srgbClr val="E859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CASE 1 · 业务团队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838200" y="711200"/>
            <a:ext cx="10160000" cy="508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案例：内容推广团队</a:t>
            </a:r>
            <a:r>
              <a:rPr lang="zh-CN" altLang="en-US" sz="2600" b="1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（业务</a:t>
            </a:r>
            <a:r>
              <a:rPr lang="zh-CN" altLang="en-US" sz="2600" b="1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部门）</a:t>
            </a:r>
            <a:r>
              <a:rPr lang="en-US" sz="2600" b="1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的目标分解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 l="59" r="59"/>
          <a:stretch>
            <a:fillRect/>
          </a:stretch>
        </p:blipFill>
        <p:spPr>
          <a:xfrm>
            <a:off x="10896600" y="228600"/>
            <a:ext cx="1016000" cy="850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635000" y="1524000"/>
            <a:ext cx="10922000" cy="508000"/>
          </a:xfrm>
          <a:prstGeom prst="roundRect">
            <a:avLst>
              <a:gd name="adj" fmla="val 15000"/>
            </a:avLst>
          </a:prstGeom>
          <a:solidFill>
            <a:srgbClr val="FDEBD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825500" y="1524000"/>
            <a:ext cx="10541000" cy="508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B232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组织级 BSC 目标：</a:t>
            </a:r>
            <a:r>
              <a:rPr lang="en-US" sz="13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抖音粉丝净增 500万、内容曝光 20亿、内容驱动新增 GMV 1亿。</a:t>
            </a:r>
            <a:endParaRPr lang="en-US" sz="1100"/>
          </a:p>
        </p:txBody>
      </p: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635000" y="2286000"/>
          <a:ext cx="10922000" cy="33274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524000"/>
                <a:gridCol w="3556000"/>
                <a:gridCol w="5842000"/>
              </a:tblGrid>
              <a:tr h="533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BSC 维度</a:t>
                      </a:r>
                      <a:endParaRPr lang="en-US" sz="1100"/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2320A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组织目标</a:t>
                      </a:r>
                      <a:endParaRPr lang="en-US" sz="1100"/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2320A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部门（抖音内容推广团队）分解目标</a:t>
                      </a:r>
                      <a:endParaRPr lang="en-US" sz="1100"/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2320A">
                        <a:alpha val="100000"/>
                      </a:srgbClr>
                    </a:solidFill>
                  </a:tcPr>
                </a:tc>
              </a:tr>
              <a:tr h="6985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B232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财务</a:t>
                      </a:r>
                      <a:endParaRPr lang="en-US" sz="1100"/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A211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内容驱动新增 GMV 1亿</a:t>
                      </a:r>
                      <a:endParaRPr lang="en-US" sz="1100"/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A211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内容引流 GMV ≥1亿；单粉获客成本 ↓15%</a:t>
                      </a:r>
                      <a:endParaRPr lang="en-US" sz="1100"/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985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B232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客户</a:t>
                      </a:r>
                      <a:endParaRPr lang="en-US" sz="1100"/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0E1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A211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粉丝净增500万 / 曝光20亿</a:t>
                      </a:r>
                      <a:endParaRPr lang="en-US" sz="1100"/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0E1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A211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粉丝净增500万；爆款率(百万播放)≥8%；互动率≥5%</a:t>
                      </a:r>
                      <a:endParaRPr lang="en-US" sz="1100"/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0E1">
                        <a:alpha val="100000"/>
                      </a:srgbClr>
                    </a:solidFill>
                  </a:tcPr>
                </a:tc>
              </a:tr>
              <a:tr h="6985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B232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内部流程</a:t>
                      </a:r>
                      <a:endParaRPr lang="en-US" sz="1100"/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A211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内容生产提效</a:t>
                      </a:r>
                      <a:endParaRPr lang="en-US" sz="1100"/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A211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选题-制作-发布周期 ↓30%；投流 ROI ≥3</a:t>
                      </a:r>
                      <a:endParaRPr lang="en-US" sz="1100"/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985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B232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学习成长</a:t>
                      </a:r>
                      <a:endParaRPr lang="en-US" sz="1100"/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0E1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A211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内容方法论沉淀</a:t>
                      </a:r>
                      <a:endParaRPr lang="en-US" sz="1100"/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0E1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A211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搭建可复用内容方法论库；培养3名金牌编导</a:t>
                      </a:r>
                      <a:endParaRPr lang="en-US" sz="1100"/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0E1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9" name="AutoShape 9"/>
          <p:cNvSpPr/>
          <p:nvPr/>
        </p:nvSpPr>
        <p:spPr>
          <a:xfrm>
            <a:off x="635000" y="5842000"/>
            <a:ext cx="10922000" cy="3175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1" u="none" strike="noStrike">
                <a:solidFill>
                  <a:srgbClr val="8A6F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解码逻辑：组织"客户+财务"目标，由该团队以"内容产能+投流效率"承接；流程与成长维度保证产能可持续。</a:t>
            </a:r>
            <a:endParaRPr lang="en-US" sz="11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E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600" y="533400"/>
            <a:ext cx="76200" cy="660400"/>
          </a:xfrm>
          <a:prstGeom prst="roundRect">
            <a:avLst>
              <a:gd name="adj" fmla="val 0"/>
            </a:avLst>
          </a:prstGeom>
          <a:solidFill>
            <a:srgbClr val="E859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838200" y="482600"/>
            <a:ext cx="6350000" cy="254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 spc="100">
                <a:solidFill>
                  <a:srgbClr val="E859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CASE 2 · 职能部门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838200" y="711200"/>
            <a:ext cx="10160000" cy="508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案例：人力资源部（职能部门）的目标分解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 l="59" r="59"/>
          <a:stretch>
            <a:fillRect/>
          </a:stretch>
        </p:blipFill>
        <p:spPr>
          <a:xfrm>
            <a:off x="10896600" y="228600"/>
            <a:ext cx="1016000" cy="850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635000" y="1524000"/>
            <a:ext cx="10922000" cy="508000"/>
          </a:xfrm>
          <a:prstGeom prst="roundRect">
            <a:avLst>
              <a:gd name="adj" fmla="val 15000"/>
            </a:avLst>
          </a:prstGeom>
          <a:solidFill>
            <a:srgbClr val="FDEBD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825500" y="1524000"/>
            <a:ext cx="10541000" cy="508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B232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组织级 BSC 目标：</a:t>
            </a:r>
            <a:r>
              <a:rPr lang="en-US" sz="13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人效提升 10%、关键岗位满编、核心人才保留率 ≥80%。</a:t>
            </a:r>
            <a:endParaRPr lang="en-US" sz="1100"/>
          </a:p>
        </p:txBody>
      </p: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635000" y="2286000"/>
          <a:ext cx="10922000" cy="33274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524000"/>
                <a:gridCol w="3556000"/>
                <a:gridCol w="5842000"/>
              </a:tblGrid>
              <a:tr h="533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BSC 维度</a:t>
                      </a:r>
                      <a:endParaRPr lang="en-US" sz="1100"/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2320A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组织目标</a:t>
                      </a:r>
                      <a:endParaRPr lang="en-US" sz="1100"/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2320A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部门（人力资源部）分解目标</a:t>
                      </a:r>
                      <a:endParaRPr lang="en-US" sz="1100"/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2320A">
                        <a:alpha val="100000"/>
                      </a:srgbClr>
                    </a:solidFill>
                  </a:tcPr>
                </a:tc>
              </a:tr>
              <a:tr h="6985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B232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财务</a:t>
                      </a:r>
                      <a:endParaRPr lang="en-US" sz="1100"/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A211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人力成本占收比优化</a:t>
                      </a:r>
                      <a:endParaRPr lang="en-US" sz="1100"/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A211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人力成本占收比控制在年度预算内</a:t>
                      </a:r>
                      <a:endParaRPr lang="en-US" sz="1100"/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985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B232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客户(内部)</a:t>
                      </a:r>
                      <a:endParaRPr lang="en-US" sz="1100"/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0E1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A211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关键岗位满编 / 员工满意</a:t>
                      </a:r>
                      <a:endParaRPr lang="en-US" sz="1100"/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0E1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A211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招聘满足周期 ↓20%；员工满意度 ≥80</a:t>
                      </a:r>
                      <a:endParaRPr lang="en-US" sz="1100"/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0E1">
                        <a:alpha val="100000"/>
                      </a:srgbClr>
                    </a:solidFill>
                  </a:tcPr>
                </a:tc>
              </a:tr>
              <a:tr h="6985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B232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内部流程</a:t>
                      </a:r>
                      <a:endParaRPr lang="en-US" sz="1100"/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A211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人效提升 10%</a:t>
                      </a:r>
                      <a:endParaRPr lang="en-US" sz="1100"/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A211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绩效闭环覆盖率100%；薪酬核算准确率95%</a:t>
                      </a:r>
                      <a:endParaRPr lang="en-US" sz="1100"/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985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B2320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学习成长</a:t>
                      </a:r>
                      <a:endParaRPr lang="en-US" sz="1100"/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0E1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A211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核心人才保留 ≥80%</a:t>
                      </a:r>
                      <a:endParaRPr lang="en-US" sz="1100"/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0E1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A211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关键岗位继任覆盖率60%；核心人才保留率≥80%</a:t>
                      </a:r>
                      <a:endParaRPr lang="en-US" sz="1100"/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0E1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9" name="AutoShape 9"/>
          <p:cNvSpPr/>
          <p:nvPr/>
        </p:nvSpPr>
        <p:spPr>
          <a:xfrm>
            <a:off x="635000" y="5842000"/>
            <a:ext cx="10922000" cy="3175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1" u="none" strike="noStrike">
                <a:solidFill>
                  <a:srgbClr val="8A6F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解码逻辑：职能部门的"客户"是业务与员工；用内部服务水平协议(SLA)把软目标变硬指标，对接组织人效与保留。</a:t>
            </a:r>
            <a:endParaRPr lang="en-US" sz="11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E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600" y="533400"/>
            <a:ext cx="76200" cy="660400"/>
          </a:xfrm>
          <a:prstGeom prst="roundRect">
            <a:avLst>
              <a:gd name="adj" fmla="val 0"/>
            </a:avLst>
          </a:prstGeom>
          <a:solidFill>
            <a:srgbClr val="E859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838200" y="711200"/>
            <a:ext cx="10160000" cy="508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评审签约 + 复盘闭环机制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 l="59" r="59"/>
          <a:stretch>
            <a:fillRect/>
          </a:stretch>
        </p:blipFill>
        <p:spPr>
          <a:xfrm>
            <a:off x="10896600" y="228600"/>
            <a:ext cx="1016000" cy="850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635000" y="1651000"/>
            <a:ext cx="4826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0D9C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825500" y="1968500"/>
            <a:ext cx="508000" cy="508000"/>
          </a:xfrm>
          <a:prstGeom prst="ellipse">
            <a:avLst/>
          </a:prstGeom>
          <a:solidFill>
            <a:srgbClr val="E859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460500" y="1841500"/>
            <a:ext cx="3810000" cy="3048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B232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评审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460500" y="2184400"/>
            <a:ext cx="3810000" cy="635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各负责人提交 BSC 初稿，高管一对一评审校准，剔除无效指标、修正权重。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35000" y="3111500"/>
            <a:ext cx="4826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0D9C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825500" y="3429000"/>
            <a:ext cx="508000" cy="508000"/>
          </a:xfrm>
          <a:prstGeom prst="ellipse">
            <a:avLst/>
          </a:prstGeom>
          <a:solidFill>
            <a:srgbClr val="E859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460500" y="3302000"/>
            <a:ext cx="3810000" cy="3048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B232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签约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460500" y="3644900"/>
            <a:ext cx="3810000" cy="635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签订《部门负责人年度 BSC 绩效承诺书》，作为年度考核依据。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35000" y="4572000"/>
            <a:ext cx="4826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0D9C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825500" y="4889500"/>
            <a:ext cx="508000" cy="508000"/>
          </a:xfrm>
          <a:prstGeom prst="ellipse">
            <a:avLst/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4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460500" y="4762500"/>
            <a:ext cx="3810000" cy="3048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B232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变更规则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460500" y="5105400"/>
            <a:ext cx="3810000" cy="635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仅重大外部环境变化，经总经理审批后可调整，其余情况不予变更。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5969000" y="1651000"/>
            <a:ext cx="5588000" cy="3048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B232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3 复盘节奏</a:t>
            </a:r>
            <a:r>
              <a:rPr lang="en-US" sz="1200" b="1" i="0" u="none" strike="noStrike">
                <a:solidFill>
                  <a:srgbClr val="786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月度 → 季度 → 年度 三层闭环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5969000" y="2095500"/>
            <a:ext cx="5588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0D9C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159500" y="2286000"/>
            <a:ext cx="762000" cy="381000"/>
          </a:xfrm>
          <a:prstGeom prst="roundRect">
            <a:avLst>
              <a:gd name="adj" fmla="val 50000"/>
            </a:avLst>
          </a:prstGeom>
          <a:solidFill>
            <a:srgbClr val="E859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月度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112000" y="2260600"/>
            <a:ext cx="4318000" cy="6985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经营数据跟踪，异常预警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持续监控关键经营指标，偏差即时提示。</a:t>
            </a:r>
            <a:endParaRPr lang="en-US" sz="1100" b="0" i="0" u="none" strike="noStrike">
              <a:solidFill>
                <a:srgbClr val="2A21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5969000" y="3302000"/>
            <a:ext cx="5588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0D9C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6159500" y="3492500"/>
            <a:ext cx="762000" cy="381000"/>
          </a:xfrm>
          <a:prstGeom prst="roundRect">
            <a:avLst>
              <a:gd name="adj" fmla="val 50000"/>
            </a:avLst>
          </a:prstGeom>
          <a:solidFill>
            <a:srgbClr val="B2320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季度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112000" y="3467100"/>
            <a:ext cx="4318000" cy="6985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BSC 战略复盘会，评估指标进度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行动计划可调整，目标值原则上不变。</a:t>
            </a:r>
            <a:endParaRPr lang="en-US" sz="1100" b="0" i="0" u="none" strike="noStrike">
              <a:solidFill>
                <a:srgbClr val="2A21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5969000" y="4508500"/>
            <a:ext cx="5588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0D9C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6159500" y="4699000"/>
            <a:ext cx="762000" cy="381000"/>
          </a:xfrm>
          <a:prstGeom prst="roundRect">
            <a:avLst>
              <a:gd name="adj" fmla="val 5000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年度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7112000" y="4673600"/>
            <a:ext cx="4318000" cy="6985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正式绩效评估 + 年度述职会议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联动激励，结果与奖惩任用挂钩。</a:t>
            </a:r>
            <a:endParaRPr lang="en-US" sz="1100" b="0" i="0" u="none" strike="noStrike">
              <a:solidFill>
                <a:srgbClr val="2A21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635000" y="6032500"/>
            <a:ext cx="10922000" cy="254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1" u="none" strike="noStrike">
                <a:solidFill>
                  <a:srgbClr val="8A6F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闭环机制：评审 → 签约 → 复盘 → 变更，形成年度绩效管理回路</a:t>
            </a:r>
            <a:endParaRPr lang="en-US" sz="1100"/>
          </a:p>
        </p:txBody>
      </p:sp>
      <p:sp>
        <p:nvSpPr>
          <p:cNvPr id="28" name="TextBox 4"/>
          <p:cNvSpPr txBox="1"/>
          <p:nvPr/>
        </p:nvSpPr>
        <p:spPr>
          <a:xfrm>
            <a:off x="838073" y="476377"/>
            <a:ext cx="5486400" cy="237744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>
              <a:lnSpc>
                <a:spcPct val="125000"/>
              </a:lnSpc>
              <a:spcAft>
                <a:spcPts val="0"/>
              </a:spcAft>
              <a:defRPr sz="1200" b="1">
                <a:solidFill>
                  <a:srgbClr val="E8590C"/>
                </a:solidFill>
                <a:latin typeface="微软雅黑" panose="020B0503020204020204" charset="-122"/>
              </a:defRPr>
            </a:pPr>
            <a:r>
              <a:t>ANNUAL · </a:t>
            </a:r>
            <a:r>
              <a:rPr>
                <a:ea typeface="微软雅黑" panose="020B0503020204020204" charset="-122"/>
              </a:rPr>
              <a:t>年度闭环</a:t>
            </a:r>
            <a:endParaRPr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E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utoShape 2"/>
          <p:cNvSpPr>
            <a:spLocks noGrp="1"/>
          </p:cNvSpPr>
          <p:nvPr/>
        </p:nvSpPr>
        <p:spPr>
          <a:xfrm>
            <a:off x="609600" y="533400"/>
            <a:ext cx="76200" cy="660400"/>
          </a:xfrm>
          <a:prstGeom prst="roundRect">
            <a:avLst>
              <a:gd name="adj" fmla="val 0"/>
            </a:avLst>
          </a:prstGeom>
          <a:solidFill>
            <a:srgbClr val="E8590C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63500" tIns="63500" rIns="63500" bIns="6350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" name="AutoShape 3"/>
          <p:cNvSpPr>
            <a:spLocks noGrp="1"/>
          </p:cNvSpPr>
          <p:nvPr/>
        </p:nvSpPr>
        <p:spPr>
          <a:xfrm>
            <a:off x="838200" y="711200"/>
            <a:ext cx="10160000" cy="508000"/>
          </a:xfrm>
          <a:prstGeom prst="rect">
            <a:avLst/>
          </a:prstGeom>
          <a:noFill/>
          <a:ln w="12687" cmpd="sng">
            <a:noFill/>
            <a:prstDash val="solid"/>
          </a:ln>
        </p:spPr>
        <p:txBody>
          <a:bodyPr vert="horz" wrap="none" lIns="0" tIns="0" rIns="0" bIns="0" anchor="ctr"/>
          <a:lstStyle/>
          <a:p>
            <a:pPr marL="0" indent="0" algn="l" defTabSz="9144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2800" b="1" i="0" u="none" kern="1200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个人指标设定</a:t>
            </a:r>
            <a:r>
              <a:rPr sz="2800" b="1" i="0" u="none" kern="1200">
                <a:solidFill>
                  <a:srgbClr val="2A21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规则</a:t>
            </a:r>
            <a:endParaRPr sz="2800" b="1" i="0" u="none" kern="1200">
              <a:solidFill>
                <a:srgbClr val="2A21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104" name="Picture 4"/>
          <p:cNvPicPr>
            <a:picLocks noChangeAspect="1"/>
          </p:cNvPicPr>
          <p:nvPr/>
        </p:nvPicPr>
        <p:blipFill>
          <a:blip r:embed="rId1"/>
          <a:srcRect l="59" r="59"/>
          <a:stretch>
            <a:fillRect/>
          </a:stretch>
        </p:blipFill>
        <p:spPr>
          <a:xfrm>
            <a:off x="10896600" y="228600"/>
            <a:ext cx="1016000" cy="850900"/>
          </a:xfrm>
          <a:prstGeom prst="rect">
            <a:avLst/>
          </a:prstGeom>
          <a:ln w="25400" cap="flat" cmpd="sng">
            <a:noFill/>
            <a:prstDash val="solid"/>
            <a:round/>
          </a:ln>
        </p:spPr>
      </p:pic>
      <p:sp>
        <p:nvSpPr>
          <p:cNvPr id="28" name="TextBox 4"/>
          <p:cNvSpPr>
            <a:spLocks noGrp="1"/>
          </p:cNvSpPr>
          <p:nvPr/>
        </p:nvSpPr>
        <p:spPr>
          <a:xfrm>
            <a:off x="838073" y="476377"/>
            <a:ext cx="5486400" cy="237744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 algn="l" defTabSz="914400">
              <a:lnSpc>
                <a:spcPct val="125000"/>
              </a:lnSpc>
              <a:spcBef>
                <a:spcPct val="0"/>
              </a:spcBef>
              <a:spcAft>
                <a:spcPts val="0"/>
              </a:spcAft>
              <a:buNone/>
              <a:defRPr sz="1200" b="1">
                <a:solidFill>
                  <a:srgbClr val="E859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ern="1200">
                <a:sym typeface="+mn-ea"/>
              </a:rPr>
              <a:t>RULE · </a:t>
            </a:r>
            <a:r>
              <a:rPr kern="1200">
                <a:sym typeface="+mn-ea"/>
              </a:rPr>
              <a:t>设定规则</a:t>
            </a:r>
            <a:endParaRPr kern="1200">
              <a:sym typeface="+mn-ea"/>
            </a:endParaRPr>
          </a:p>
        </p:txBody>
      </p:sp>
      <p:sp>
        <p:nvSpPr>
          <p:cNvPr id="29" name="TextBox 28"/>
          <p:cNvSpPr>
            <a:spLocks noGrp="1"/>
          </p:cNvSpPr>
          <p:nvPr/>
        </p:nvSpPr>
        <p:spPr>
          <a:xfrm>
            <a:off x="841248" y="14173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spcBef>
                <a:spcPct val="0"/>
              </a:spcBef>
              <a:spcAft>
                <a:spcPct val="0"/>
              </a:spcAft>
              <a:buNone/>
              <a:defRPr sz="1400" b="1">
                <a:solidFill>
                  <a:srgbClr val="E24D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ern="1200">
                <a:sym typeface="+mn-ea"/>
              </a:rPr>
              <a:t>绩效权重设置原则</a:t>
            </a:r>
            <a:endParaRPr kern="1200">
              <a:sym typeface="+mn-ea"/>
            </a:endParaRPr>
          </a:p>
        </p:txBody>
      </p:sp>
      <p:sp>
        <p:nvSpPr>
          <p:cNvPr id="30" name="Rounded Rectangle 29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841248" y="1845310"/>
            <a:ext cx="2542032" cy="129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1" name="Rounded Rectangle 30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950976" y="1982470"/>
            <a:ext cx="457200" cy="365760"/>
          </a:xfrm>
          <a:prstGeom prst="roundRect">
            <a:avLst>
              <a:gd name="adj" fmla="val 20000"/>
            </a:avLst>
          </a:prstGeom>
          <a:solidFill>
            <a:srgbClr val="E24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  <a:buNone/>
              <a:defRPr sz="12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kern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01</a:t>
            </a:r>
            <a:endParaRPr kern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2" name="TextBox 3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499616" y="1982470"/>
            <a:ext cx="176479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spcBef>
                <a:spcPct val="0"/>
              </a:spcBef>
              <a:spcAft>
                <a:spcPct val="0"/>
              </a:spcAft>
              <a:buNone/>
              <a:defRPr sz="14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ern="1200">
                <a:sym typeface="+mn-ea"/>
              </a:rPr>
              <a:t>指标数量</a:t>
            </a:r>
            <a:endParaRPr kern="1200">
              <a:sym typeface="+mn-ea"/>
            </a:endParaRPr>
          </a:p>
        </p:txBody>
      </p:sp>
      <p:sp>
        <p:nvSpPr>
          <p:cNvPr id="33" name="Rectangle 32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978408" y="2412238"/>
            <a:ext cx="2267712" cy="1097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4" name="TextBox 33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978408" y="2485390"/>
            <a:ext cx="2267712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05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kern="1200">
                <a:sym typeface="+mn-ea"/>
              </a:rPr>
              <a:t>5-6个为佳</a:t>
            </a:r>
            <a:endParaRPr sz="1200" kern="1200">
              <a:sym typeface="+mn-ea"/>
            </a:endParaRPr>
          </a:p>
          <a:p>
            <a:pPr defTabSz="9144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05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kern="1200">
                <a:sym typeface="+mn-ea"/>
              </a:rPr>
              <a:t>最少3个，最多8个</a:t>
            </a:r>
            <a:endParaRPr sz="1200" kern="1200">
              <a:sym typeface="+mn-ea"/>
            </a:endParaRPr>
          </a:p>
        </p:txBody>
      </p:sp>
      <p:sp>
        <p:nvSpPr>
          <p:cNvPr id="35" name="Rounded Rectangle 34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3575303" y="1845310"/>
            <a:ext cx="2542032" cy="129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6" name="Rounded Rectangle 35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3685031" y="1982470"/>
            <a:ext cx="457200" cy="365760"/>
          </a:xfrm>
          <a:prstGeom prst="roundRect">
            <a:avLst>
              <a:gd name="adj" fmla="val 20000"/>
            </a:avLst>
          </a:prstGeom>
          <a:solidFill>
            <a:srgbClr val="E24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  <a:buNone/>
              <a:defRPr sz="12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kern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02</a:t>
            </a:r>
            <a:endParaRPr kern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7" name="TextBox 36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4233672" y="1982470"/>
            <a:ext cx="176479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spcBef>
                <a:spcPct val="0"/>
              </a:spcBef>
              <a:spcAft>
                <a:spcPct val="0"/>
              </a:spcAft>
              <a:buNone/>
              <a:defRPr sz="14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ern="1200">
                <a:sym typeface="+mn-ea"/>
              </a:rPr>
              <a:t>权重总和</a:t>
            </a:r>
            <a:endParaRPr kern="1200">
              <a:sym typeface="+mn-ea"/>
            </a:endParaRPr>
          </a:p>
        </p:txBody>
      </p:sp>
      <p:sp>
        <p:nvSpPr>
          <p:cNvPr id="38" name="Rectangle 37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3712463" y="2412238"/>
            <a:ext cx="2267712" cy="1097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9" name="TextBox 38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3712463" y="2485390"/>
            <a:ext cx="2267712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05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kern="1200">
                <a:sym typeface="+mn-ea"/>
              </a:rPr>
              <a:t>所有关键绩效指标</a:t>
            </a:r>
            <a:endParaRPr sz="1200" kern="1200">
              <a:sym typeface="+mn-ea"/>
            </a:endParaRPr>
          </a:p>
          <a:p>
            <a:pPr defTabSz="9144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05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kern="1200">
                <a:sym typeface="+mn-ea"/>
              </a:rPr>
              <a:t>权重之和为100%</a:t>
            </a:r>
            <a:endParaRPr sz="1200" kern="1200">
              <a:sym typeface="+mn-ea"/>
            </a:endParaRPr>
          </a:p>
        </p:txBody>
      </p:sp>
      <p:sp>
        <p:nvSpPr>
          <p:cNvPr id="40" name="Rounded Rectangle 39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6309359" y="1845310"/>
            <a:ext cx="2542032" cy="129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1" name="Rounded Rectangle 40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6419088" y="1982470"/>
            <a:ext cx="457200" cy="365760"/>
          </a:xfrm>
          <a:prstGeom prst="roundRect">
            <a:avLst>
              <a:gd name="adj" fmla="val 20000"/>
            </a:avLst>
          </a:prstGeom>
          <a:solidFill>
            <a:srgbClr val="E24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  <a:buNone/>
              <a:defRPr sz="12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kern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03</a:t>
            </a:r>
            <a:endParaRPr kern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2" name="TextBox 41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6967727" y="1982470"/>
            <a:ext cx="176479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spcBef>
                <a:spcPct val="0"/>
              </a:spcBef>
              <a:spcAft>
                <a:spcPct val="0"/>
              </a:spcAft>
              <a:buNone/>
              <a:defRPr sz="14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ern="1200">
                <a:sym typeface="+mn-ea"/>
              </a:rPr>
              <a:t>单个权重</a:t>
            </a:r>
            <a:endParaRPr kern="1200">
              <a:sym typeface="+mn-ea"/>
            </a:endParaRPr>
          </a:p>
        </p:txBody>
      </p:sp>
      <p:sp>
        <p:nvSpPr>
          <p:cNvPr id="43" name="Rectangle 42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6446520" y="2412238"/>
            <a:ext cx="2267712" cy="1097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4" name="TextBox 43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6446520" y="2485390"/>
            <a:ext cx="2267712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05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kern="1200">
                <a:sym typeface="+mn-ea"/>
              </a:rPr>
              <a:t>最小不小于5%</a:t>
            </a:r>
            <a:endParaRPr sz="1200" kern="1200">
              <a:sym typeface="+mn-ea"/>
            </a:endParaRPr>
          </a:p>
          <a:p>
            <a:pPr defTabSz="9144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05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kern="1200">
                <a:sym typeface="+mn-ea"/>
              </a:rPr>
              <a:t>最好是5的倍数（方便计算）</a:t>
            </a:r>
            <a:endParaRPr sz="1200" kern="1200">
              <a:sym typeface="+mn-ea"/>
            </a:endParaRPr>
          </a:p>
        </p:txBody>
      </p:sp>
      <p:sp>
        <p:nvSpPr>
          <p:cNvPr id="45" name="Rounded Rectangle 44"/>
          <p:cNvSpPr>
            <a:spLocks noGrp="1"/>
          </p:cNvSpPr>
          <p:nvPr>
            <p:custDataLst>
              <p:tags r:id="rId17"/>
            </p:custDataLst>
          </p:nvPr>
        </p:nvSpPr>
        <p:spPr>
          <a:xfrm>
            <a:off x="9043415" y="1845310"/>
            <a:ext cx="2542032" cy="129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6" name="Rounded Rectangle 45"/>
          <p:cNvSpPr>
            <a:spLocks noGrp="1"/>
          </p:cNvSpPr>
          <p:nvPr>
            <p:custDataLst>
              <p:tags r:id="rId18"/>
            </p:custDataLst>
          </p:nvPr>
        </p:nvSpPr>
        <p:spPr>
          <a:xfrm>
            <a:off x="9153143" y="1982470"/>
            <a:ext cx="457200" cy="365760"/>
          </a:xfrm>
          <a:prstGeom prst="roundRect">
            <a:avLst>
              <a:gd name="adj" fmla="val 20000"/>
            </a:avLst>
          </a:prstGeom>
          <a:solidFill>
            <a:srgbClr val="E24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  <a:buNone/>
              <a:defRPr sz="12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kern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04</a:t>
            </a:r>
            <a:endParaRPr kern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7" name="TextBox 46"/>
          <p:cNvSpPr>
            <a:spLocks noGrp="1"/>
          </p:cNvSpPr>
          <p:nvPr>
            <p:custDataLst>
              <p:tags r:id="rId19"/>
            </p:custDataLst>
          </p:nvPr>
        </p:nvSpPr>
        <p:spPr>
          <a:xfrm>
            <a:off x="9701784" y="1982470"/>
            <a:ext cx="176479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spcBef>
                <a:spcPct val="0"/>
              </a:spcBef>
              <a:spcAft>
                <a:spcPct val="0"/>
              </a:spcAft>
              <a:buNone/>
              <a:defRPr sz="14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ern="1200">
                <a:sym typeface="+mn-ea"/>
              </a:rPr>
              <a:t>权重差异</a:t>
            </a:r>
            <a:endParaRPr kern="1200">
              <a:sym typeface="+mn-ea"/>
            </a:endParaRPr>
          </a:p>
        </p:txBody>
      </p:sp>
      <p:sp>
        <p:nvSpPr>
          <p:cNvPr id="48" name="Rectangle 47"/>
          <p:cNvSpPr>
            <a:spLocks noGrp="1"/>
          </p:cNvSpPr>
          <p:nvPr>
            <p:custDataLst>
              <p:tags r:id="rId20"/>
            </p:custDataLst>
          </p:nvPr>
        </p:nvSpPr>
        <p:spPr>
          <a:xfrm>
            <a:off x="9180576" y="2412238"/>
            <a:ext cx="2267712" cy="1097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9" name="TextBox 48"/>
          <p:cNvSpPr>
            <a:spLocks noGrp="1"/>
          </p:cNvSpPr>
          <p:nvPr>
            <p:custDataLst>
              <p:tags r:id="rId21"/>
            </p:custDataLst>
          </p:nvPr>
        </p:nvSpPr>
        <p:spPr>
          <a:xfrm>
            <a:off x="9180576" y="2485390"/>
            <a:ext cx="2267712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05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kern="1200">
                <a:sym typeface="+mn-ea"/>
              </a:rPr>
              <a:t>呈现明显差异</a:t>
            </a:r>
            <a:endParaRPr sz="1200" kern="1200">
              <a:sym typeface="+mn-ea"/>
            </a:endParaRPr>
          </a:p>
          <a:p>
            <a:pPr defTabSz="9144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05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kern="1200">
                <a:sym typeface="+mn-ea"/>
              </a:rPr>
              <a:t>避免全部平均分配</a:t>
            </a:r>
            <a:endParaRPr sz="1200" kern="1200">
              <a:sym typeface="+mn-ea"/>
            </a:endParaRPr>
          </a:p>
        </p:txBody>
      </p:sp>
      <p:sp>
        <p:nvSpPr>
          <p:cNvPr id="98" name="矩形 97"/>
          <p:cNvSpPr>
            <a:spLocks noGrp="1"/>
          </p:cNvSpPr>
          <p:nvPr/>
        </p:nvSpPr>
        <p:spPr>
          <a:xfrm>
            <a:off x="843280" y="3423920"/>
            <a:ext cx="102870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defTabSz="914400">
              <a:spcBef>
                <a:spcPct val="0"/>
              </a:spcBef>
              <a:spcAft>
                <a:spcPct val="0"/>
              </a:spcAft>
              <a:defRPr sz="1875" b="1">
                <a:solidFill>
                  <a:srgbClr val="E84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 kern="1200">
                <a:solidFill>
                  <a:srgbClr val="E84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指标写法：</a:t>
            </a:r>
            <a:r>
              <a:rPr sz="1400" b="1" kern="1200">
                <a:solidFill>
                  <a:srgbClr val="E84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结果 + 口径 + 时间</a:t>
            </a:r>
            <a:endParaRPr sz="1400" b="1" kern="1200">
              <a:solidFill>
                <a:srgbClr val="E84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9" name="圆角矩形 98"/>
          <p:cNvSpPr>
            <a:spLocks noGrp="1"/>
          </p:cNvSpPr>
          <p:nvPr/>
        </p:nvSpPr>
        <p:spPr>
          <a:xfrm>
            <a:off x="838200" y="3871595"/>
            <a:ext cx="5143500" cy="174117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4288">
            <a:solidFill>
              <a:srgbClr val="F7AA7D"/>
            </a:solidFill>
          </a:ln>
        </p:spPr>
        <p:txBody>
          <a:bodyPr anchor="ctr"/>
          <a:lstStyle/>
          <a:p>
            <a:pPr defTabSz="914400">
              <a:spcBef>
                <a:spcPct val="0"/>
              </a:spcBef>
              <a:spcAft>
                <a:spcPct val="0"/>
              </a:spcAft>
              <a:defRPr sz="165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 kern="1200">
                <a:solidFill>
                  <a:srgbClr val="C637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定量指标</a:t>
            </a:r>
            <a:endParaRPr sz="1600" b="1" kern="1200">
              <a:solidFill>
                <a:srgbClr val="C637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defTabSz="914400">
              <a:spcBef>
                <a:spcPct val="0"/>
              </a:spcBef>
              <a:spcAft>
                <a:spcPct val="0"/>
              </a:spcAft>
              <a:defRPr sz="165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600" kern="12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defTabSz="914400">
              <a:spcBef>
                <a:spcPct val="0"/>
              </a:spcBef>
              <a:spcAft>
                <a:spcPct val="0"/>
              </a:spcAft>
              <a:defRPr sz="165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kern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写清指标、数据源、目标值与期限</a:t>
            </a:r>
            <a:endParaRPr sz="1400" kern="12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defTabSz="914400">
              <a:spcBef>
                <a:spcPct val="0"/>
              </a:spcBef>
              <a:spcAft>
                <a:spcPct val="0"/>
              </a:spcAft>
            </a:pPr>
            <a:endParaRPr kern="1200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  <a:p>
            <a:pPr defTabSz="914400">
              <a:spcBef>
                <a:spcPct val="0"/>
              </a:spcBef>
              <a:spcAft>
                <a:spcPct val="0"/>
              </a:spcAft>
              <a:defRPr sz="165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kern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示例：招聘满足周期较上年缩短20%，年度内达成</a:t>
            </a:r>
            <a:endParaRPr sz="1400" kern="12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0" name="圆角矩形 99"/>
          <p:cNvSpPr>
            <a:spLocks noGrp="1"/>
          </p:cNvSpPr>
          <p:nvPr/>
        </p:nvSpPr>
        <p:spPr>
          <a:xfrm>
            <a:off x="6191250" y="3871595"/>
            <a:ext cx="5143500" cy="174117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4288">
            <a:solidFill>
              <a:srgbClr val="F7AA7D"/>
            </a:solidFill>
          </a:ln>
        </p:spPr>
        <p:txBody>
          <a:bodyPr anchor="ctr"/>
          <a:lstStyle/>
          <a:p>
            <a:pPr defTabSz="914400">
              <a:spcBef>
                <a:spcPct val="0"/>
              </a:spcBef>
              <a:spcAft>
                <a:spcPct val="0"/>
              </a:spcAft>
              <a:defRPr sz="165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 kern="1200">
                <a:solidFill>
                  <a:srgbClr val="C637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定性指标</a:t>
            </a:r>
            <a:endParaRPr sz="1600" b="1" kern="1200">
              <a:solidFill>
                <a:srgbClr val="C637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defTabSz="914400">
              <a:spcBef>
                <a:spcPct val="0"/>
              </a:spcBef>
              <a:spcAft>
                <a:spcPct val="0"/>
              </a:spcAft>
              <a:defRPr sz="165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600" kern="12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defTabSz="914400">
              <a:spcBef>
                <a:spcPct val="0"/>
              </a:spcBef>
              <a:spcAft>
                <a:spcPct val="0"/>
              </a:spcAft>
              <a:defRPr sz="165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kern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写清行为场景、交付标准与等级描述</a:t>
            </a:r>
            <a:endParaRPr sz="1400" kern="12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defTabSz="914400">
              <a:spcBef>
                <a:spcPct val="0"/>
              </a:spcBef>
              <a:spcAft>
                <a:spcPct val="0"/>
              </a:spcAft>
            </a:pPr>
            <a:endParaRPr kern="1200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  <a:p>
            <a:pPr defTabSz="914400">
              <a:spcBef>
                <a:spcPct val="0"/>
              </a:spcBef>
              <a:spcAft>
                <a:spcPct val="0"/>
              </a:spcAft>
              <a:defRPr sz="165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kern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示例：跨部门需求在约定时限内响应并闭环</a:t>
            </a:r>
            <a:endParaRPr sz="1400" kern="12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1" name="圆角矩形 100"/>
          <p:cNvSpPr>
            <a:spLocks noGrp="1"/>
          </p:cNvSpPr>
          <p:nvPr/>
        </p:nvSpPr>
        <p:spPr>
          <a:xfrm>
            <a:off x="838200" y="5857875"/>
            <a:ext cx="10496550" cy="552450"/>
          </a:xfrm>
          <a:prstGeom prst="roundRect">
            <a:avLst>
              <a:gd name="adj" fmla="val 13793"/>
            </a:avLst>
          </a:prstGeom>
          <a:solidFill>
            <a:srgbClr val="FDE7D8"/>
          </a:solidFill>
          <a:ln w="0">
            <a:noFill/>
          </a:ln>
        </p:spPr>
        <p:txBody>
          <a:bodyPr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9E2A0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 kern="1200">
                <a:solidFill>
                  <a:srgbClr val="9E2A0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每个指标必须追溯到组织或部门目标；无数据源、无计算口径、无期限的指标不进入考核。</a:t>
            </a:r>
            <a:endParaRPr sz="1400" b="1" kern="1200">
              <a:solidFill>
                <a:srgbClr val="9E2A0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2120900" y="3342640"/>
            <a:ext cx="1016000" cy="431800"/>
          </a:xfrm>
          <a:prstGeom prst="roundRect">
            <a:avLst>
              <a:gd name="adj" fmla="val 50000"/>
            </a:avLst>
          </a:prstGeom>
          <a:solidFill>
            <a:srgbClr val="F7AA7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正道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3327400" y="3342640"/>
            <a:ext cx="1016000" cy="431800"/>
          </a:xfrm>
          <a:prstGeom prst="roundRect">
            <a:avLst>
              <a:gd name="adj" fmla="val 50000"/>
            </a:avLst>
          </a:prstGeom>
          <a:solidFill>
            <a:srgbClr val="F7AA7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利他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533900" y="3342640"/>
            <a:ext cx="1016000" cy="431800"/>
          </a:xfrm>
          <a:prstGeom prst="roundRect">
            <a:avLst>
              <a:gd name="adj" fmla="val 50000"/>
            </a:avLst>
          </a:prstGeom>
          <a:solidFill>
            <a:srgbClr val="F7AA7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真实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740400" y="3342640"/>
            <a:ext cx="1016000" cy="431800"/>
          </a:xfrm>
          <a:prstGeom prst="roundRect">
            <a:avLst>
              <a:gd name="adj" fmla="val 50000"/>
            </a:avLst>
          </a:prstGeom>
          <a:solidFill>
            <a:srgbClr val="F7AA7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情义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120900" y="4535805"/>
            <a:ext cx="8890000" cy="381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E24D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把目标变成行动，把贡献变成回报，让中达与每一位伙伴共同成长。</a:t>
            </a:r>
            <a:endParaRPr lang="en-US" sz="2000" b="0" i="0" u="none" strike="noStrike">
              <a:solidFill>
                <a:srgbClr val="E24D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2"/>
          <a:srcRect l="303" r="303"/>
          <a:stretch>
            <a:fillRect/>
          </a:stretch>
        </p:blipFill>
        <p:spPr>
          <a:xfrm>
            <a:off x="10668000" y="5701030"/>
            <a:ext cx="1041400" cy="4191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52.80007874015746,&quot;left&quot;:54,&quot;top&quot;:147.59992125984252,&quot;width&quot;:863.28}"/>
</p:tagLst>
</file>

<file path=ppt/tags/tag2.xml><?xml version="1.0" encoding="utf-8"?>
<p:tagLst xmlns:p="http://schemas.openxmlformats.org/presentationml/2006/main">
  <p:tag name="KSO_WM_DIAGRAM_VIRTUALLY_FRAME" val="{&quot;height&quot;:352.80007874015746,&quot;left&quot;:54,&quot;top&quot;:147.59992125984252,&quot;width&quot;:863.28}"/>
</p:tagLst>
</file>

<file path=ppt/tags/tag3.xml><?xml version="1.0" encoding="utf-8"?>
<p:tagLst xmlns:p="http://schemas.openxmlformats.org/presentationml/2006/main">
  <p:tag name="KSO_WM_DIAGRAM_VIRTUALLY_FRAME" val="{&quot;height&quot;:352.80007874015746,&quot;left&quot;:54,&quot;top&quot;:147.59992125984252,&quot;width&quot;:863.28}"/>
</p:tagLst>
</file>

<file path=ppt/tags/tag4.xml><?xml version="1.0" encoding="utf-8"?>
<p:tagLst xmlns:p="http://schemas.openxmlformats.org/presentationml/2006/main">
  <p:tag name="KSO_WM_DIAGRAM_VIRTUALLY_FRAME" val="{&quot;height&quot;:352.80007874015746,&quot;left&quot;:54,&quot;top&quot;:147.59992125984252,&quot;width&quot;:863.28}"/>
</p:tagLst>
</file>

<file path=ppt/tags/tag5.xml><?xml version="1.0" encoding="utf-8"?>
<p:tagLst xmlns:p="http://schemas.openxmlformats.org/presentationml/2006/main">
  <p:tag name="KSO_WM_DIAGRAM_VIRTUALLY_FRAME" val="{&quot;height&quot;:352.80007874015746,&quot;left&quot;:54,&quot;top&quot;:147.59992125984252,&quot;width&quot;:863.28}"/>
</p:tagLst>
</file>

<file path=ppt/tags/tag6.xml><?xml version="1.0" encoding="utf-8"?>
<p:tagLst xmlns:p="http://schemas.openxmlformats.org/presentationml/2006/main">
  <p:tag name="KSO_WM_DIAGRAM_VIRTUALLY_FRAME" val="{&quot;height&quot;:352.80007874015746,&quot;left&quot;:54,&quot;top&quot;:147.59992125984252,&quot;width&quot;:863.28}"/>
</p:tagLst>
</file>

<file path=ppt/tags/tag7.xml><?xml version="1.0" encoding="utf-8"?>
<p:tagLst xmlns:p="http://schemas.openxmlformats.org/presentationml/2006/main">
  <p:tag name="KSO_WM_DIAGRAM_VIRTUALLY_FRAME" val="{&quot;height&quot;:352.80007874015746,&quot;left&quot;:54,&quot;top&quot;:147.59992125984252,&quot;width&quot;:863.28}"/>
</p:tagLst>
</file>

<file path=ppt/tags/tag8.xml><?xml version="1.0" encoding="utf-8"?>
<p:tagLst xmlns:p="http://schemas.openxmlformats.org/presentationml/2006/main">
  <p:tag name="KSO_WM_DIAGRAM_VIRTUALLY_FRAME" val="{&quot;height&quot;:352.80007874015746,&quot;left&quot;:54,&quot;top&quot;:147.59992125984252,&quot;width&quot;:863.28}"/>
</p:tagLst>
</file>

<file path=ppt/tags/tag9.xml><?xml version="1.0" encoding="utf-8"?>
<p:tagLst xmlns:p="http://schemas.openxmlformats.org/presentationml/2006/main">
  <p:tag name="KSO_WM_DIAGRAM_VIRTUALLY_FRAME" val="{&quot;height&quot;:352.80007874015746,&quot;left&quot;:54,&quot;top&quot;:147.59992125984252,&quot;width&quot;:863.28}"/>
</p:tagLst>
</file>

<file path=ppt/tags/tag10.xml><?xml version="1.0" encoding="utf-8"?>
<p:tagLst xmlns:p="http://schemas.openxmlformats.org/presentationml/2006/main">
  <p:tag name="KSO_WM_DIAGRAM_VIRTUALLY_FRAME" val="{&quot;height&quot;:352.80007874015746,&quot;left&quot;:54,&quot;top&quot;:147.59992125984252,&quot;width&quot;:863.28}"/>
</p:tagLst>
</file>

<file path=ppt/tags/tag11.xml><?xml version="1.0" encoding="utf-8"?>
<p:tagLst xmlns:p="http://schemas.openxmlformats.org/presentationml/2006/main">
  <p:tag name="KSO_WM_DIAGRAM_VIRTUALLY_FRAME" val="{&quot;height&quot;:352.80007874015746,&quot;left&quot;:54,&quot;top&quot;:147.59992125984252,&quot;width&quot;:863.28}"/>
</p:tagLst>
</file>

<file path=ppt/tags/tag12.xml><?xml version="1.0" encoding="utf-8"?>
<p:tagLst xmlns:p="http://schemas.openxmlformats.org/presentationml/2006/main">
  <p:tag name="KSO_WM_DIAGRAM_VIRTUALLY_FRAME" val="{&quot;height&quot;:352.80007874015746,&quot;left&quot;:54,&quot;top&quot;:147.59992125984252,&quot;width&quot;:863.28}"/>
</p:tagLst>
</file>

<file path=ppt/tags/tag13.xml><?xml version="1.0" encoding="utf-8"?>
<p:tagLst xmlns:p="http://schemas.openxmlformats.org/presentationml/2006/main">
  <p:tag name="KSO_WM_DIAGRAM_VIRTUALLY_FRAME" val="{&quot;height&quot;:352.80007874015746,&quot;left&quot;:54,&quot;top&quot;:147.59992125984252,&quot;width&quot;:863.28}"/>
</p:tagLst>
</file>

<file path=ppt/tags/tag14.xml><?xml version="1.0" encoding="utf-8"?>
<p:tagLst xmlns:p="http://schemas.openxmlformats.org/presentationml/2006/main">
  <p:tag name="KSO_WM_DIAGRAM_VIRTUALLY_FRAME" val="{&quot;height&quot;:352.80007874015746,&quot;left&quot;:54,&quot;top&quot;:147.59992125984252,&quot;width&quot;:863.28}"/>
</p:tagLst>
</file>

<file path=ppt/tags/tag15.xml><?xml version="1.0" encoding="utf-8"?>
<p:tagLst xmlns:p="http://schemas.openxmlformats.org/presentationml/2006/main">
  <p:tag name="KSO_WM_DIAGRAM_VIRTUALLY_FRAME" val="{&quot;height&quot;:352.80007874015746,&quot;left&quot;:54,&quot;top&quot;:147.59992125984252,&quot;width&quot;:863.28}"/>
</p:tagLst>
</file>

<file path=ppt/tags/tag16.xml><?xml version="1.0" encoding="utf-8"?>
<p:tagLst xmlns:p="http://schemas.openxmlformats.org/presentationml/2006/main">
  <p:tag name="KSO_WM_DIAGRAM_VIRTUALLY_FRAME" val="{&quot;height&quot;:352.80007874015746,&quot;left&quot;:54,&quot;top&quot;:147.59992125984252,&quot;width&quot;:863.28}"/>
</p:tagLst>
</file>

<file path=ppt/tags/tag17.xml><?xml version="1.0" encoding="utf-8"?>
<p:tagLst xmlns:p="http://schemas.openxmlformats.org/presentationml/2006/main">
  <p:tag name="KSO_WM_DIAGRAM_VIRTUALLY_FRAME" val="{&quot;height&quot;:352.80007874015746,&quot;left&quot;:54,&quot;top&quot;:147.59992125984252,&quot;width&quot;:863.28}"/>
</p:tagLst>
</file>

<file path=ppt/tags/tag18.xml><?xml version="1.0" encoding="utf-8"?>
<p:tagLst xmlns:p="http://schemas.openxmlformats.org/presentationml/2006/main">
  <p:tag name="KSO_WM_DIAGRAM_VIRTUALLY_FRAME" val="{&quot;height&quot;:352.80007874015746,&quot;left&quot;:54,&quot;top&quot;:147.59992125984252,&quot;width&quot;:863.28}"/>
</p:tagLst>
</file>

<file path=ppt/tags/tag19.xml><?xml version="1.0" encoding="utf-8"?>
<p:tagLst xmlns:p="http://schemas.openxmlformats.org/presentationml/2006/main">
  <p:tag name="KSO_WM_DIAGRAM_VIRTUALLY_FRAME" val="{&quot;height&quot;:352.80007874015746,&quot;left&quot;:54,&quot;top&quot;:147.59992125984252,&quot;width&quot;:863.28}"/>
</p:tagLst>
</file>

<file path=ppt/tags/tag20.xml><?xml version="1.0" encoding="utf-8"?>
<p:tagLst xmlns:p="http://schemas.openxmlformats.org/presentationml/2006/main">
  <p:tag name="KSO_WM_DIAGRAM_VIRTUALLY_FRAME" val="{&quot;height&quot;:352.80007874015746,&quot;left&quot;:54,&quot;top&quot;:147.59992125984252,&quot;width&quot;:863.28}"/>
</p:tagLst>
</file>

<file path=ppt/tags/tag21.xml><?xml version="1.0" encoding="utf-8"?>
<p:tagLst xmlns:p="http://schemas.openxmlformats.org/presentationml/2006/main">
  <p:tag name="KSO_WM_DIAGRAM_VIRTUALLY_FRAME" val="{&quot;height&quot;:352.80007874015746,&quot;left&quot;:54,&quot;top&quot;:147.59992125984252,&quot;width&quot;:863.28}"/>
</p:tagLst>
</file>

<file path=ppt/tags/tag22.xml><?xml version="1.0" encoding="utf-8"?>
<p:tagLst xmlns:p="http://schemas.openxmlformats.org/presentationml/2006/main">
  <p:tag name="KSO_WM_DIAGRAM_VIRTUALLY_FRAME" val="{&quot;height&quot;:352.80007874015746,&quot;left&quot;:54,&quot;top&quot;:147.59992125984252,&quot;width&quot;:863.28}"/>
</p:tagLst>
</file>

<file path=ppt/tags/tag23.xml><?xml version="1.0" encoding="utf-8"?>
<p:tagLst xmlns:p="http://schemas.openxmlformats.org/presentationml/2006/main">
  <p:tag name="KSO_WM_DIAGRAM_VIRTUALLY_FRAME" val="{&quot;height&quot;:352.80007874015746,&quot;left&quot;:54,&quot;top&quot;:147.59992125984252,&quot;width&quot;:863.28}"/>
</p:tagLst>
</file>

<file path=ppt/tags/tag24.xml><?xml version="1.0" encoding="utf-8"?>
<p:tagLst xmlns:p="http://schemas.openxmlformats.org/presentationml/2006/main">
  <p:tag name="KSO_WM_DIAGRAM_VIRTUALLY_FRAME" val="{&quot;height&quot;:352.80007874015746,&quot;left&quot;:54,&quot;top&quot;:147.59992125984252,&quot;width&quot;:863.28}"/>
</p:tagLst>
</file>

<file path=ppt/tags/tag25.xml><?xml version="1.0" encoding="utf-8"?>
<p:tagLst xmlns:p="http://schemas.openxmlformats.org/presentationml/2006/main">
  <p:tag name="KSO_WM_DIAGRAM_VIRTUALLY_FRAME" val="{&quot;height&quot;:352.80007874015746,&quot;left&quot;:54,&quot;top&quot;:147.59992125984252,&quot;width&quot;:863.28}"/>
</p:tagLst>
</file>

<file path=ppt/tags/tag26.xml><?xml version="1.0" encoding="utf-8"?>
<p:tagLst xmlns:p="http://schemas.openxmlformats.org/presentationml/2006/main">
  <p:tag name="KSO_WM_DIAGRAM_VIRTUALLY_FRAME" val="{&quot;height&quot;:352.80007874015746,&quot;left&quot;:54,&quot;top&quot;:147.59992125984252,&quot;width&quot;:863.28}"/>
</p:tagLst>
</file>

<file path=ppt/tags/tag27.xml><?xml version="1.0" encoding="utf-8"?>
<p:tagLst xmlns:p="http://schemas.openxmlformats.org/presentationml/2006/main">
  <p:tag name="KSO_WM_DIAGRAM_VIRTUALLY_FRAME" val="{&quot;height&quot;:352.80007874015746,&quot;left&quot;:54,&quot;top&quot;:147.59992125984252,&quot;width&quot;:863.28}"/>
</p:tagLst>
</file>

<file path=ppt/tags/tag28.xml><?xml version="1.0" encoding="utf-8"?>
<p:tagLst xmlns:p="http://schemas.openxmlformats.org/presentationml/2006/main">
  <p:tag name="KSO_WM_DIAGRAM_VIRTUALLY_FRAME" val="{&quot;height&quot;:352.80007874015746,&quot;left&quot;:54,&quot;top&quot;:147.59992125984252,&quot;width&quot;:863.28}"/>
</p:tagLst>
</file>

<file path=ppt/tags/tag29.xml><?xml version="1.0" encoding="utf-8"?>
<p:tagLst xmlns:p="http://schemas.openxmlformats.org/presentationml/2006/main">
  <p:tag name="KSO_WM_DIAGRAM_VIRTUALLY_FRAME" val="{&quot;height&quot;:352.80007874015746,&quot;left&quot;:54,&quot;top&quot;:147.59992125984252,&quot;width&quot;:863.28}"/>
</p:tagLst>
</file>

<file path=ppt/tags/tag30.xml><?xml version="1.0" encoding="utf-8"?>
<p:tagLst xmlns:p="http://schemas.openxmlformats.org/presentationml/2006/main">
  <p:tag name="KSO_WM_DIAGRAM_VIRTUALLY_FRAME" val="{&quot;height&quot;:352.80007874015746,&quot;left&quot;:54,&quot;top&quot;:147.59992125984252,&quot;width&quot;:863.28}"/>
</p:tagLst>
</file>

<file path=ppt/tags/tag31.xml><?xml version="1.0" encoding="utf-8"?>
<p:tagLst xmlns:p="http://schemas.openxmlformats.org/presentationml/2006/main">
  <p:tag name="KSO_WM_DIAGRAM_VIRTUALLY_FRAME" val="{&quot;height&quot;:352.80007874015746,&quot;left&quot;:54,&quot;top&quot;:147.59992125984252,&quot;width&quot;:863.28}"/>
</p:tagLst>
</file>

<file path=ppt/tags/tag32.xml><?xml version="1.0" encoding="utf-8"?>
<p:tagLst xmlns:p="http://schemas.openxmlformats.org/presentationml/2006/main">
  <p:tag name="KSO_WM_DIAGRAM_VIRTUALLY_FRAME" val="{&quot;height&quot;:352.80007874015746,&quot;left&quot;:54,&quot;top&quot;:147.59992125984252,&quot;width&quot;:863.28}"/>
</p:tagLst>
</file>

<file path=ppt/tags/tag33.xml><?xml version="1.0" encoding="utf-8"?>
<p:tagLst xmlns:p="http://schemas.openxmlformats.org/presentationml/2006/main">
  <p:tag name="KSO_WM_DIAGRAM_VIRTUALLY_FRAME" val="{&quot;height&quot;:352.80007874015746,&quot;left&quot;:54,&quot;top&quot;:147.59992125984252,&quot;width&quot;:863.28}"/>
</p:tagLst>
</file>

<file path=ppt/tags/tag34.xml><?xml version="1.0" encoding="utf-8"?>
<p:tagLst xmlns:p="http://schemas.openxmlformats.org/presentationml/2006/main">
  <p:tag name="KSO_WM_DIAGRAM_VIRTUALLY_FRAME" val="{&quot;height&quot;:352.80007874015746,&quot;left&quot;:54,&quot;top&quot;:147.59992125984252,&quot;width&quot;:863.28}"/>
</p:tagLst>
</file>

<file path=ppt/tags/tag35.xml><?xml version="1.0" encoding="utf-8"?>
<p:tagLst xmlns:p="http://schemas.openxmlformats.org/presentationml/2006/main">
  <p:tag name="KSO_WM_DIAGRAM_VIRTUALLY_FRAME" val="{&quot;height&quot;:352.80007874015746,&quot;left&quot;:54,&quot;top&quot;:147.59992125984252,&quot;width&quot;:863.28}"/>
</p:tagLst>
</file>

<file path=ppt/tags/tag36.xml><?xml version="1.0" encoding="utf-8"?>
<p:tagLst xmlns:p="http://schemas.openxmlformats.org/presentationml/2006/main">
  <p:tag name="KSO_WM_DIAGRAM_VIRTUALLY_FRAME" val="{&quot;height&quot;:352.80007874015746,&quot;left&quot;:54,&quot;top&quot;:147.59992125984252,&quot;width&quot;:863.28}"/>
</p:tagLst>
</file>

<file path=ppt/tags/tag37.xml><?xml version="1.0" encoding="utf-8"?>
<p:tagLst xmlns:p="http://schemas.openxmlformats.org/presentationml/2006/main">
  <p:tag name="KSO_WM_DIAGRAM_VIRTUALLY_FRAME" val="{&quot;height&quot;:352.80007874015746,&quot;left&quot;:54,&quot;top&quot;:147.59992125984252,&quot;width&quot;:863.28}"/>
</p:tagLst>
</file>

<file path=ppt/tags/tag38.xml><?xml version="1.0" encoding="utf-8"?>
<p:tagLst xmlns:p="http://schemas.openxmlformats.org/presentationml/2006/main">
  <p:tag name="KSO_WM_DIAGRAM_VIRTUALLY_FRAME" val="{&quot;height&quot;:352.80007874015746,&quot;left&quot;:54,&quot;top&quot;:147.59992125984252,&quot;width&quot;:863.28}"/>
</p:tagLst>
</file>

<file path=ppt/tags/tag39.xml><?xml version="1.0" encoding="utf-8"?>
<p:tagLst xmlns:p="http://schemas.openxmlformats.org/presentationml/2006/main">
  <p:tag name="KSO_WM_DIAGRAM_VIRTUALLY_FRAME" val="{&quot;height&quot;:352.80007874015746,&quot;left&quot;:54,&quot;top&quot;:147.59992125984252,&quot;width&quot;:863.28}"/>
</p:tagLst>
</file>

<file path=ppt/tags/tag40.xml><?xml version="1.0" encoding="utf-8"?>
<p:tagLst xmlns:p="http://schemas.openxmlformats.org/presentationml/2006/main">
  <p:tag name="KSO_WM_DIAGRAM_VIRTUALLY_FRAME" val="{&quot;height&quot;:352.80007874015746,&quot;left&quot;:54,&quot;top&quot;:147.59992125984252,&quot;width&quot;:863.28}"/>
</p:tagLst>
</file>

<file path=ppt/tags/tag41.xml><?xml version="1.0" encoding="utf-8"?>
<p:tagLst xmlns:p="http://schemas.openxmlformats.org/presentationml/2006/main">
  <p:tag name="KSO_WM_DIAGRAM_VIRTUALLY_FRAME" val="{&quot;height&quot;:352.80007874015746,&quot;left&quot;:54,&quot;top&quot;:147.59992125984252,&quot;width&quot;:863.28}"/>
</p:tagLst>
</file>

<file path=ppt/tags/tag42.xml><?xml version="1.0" encoding="utf-8"?>
<p:tagLst xmlns:p="http://schemas.openxmlformats.org/presentationml/2006/main">
  <p:tag name="KSO_WM_DIAGRAM_VIRTUALLY_FRAME" val="{&quot;height&quot;:352.80007874015746,&quot;left&quot;:54,&quot;top&quot;:147.59992125984252,&quot;width&quot;:863.28}"/>
</p:tagLst>
</file>

<file path=ppt/tags/tag43.xml><?xml version="1.0" encoding="utf-8"?>
<p:tagLst xmlns:p="http://schemas.openxmlformats.org/presentationml/2006/main">
  <p:tag name="KSO_WM_DIAGRAM_VIRTUALLY_FRAME" val="{&quot;height&quot;:220.39000000000001,&quot;left&quot;:61.2,&quot;top&quot;:162,&quot;width&quot;:863.95}"/>
</p:tagLst>
</file>

<file path=ppt/tags/tag44.xml><?xml version="1.0" encoding="utf-8"?>
<p:tagLst xmlns:p="http://schemas.openxmlformats.org/presentationml/2006/main">
  <p:tag name="KSO_WM_DIAGRAM_VIRTUALLY_FRAME" val="{&quot;height&quot;:220.39000000000001,&quot;left&quot;:61.2,&quot;top&quot;:162,&quot;width&quot;:863.95}"/>
</p:tagLst>
</file>

<file path=ppt/tags/tag45.xml><?xml version="1.0" encoding="utf-8"?>
<p:tagLst xmlns:p="http://schemas.openxmlformats.org/presentationml/2006/main">
  <p:tag name="KSO_WM_DIAGRAM_VIRTUALLY_FRAME" val="{&quot;height&quot;:220.39000000000001,&quot;left&quot;:61.2,&quot;top&quot;:162,&quot;width&quot;:863.95}"/>
</p:tagLst>
</file>

<file path=ppt/tags/tag46.xml><?xml version="1.0" encoding="utf-8"?>
<p:tagLst xmlns:p="http://schemas.openxmlformats.org/presentationml/2006/main">
  <p:tag name="KSO_WM_DIAGRAM_VIRTUALLY_FRAME" val="{&quot;height&quot;:220.39000000000001,&quot;left&quot;:61.2,&quot;top&quot;:162,&quot;width&quot;:863.95}"/>
</p:tagLst>
</file>

<file path=ppt/tags/tag47.xml><?xml version="1.0" encoding="utf-8"?>
<p:tagLst xmlns:p="http://schemas.openxmlformats.org/presentationml/2006/main">
  <p:tag name="KSO_WM_DIAGRAM_VIRTUALLY_FRAME" val="{&quot;height&quot;:220.39000000000001,&quot;left&quot;:61.2,&quot;top&quot;:162,&quot;width&quot;:863.95}"/>
</p:tagLst>
</file>

<file path=ppt/tags/tag48.xml><?xml version="1.0" encoding="utf-8"?>
<p:tagLst xmlns:p="http://schemas.openxmlformats.org/presentationml/2006/main">
  <p:tag name="KSO_WM_DIAGRAM_VIRTUALLY_FRAME" val="{&quot;height&quot;:220.39000000000001,&quot;left&quot;:61.2,&quot;top&quot;:162,&quot;width&quot;:863.95}"/>
</p:tagLst>
</file>

<file path=ppt/tags/tag49.xml><?xml version="1.0" encoding="utf-8"?>
<p:tagLst xmlns:p="http://schemas.openxmlformats.org/presentationml/2006/main">
  <p:tag name="KSO_WM_DIAGRAM_VIRTUALLY_FRAME" val="{&quot;height&quot;:220.39000000000001,&quot;left&quot;:61.2,&quot;top&quot;:162,&quot;width&quot;:863.95}"/>
</p:tagLst>
</file>

<file path=ppt/tags/tag50.xml><?xml version="1.0" encoding="utf-8"?>
<p:tagLst xmlns:p="http://schemas.openxmlformats.org/presentationml/2006/main">
  <p:tag name="KSO_WM_DIAGRAM_VIRTUALLY_FRAME" val="{&quot;height&quot;:220.39000000000001,&quot;left&quot;:61.2,&quot;top&quot;:162,&quot;width&quot;:863.95}"/>
</p:tagLst>
</file>

<file path=ppt/tags/tag51.xml><?xml version="1.0" encoding="utf-8"?>
<p:tagLst xmlns:p="http://schemas.openxmlformats.org/presentationml/2006/main">
  <p:tag name="KSO_WM_DIAGRAM_VIRTUALLY_FRAME" val="{&quot;height&quot;:220.39000000000001,&quot;left&quot;:61.2,&quot;top&quot;:162,&quot;width&quot;:863.95}"/>
</p:tagLst>
</file>

<file path=ppt/tags/tag52.xml><?xml version="1.0" encoding="utf-8"?>
<p:tagLst xmlns:p="http://schemas.openxmlformats.org/presentationml/2006/main">
  <p:tag name="KSO_WM_DIAGRAM_VIRTUALLY_FRAME" val="{&quot;height&quot;:220.39000000000001,&quot;left&quot;:61.2,&quot;top&quot;:162,&quot;width&quot;:863.95}"/>
</p:tagLst>
</file>

<file path=ppt/tags/tag53.xml><?xml version="1.0" encoding="utf-8"?>
<p:tagLst xmlns:p="http://schemas.openxmlformats.org/presentationml/2006/main">
  <p:tag name="KSO_WM_DIAGRAM_VIRTUALLY_FRAME" val="{&quot;height&quot;:220.39000000000001,&quot;left&quot;:61.2,&quot;top&quot;:162,&quot;width&quot;:863.95}"/>
</p:tagLst>
</file>

<file path=ppt/tags/tag54.xml><?xml version="1.0" encoding="utf-8"?>
<p:tagLst xmlns:p="http://schemas.openxmlformats.org/presentationml/2006/main">
  <p:tag name="KSO_WM_DIAGRAM_VIRTUALLY_FRAME" val="{&quot;height&quot;:220.39000000000001,&quot;left&quot;:61.2,&quot;top&quot;:162,&quot;width&quot;:863.95}"/>
</p:tagLst>
</file>

<file path=ppt/tags/tag55.xml><?xml version="1.0" encoding="utf-8"?>
<p:tagLst xmlns:p="http://schemas.openxmlformats.org/presentationml/2006/main">
  <p:tag name="TABLE_ENDDRAG_ORIGIN_RECT" val="850*138"/>
  <p:tag name="TABLE_ENDDRAG_RECT" val="54*130*850*138"/>
</p:tagLst>
</file>

<file path=ppt/tags/tag56.xml><?xml version="1.0" encoding="utf-8"?>
<p:tagLst xmlns:p="http://schemas.openxmlformats.org/presentationml/2006/main">
  <p:tag name="KSO_WM_DIAGRAM_VIRTUALLY_FRAME" val="{&quot;height&quot;:392.7,&quot;left&quot;:50,&quot;top&quot;:140,&quot;width&quot;:886.85}"/>
</p:tagLst>
</file>

<file path=ppt/tags/tag57.xml><?xml version="1.0" encoding="utf-8"?>
<p:tagLst xmlns:p="http://schemas.openxmlformats.org/presentationml/2006/main">
  <p:tag name="KSO_WM_DIAGRAM_VIRTUALLY_FRAME" val="{&quot;height&quot;:392.7,&quot;left&quot;:50,&quot;top&quot;:140,&quot;width&quot;:886.85}"/>
</p:tagLst>
</file>

<file path=ppt/tags/tag58.xml><?xml version="1.0" encoding="utf-8"?>
<p:tagLst xmlns:p="http://schemas.openxmlformats.org/presentationml/2006/main">
  <p:tag name="KSO_WM_DIAGRAM_VIRTUALLY_FRAME" val="{&quot;height&quot;:392.7,&quot;left&quot;:50,&quot;top&quot;:140,&quot;width&quot;:886.85}"/>
</p:tagLst>
</file>

<file path=ppt/tags/tag59.xml><?xml version="1.0" encoding="utf-8"?>
<p:tagLst xmlns:p="http://schemas.openxmlformats.org/presentationml/2006/main">
  <p:tag name="KSO_WM_DIAGRAM_VIRTUALLY_FRAME" val="{&quot;height&quot;:392.7,&quot;left&quot;:50,&quot;top&quot;:140,&quot;width&quot;:886.85}"/>
</p:tagLst>
</file>

<file path=ppt/tags/tag60.xml><?xml version="1.0" encoding="utf-8"?>
<p:tagLst xmlns:p="http://schemas.openxmlformats.org/presentationml/2006/main">
  <p:tag name="KSO_WM_DIAGRAM_VIRTUALLY_FRAME" val="{&quot;height&quot;:392.7,&quot;left&quot;:50,&quot;top&quot;:140,&quot;width&quot;:886.85}"/>
</p:tagLst>
</file>

<file path=ppt/tags/tag61.xml><?xml version="1.0" encoding="utf-8"?>
<p:tagLst xmlns:p="http://schemas.openxmlformats.org/presentationml/2006/main">
  <p:tag name="KSO_WM_DIAGRAM_VIRTUALLY_FRAME" val="{&quot;height&quot;:392.7,&quot;left&quot;:50,&quot;top&quot;:140,&quot;width&quot;:886.85}"/>
</p:tagLst>
</file>

<file path=ppt/tags/tag62.xml><?xml version="1.0" encoding="utf-8"?>
<p:tagLst xmlns:p="http://schemas.openxmlformats.org/presentationml/2006/main">
  <p:tag name="KSO_WM_DIAGRAM_VIRTUALLY_FRAME" val="{&quot;height&quot;:392.7,&quot;left&quot;:50,&quot;top&quot;:140,&quot;width&quot;:886.85}"/>
</p:tagLst>
</file>

<file path=ppt/tags/tag63.xml><?xml version="1.0" encoding="utf-8"?>
<p:tagLst xmlns:p="http://schemas.openxmlformats.org/presentationml/2006/main">
  <p:tag name="KSO_WM_DIAGRAM_VIRTUALLY_FRAME" val="{&quot;height&quot;:392.7,&quot;left&quot;:50,&quot;top&quot;:140,&quot;width&quot;:886.85}"/>
</p:tagLst>
</file>

<file path=ppt/tags/tag64.xml><?xml version="1.0" encoding="utf-8"?>
<p:tagLst xmlns:p="http://schemas.openxmlformats.org/presentationml/2006/main">
  <p:tag name="KSO_WM_DIAGRAM_VIRTUALLY_FRAME" val="{&quot;height&quot;:340,&quot;left&quot;:50,&quot;top&quot;:140,&quot;width&quot;:565}"/>
</p:tagLst>
</file>

<file path=ppt/tags/tag65.xml><?xml version="1.0" encoding="utf-8"?>
<p:tagLst xmlns:p="http://schemas.openxmlformats.org/presentationml/2006/main">
  <p:tag name="KSO_WM_DIAGRAM_VIRTUALLY_FRAME" val="{&quot;height&quot;:340,&quot;left&quot;:50,&quot;top&quot;:140,&quot;width&quot;:565}"/>
</p:tagLst>
</file>

<file path=ppt/tags/tag66.xml><?xml version="1.0" encoding="utf-8"?>
<p:tagLst xmlns:p="http://schemas.openxmlformats.org/presentationml/2006/main">
  <p:tag name="KSO_WM_DIAGRAM_VIRTUALLY_FRAME" val="{&quot;height&quot;:340,&quot;left&quot;:50,&quot;top&quot;:140,&quot;width&quot;:565}"/>
</p:tagLst>
</file>

<file path=ppt/tags/tag67.xml><?xml version="1.0" encoding="utf-8"?>
<p:tagLst xmlns:p="http://schemas.openxmlformats.org/presentationml/2006/main">
  <p:tag name="KSO_WM_DIAGRAM_VIRTUALLY_FRAME" val="{&quot;height&quot;:340,&quot;left&quot;:50,&quot;top&quot;:140,&quot;width&quot;:565}"/>
</p:tagLst>
</file>

<file path=ppt/tags/tag68.xml><?xml version="1.0" encoding="utf-8"?>
<p:tagLst xmlns:p="http://schemas.openxmlformats.org/presentationml/2006/main">
  <p:tag name="KSO_WM_DIAGRAM_VIRTUALLY_FRAME" val="{&quot;height&quot;:340,&quot;left&quot;:50,&quot;top&quot;:140,&quot;width&quot;:565}"/>
</p:tagLst>
</file>

<file path=ppt/tags/tag69.xml><?xml version="1.0" encoding="utf-8"?>
<p:tagLst xmlns:p="http://schemas.openxmlformats.org/presentationml/2006/main">
  <p:tag name="KSO_WM_DIAGRAM_VIRTUALLY_FRAME" val="{&quot;height&quot;:340,&quot;left&quot;:50,&quot;top&quot;:140,&quot;width&quot;:565}"/>
</p:tagLst>
</file>

<file path=ppt/tags/tag70.xml><?xml version="1.0" encoding="utf-8"?>
<p:tagLst xmlns:p="http://schemas.openxmlformats.org/presentationml/2006/main">
  <p:tag name="KSO_WM_DIAGRAM_VIRTUALLY_FRAME" val="{&quot;height&quot;:340,&quot;left&quot;:50,&quot;top&quot;:140,&quot;width&quot;:565}"/>
</p:tagLst>
</file>

<file path=ppt/tags/tag71.xml><?xml version="1.0" encoding="utf-8"?>
<p:tagLst xmlns:p="http://schemas.openxmlformats.org/presentationml/2006/main">
  <p:tag name="KSO_WM_DIAGRAM_VIRTUALLY_FRAME" val="{&quot;height&quot;:340,&quot;left&quot;:50,&quot;top&quot;:140,&quot;width&quot;:565}"/>
</p:tagLst>
</file>

<file path=ppt/tags/tag72.xml><?xml version="1.0" encoding="utf-8"?>
<p:tagLst xmlns:p="http://schemas.openxmlformats.org/presentationml/2006/main">
  <p:tag name="KSO_WM_DIAGRAM_VIRTUALLY_FRAME" val="{&quot;height&quot;:340,&quot;left&quot;:50,&quot;top&quot;:140,&quot;width&quot;:860}"/>
</p:tagLst>
</file>

<file path=ppt/tags/tag73.xml><?xml version="1.0" encoding="utf-8"?>
<p:tagLst xmlns:p="http://schemas.openxmlformats.org/presentationml/2006/main">
  <p:tag name="KSO_WM_DIAGRAM_VIRTUALLY_FRAME" val="{&quot;height&quot;:340,&quot;left&quot;:50,&quot;top&quot;:140,&quot;width&quot;:860}"/>
</p:tagLst>
</file>

<file path=ppt/tags/tag74.xml><?xml version="1.0" encoding="utf-8"?>
<p:tagLst xmlns:p="http://schemas.openxmlformats.org/presentationml/2006/main">
  <p:tag name="KSO_WM_DIAGRAM_VIRTUALLY_FRAME" val="{&quot;height&quot;:340,&quot;left&quot;:50,&quot;top&quot;:140,&quot;width&quot;:860}"/>
</p:tagLst>
</file>

<file path=ppt/tags/tag75.xml><?xml version="1.0" encoding="utf-8"?>
<p:tagLst xmlns:p="http://schemas.openxmlformats.org/presentationml/2006/main">
  <p:tag name="KSO_WM_DIAGRAM_VIRTUALLY_FRAME" val="{&quot;height&quot;:340,&quot;left&quot;:50,&quot;top&quot;:140,&quot;width&quot;:860}"/>
</p:tagLst>
</file>

<file path=ppt/tags/tag76.xml><?xml version="1.0" encoding="utf-8"?>
<p:tagLst xmlns:p="http://schemas.openxmlformats.org/presentationml/2006/main">
  <p:tag name="KSO_WM_DIAGRAM_VIRTUALLY_FRAME" val="{&quot;height&quot;:340,&quot;left&quot;:50,&quot;top&quot;:140,&quot;width&quot;:860}"/>
</p:tagLst>
</file>

<file path=ppt/tags/tag77.xml><?xml version="1.0" encoding="utf-8"?>
<p:tagLst xmlns:p="http://schemas.openxmlformats.org/presentationml/2006/main">
  <p:tag name="KSO_WM_DIAGRAM_VIRTUALLY_FRAME" val="{&quot;height&quot;:340,&quot;left&quot;:50,&quot;top&quot;:140,&quot;width&quot;:860}"/>
</p:tagLst>
</file>

<file path=ppt/tags/tag78.xml><?xml version="1.0" encoding="utf-8"?>
<p:tagLst xmlns:p="http://schemas.openxmlformats.org/presentationml/2006/main">
  <p:tag name="KSO_WM_DIAGRAM_VIRTUALLY_FRAME" val="{&quot;height&quot;:340,&quot;left&quot;:50,&quot;top&quot;:140,&quot;width&quot;:860}"/>
</p:tagLst>
</file>

<file path=ppt/tags/tag79.xml><?xml version="1.0" encoding="utf-8"?>
<p:tagLst xmlns:p="http://schemas.openxmlformats.org/presentationml/2006/main">
  <p:tag name="KSO_WM_DIAGRAM_VIRTUALLY_FRAME" val="{&quot;height&quot;:340,&quot;left&quot;:50,&quot;top&quot;:140,&quot;width&quot;:860}"/>
</p:tagLst>
</file>

<file path=ppt/tags/tag80.xml><?xml version="1.0" encoding="utf-8"?>
<p:tagLst xmlns:p="http://schemas.openxmlformats.org/presentationml/2006/main">
  <p:tag name="KSO_WM_DIAGRAM_VIRTUALLY_FRAME" val="{&quot;height&quot;:340,&quot;left&quot;:50,&quot;top&quot;:140,&quot;width&quot;:860}"/>
</p:tagLst>
</file>

<file path=ppt/tags/tag81.xml><?xml version="1.0" encoding="utf-8"?>
<p:tagLst xmlns:p="http://schemas.openxmlformats.org/presentationml/2006/main">
  <p:tag name="KSO_WM_DIAGRAM_VIRTUALLY_FRAME" val="{&quot;height&quot;:340,&quot;left&quot;:50,&quot;top&quot;:140,&quot;width&quot;:860}"/>
</p:tagLst>
</file>

<file path=ppt/tags/tag82.xml><?xml version="1.0" encoding="utf-8"?>
<p:tagLst xmlns:p="http://schemas.openxmlformats.org/presentationml/2006/main">
  <p:tag name="KSO_WM_DIAGRAM_VIRTUALLY_FRAME" val="{&quot;height&quot;:340,&quot;left&quot;:50,&quot;top&quot;:140,&quot;width&quot;:860}"/>
</p:tagLst>
</file>

<file path=ppt/tags/tag83.xml><?xml version="1.0" encoding="utf-8"?>
<p:tagLst xmlns:p="http://schemas.openxmlformats.org/presentationml/2006/main">
  <p:tag name="KSO_WM_DIAGRAM_VIRTUALLY_FRAME" val="{&quot;height&quot;:340,&quot;left&quot;:50,&quot;top&quot;:140,&quot;width&quot;:860}"/>
</p:tagLst>
</file>

<file path=ppt/tags/tag84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85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86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87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88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89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90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91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92.xml><?xml version="1.0" encoding="utf-8"?>
<p:tagLst xmlns:p="http://schemas.openxmlformats.org/presentationml/2006/main">
  <p:tag name="KSO_WM_DIAGRAM_VIRTUALLY_FRAME" val="{&quot;height&quot;:337.05,&quot;left&quot;:655,&quot;top&quot;:121.2,&quot;width&quot;:260}"/>
</p:tagLst>
</file>

<file path=ppt/tags/tag93.xml><?xml version="1.0" encoding="utf-8"?>
<p:tagLst xmlns:p="http://schemas.openxmlformats.org/presentationml/2006/main">
  <p:tag name="KSO_WM_DIAGRAM_VIRTUALLY_FRAME" val="{&quot;height&quot;:337.05,&quot;left&quot;:655,&quot;top&quot;:121.2,&quot;width&quot;:260}"/>
</p:tagLst>
</file>

<file path=ppt/tags/tag94.xml><?xml version="1.0" encoding="utf-8"?>
<p:tagLst xmlns:p="http://schemas.openxmlformats.org/presentationml/2006/main">
  <p:tag name="KSO_WM_DIAGRAM_VIRTUALLY_FRAME" val="{&quot;height&quot;:337.05,&quot;left&quot;:655,&quot;top&quot;:121.2,&quot;width&quot;:260}"/>
</p:tagLst>
</file>

<file path=ppt/tags/tag95.xml><?xml version="1.0" encoding="utf-8"?>
<p:tagLst xmlns:p="http://schemas.openxmlformats.org/presentationml/2006/main">
  <p:tag name="KSO_WM_DIAGRAM_VIRTUALLY_FRAME" val="{&quot;height&quot;:337.05,&quot;left&quot;:655,&quot;top&quot;:121.2,&quot;width&quot;:260}"/>
</p:tagLst>
</file>

<file path=ppt/tags/tag96.xml><?xml version="1.0" encoding="utf-8"?>
<p:tagLst xmlns:p="http://schemas.openxmlformats.org/presentationml/2006/main">
  <p:tag name="KSO_WM_DIAGRAM_VIRTUALLY_FRAME" val="{&quot;height&quot;:337.05,&quot;left&quot;:655,&quot;top&quot;:121.2,&quot;width&quot;:260}"/>
</p:tagLst>
</file>

<file path=ppt/tags/tag97.xml><?xml version="1.0" encoding="utf-8"?>
<p:tagLst xmlns:p="http://schemas.openxmlformats.org/presentationml/2006/main">
  <p:tag name="KSO_WM_DIAGRAM_VIRTUALLY_FRAME" val="{&quot;height&quot;:337.05,&quot;left&quot;:655,&quot;top&quot;:121.2,&quot;width&quot;:260}"/>
</p:tagLst>
</file>

<file path=ppt/tags/tag98.xml><?xml version="1.0" encoding="utf-8"?>
<p:tagLst xmlns:p="http://schemas.openxmlformats.org/presentationml/2006/main">
  <p:tag name="KSO_WM_DIAGRAM_VIRTUALLY_FRAME" val="{&quot;height&quot;:337.05,&quot;left&quot;:655,&quot;top&quot;:121.2,&quot;width&quot;:260}"/>
</p:tagLst>
</file>

<file path=ppt/tags/tag99.xml><?xml version="1.0" encoding="utf-8"?>
<p:tagLst xmlns:p="http://schemas.openxmlformats.org/presentationml/2006/main">
  <p:tag name="KSO_WM_DIAGRAM_VIRTUALLY_FRAME" val="{&quot;height&quot;:337.05,&quot;left&quot;:655,&quot;top&quot;:121.2,&quot;width&quot;:260}"/>
</p:tagLst>
</file>

<file path=ppt/tags/tag100.xml><?xml version="1.0" encoding="utf-8"?>
<p:tagLst xmlns:p="http://schemas.openxmlformats.org/presentationml/2006/main">
  <p:tag name="KSO_WM_DIAGRAM_VIRTUALLY_FRAME" val="{&quot;height&quot;:337.05,&quot;left&quot;:655,&quot;top&quot;:121.2,&quot;width&quot;:260}"/>
</p:tagLst>
</file>

<file path=ppt/tags/tag101.xml><?xml version="1.0" encoding="utf-8"?>
<p:tagLst xmlns:p="http://schemas.openxmlformats.org/presentationml/2006/main">
  <p:tag name="KSO_WM_DIAGRAM_VIRTUALLY_FRAME" val="{&quot;height&quot;:337.05,&quot;left&quot;:655,&quot;top&quot;:121.2,&quot;width&quot;:260}"/>
</p:tagLst>
</file>

<file path=ppt/tags/tag102.xml><?xml version="1.0" encoding="utf-8"?>
<p:tagLst xmlns:p="http://schemas.openxmlformats.org/presentationml/2006/main">
  <p:tag name="KSO_WM_DIAGRAM_VIRTUALLY_FRAME" val="{&quot;height&quot;:337.05,&quot;left&quot;:655,&quot;top&quot;:121.2,&quot;width&quot;:260}"/>
</p:tagLst>
</file>

<file path=ppt/tags/tag103.xml><?xml version="1.0" encoding="utf-8"?>
<p:tagLst xmlns:p="http://schemas.openxmlformats.org/presentationml/2006/main">
  <p:tag name="KSO_WM_DIAGRAM_VIRTUALLY_FRAME" val="{&quot;height&quot;:337.05,&quot;left&quot;:655,&quot;top&quot;:121.2,&quot;width&quot;:260}"/>
</p:tagLst>
</file>

<file path=ppt/tags/tag104.xml><?xml version="1.0" encoding="utf-8"?>
<p:tagLst xmlns:p="http://schemas.openxmlformats.org/presentationml/2006/main">
  <p:tag name="KSO_WM_DIAGRAM_VIRTUALLY_FRAME" val="{&quot;height&quot;:280,&quot;left&quot;:50,&quot;top&quot;:130,&quot;width&quot;:860}"/>
</p:tagLst>
</file>

<file path=ppt/tags/tag105.xml><?xml version="1.0" encoding="utf-8"?>
<p:tagLst xmlns:p="http://schemas.openxmlformats.org/presentationml/2006/main">
  <p:tag name="KSO_WM_DIAGRAM_VIRTUALLY_FRAME" val="{&quot;height&quot;:280,&quot;left&quot;:50,&quot;top&quot;:130,&quot;width&quot;:860}"/>
</p:tagLst>
</file>

<file path=ppt/tags/tag106.xml><?xml version="1.0" encoding="utf-8"?>
<p:tagLst xmlns:p="http://schemas.openxmlformats.org/presentationml/2006/main">
  <p:tag name="KSO_WM_DIAGRAM_VIRTUALLY_FRAME" val="{&quot;height&quot;:280,&quot;left&quot;:50,&quot;top&quot;:130,&quot;width&quot;:860}"/>
</p:tagLst>
</file>

<file path=ppt/tags/tag107.xml><?xml version="1.0" encoding="utf-8"?>
<p:tagLst xmlns:p="http://schemas.openxmlformats.org/presentationml/2006/main">
  <p:tag name="KSO_WM_DIAGRAM_VIRTUALLY_FRAME" val="{&quot;height&quot;:280,&quot;left&quot;:50,&quot;top&quot;:130,&quot;width&quot;:860}"/>
</p:tagLst>
</file>

<file path=ppt/tags/tag108.xml><?xml version="1.0" encoding="utf-8"?>
<p:tagLst xmlns:p="http://schemas.openxmlformats.org/presentationml/2006/main">
  <p:tag name="KSO_WM_DIAGRAM_VIRTUALLY_FRAME" val="{&quot;height&quot;:280,&quot;left&quot;:50,&quot;top&quot;:130,&quot;width&quot;:860}"/>
</p:tagLst>
</file>

<file path=ppt/tags/tag109.xml><?xml version="1.0" encoding="utf-8"?>
<p:tagLst xmlns:p="http://schemas.openxmlformats.org/presentationml/2006/main">
  <p:tag name="KSO_WM_DIAGRAM_VIRTUALLY_FRAME" val="{&quot;height&quot;:280,&quot;left&quot;:50,&quot;top&quot;:130,&quot;width&quot;:860}"/>
</p:tagLst>
</file>

<file path=ppt/tags/tag110.xml><?xml version="1.0" encoding="utf-8"?>
<p:tagLst xmlns:p="http://schemas.openxmlformats.org/presentationml/2006/main">
  <p:tag name="KSO_WM_DIAGRAM_VIRTUALLY_FRAME" val="{&quot;height&quot;:280,&quot;left&quot;:50,&quot;top&quot;:130,&quot;width&quot;:860}"/>
</p:tagLst>
</file>

<file path=ppt/tags/tag111.xml><?xml version="1.0" encoding="utf-8"?>
<p:tagLst xmlns:p="http://schemas.openxmlformats.org/presentationml/2006/main">
  <p:tag name="KSO_WM_DIAGRAM_VIRTUALLY_FRAME" val="{&quot;height&quot;:280,&quot;left&quot;:50,&quot;top&quot;:130,&quot;width&quot;:860}"/>
</p:tagLst>
</file>

<file path=ppt/tags/tag112.xml><?xml version="1.0" encoding="utf-8"?>
<p:tagLst xmlns:p="http://schemas.openxmlformats.org/presentationml/2006/main">
  <p:tag name="KSO_WM_DIAGRAM_VIRTUALLY_FRAME" val="{&quot;height&quot;:280,&quot;left&quot;:50,&quot;top&quot;:130,&quot;width&quot;:860}"/>
</p:tagLst>
</file>

<file path=ppt/tags/tag113.xml><?xml version="1.0" encoding="utf-8"?>
<p:tagLst xmlns:p="http://schemas.openxmlformats.org/presentationml/2006/main">
  <p:tag name="KSO_WM_DIAGRAM_VIRTUALLY_FRAME" val="{&quot;height&quot;:280,&quot;left&quot;:50,&quot;top&quot;:130,&quot;width&quot;:860}"/>
</p:tagLst>
</file>

<file path=ppt/tags/tag114.xml><?xml version="1.0" encoding="utf-8"?>
<p:tagLst xmlns:p="http://schemas.openxmlformats.org/presentationml/2006/main">
  <p:tag name="KSO_WM_DIAGRAM_VIRTUALLY_FRAME" val="{&quot;height&quot;:280,&quot;left&quot;:50,&quot;top&quot;:130,&quot;width&quot;:860}"/>
</p:tagLst>
</file>

<file path=ppt/tags/tag115.xml><?xml version="1.0" encoding="utf-8"?>
<p:tagLst xmlns:p="http://schemas.openxmlformats.org/presentationml/2006/main">
  <p:tag name="KSO_WM_DIAGRAM_VIRTUALLY_FRAME" val="{&quot;height&quot;:280,&quot;left&quot;:50,&quot;top&quot;:130,&quot;width&quot;:860}"/>
</p:tagLst>
</file>

<file path=ppt/tags/tag116.xml><?xml version="1.0" encoding="utf-8"?>
<p:tagLst xmlns:p="http://schemas.openxmlformats.org/presentationml/2006/main">
  <p:tag name="KSO_WM_DIAGRAM_VIRTUALLY_FRAME" val="{&quot;height&quot;:280,&quot;left&quot;:50,&quot;top&quot;:130,&quot;width&quot;:860}"/>
</p:tagLst>
</file>

<file path=ppt/tags/tag117.xml><?xml version="1.0" encoding="utf-8"?>
<p:tagLst xmlns:p="http://schemas.openxmlformats.org/presentationml/2006/main">
  <p:tag name="KSO_WM_DIAGRAM_VIRTUALLY_FRAME" val="{&quot;height&quot;:280,&quot;left&quot;:50,&quot;top&quot;:130,&quot;width&quot;:860}"/>
</p:tagLst>
</file>

<file path=ppt/tags/tag118.xml><?xml version="1.0" encoding="utf-8"?>
<p:tagLst xmlns:p="http://schemas.openxmlformats.org/presentationml/2006/main">
  <p:tag name="KSO_WM_DIAGRAM_VIRTUALLY_FRAME" val="{&quot;height&quot;:280,&quot;left&quot;:50,&quot;top&quot;:130,&quot;width&quot;:860}"/>
</p:tagLst>
</file>

<file path=ppt/tags/tag119.xml><?xml version="1.0" encoding="utf-8"?>
<p:tagLst xmlns:p="http://schemas.openxmlformats.org/presentationml/2006/main">
  <p:tag name="KSO_WM_DIAGRAM_VIRTUALLY_FRAME" val="{&quot;height&quot;:280,&quot;left&quot;:50,&quot;top&quot;:130,&quot;width&quot;:860}"/>
</p:tagLst>
</file>

<file path=ppt/tags/tag120.xml><?xml version="1.0" encoding="utf-8"?>
<p:tagLst xmlns:p="http://schemas.openxmlformats.org/presentationml/2006/main">
  <p:tag name="KSO_WM_DIAGRAM_VIRTUALLY_FRAME" val="{&quot;height&quot;:280,&quot;left&quot;:50,&quot;top&quot;:130,&quot;width&quot;:860}"/>
</p:tagLst>
</file>

<file path=ppt/tags/tag121.xml><?xml version="1.0" encoding="utf-8"?>
<p:tagLst xmlns:p="http://schemas.openxmlformats.org/presentationml/2006/main">
  <p:tag name="KSO_WM_DIAGRAM_VIRTUALLY_FRAME" val="{&quot;height&quot;:280,&quot;left&quot;:50,&quot;top&quot;:130,&quot;width&quot;:860}"/>
</p:tagLst>
</file>

<file path=ppt/tags/tag122.xml><?xml version="1.0" encoding="utf-8"?>
<p:tagLst xmlns:p="http://schemas.openxmlformats.org/presentationml/2006/main">
  <p:tag name="KSO_WM_DIAGRAM_VIRTUALLY_FRAME" val="{&quot;height&quot;:280,&quot;left&quot;:50,&quot;top&quot;:130,&quot;width&quot;:860}"/>
</p:tagLst>
</file>

<file path=ppt/tags/tag123.xml><?xml version="1.0" encoding="utf-8"?>
<p:tagLst xmlns:p="http://schemas.openxmlformats.org/presentationml/2006/main">
  <p:tag name="KSO_WM_DIAGRAM_VIRTUALLY_FRAME" val="{&quot;height&quot;:280,&quot;left&quot;:50,&quot;top&quot;:130,&quot;width&quot;:860}"/>
</p:tagLst>
</file>

<file path=ppt/tags/tag124.xml><?xml version="1.0" encoding="utf-8"?>
<p:tagLst xmlns:p="http://schemas.openxmlformats.org/presentationml/2006/main">
  <p:tag name="KSO_WM_DIAGRAM_VIRTUALLY_FRAME" val="{&quot;height&quot;:280,&quot;left&quot;:50,&quot;top&quot;:130,&quot;width&quot;:860}"/>
</p:tagLst>
</file>

<file path=ppt/tags/tag125.xml><?xml version="1.0" encoding="utf-8"?>
<p:tagLst xmlns:p="http://schemas.openxmlformats.org/presentationml/2006/main">
  <p:tag name="KSO_WM_DIAGRAM_VIRTUALLY_FRAME" val="{&quot;height&quot;:280,&quot;left&quot;:50,&quot;top&quot;:130,&quot;width&quot;:860}"/>
</p:tagLst>
</file>

<file path=ppt/tags/tag126.xml><?xml version="1.0" encoding="utf-8"?>
<p:tagLst xmlns:p="http://schemas.openxmlformats.org/presentationml/2006/main">
  <p:tag name="KSO_WM_DIAGRAM_VIRTUALLY_FRAME" val="{&quot;height&quot;:280,&quot;left&quot;:50,&quot;top&quot;:130,&quot;width&quot;:860}"/>
</p:tagLst>
</file>

<file path=ppt/tags/tag127.xml><?xml version="1.0" encoding="utf-8"?>
<p:tagLst xmlns:p="http://schemas.openxmlformats.org/presentationml/2006/main">
  <p:tag name="KSO_WM_DIAGRAM_VIRTUALLY_FRAME" val="{&quot;height&quot;:280,&quot;left&quot;:50,&quot;top&quot;:130,&quot;width&quot;:860}"/>
</p:tagLst>
</file>

<file path=ppt/tags/tag128.xml><?xml version="1.0" encoding="utf-8"?>
<p:tagLst xmlns:p="http://schemas.openxmlformats.org/presentationml/2006/main">
  <p:tag name="KSO_WM_DIAGRAM_VIRTUALLY_FRAME" val="{&quot;height&quot;:260,&quot;left&quot;:460,&quot;top&quot;:130,&quot;width&quot;:450}"/>
</p:tagLst>
</file>

<file path=ppt/tags/tag129.xml><?xml version="1.0" encoding="utf-8"?>
<p:tagLst xmlns:p="http://schemas.openxmlformats.org/presentationml/2006/main">
  <p:tag name="KSO_WM_DIAGRAM_VIRTUALLY_FRAME" val="{&quot;height&quot;:260,&quot;left&quot;:460,&quot;top&quot;:130,&quot;width&quot;:450}"/>
</p:tagLst>
</file>

<file path=ppt/tags/tag130.xml><?xml version="1.0" encoding="utf-8"?>
<p:tagLst xmlns:p="http://schemas.openxmlformats.org/presentationml/2006/main">
  <p:tag name="KSO_WM_DIAGRAM_VIRTUALLY_FRAME" val="{&quot;height&quot;:260,&quot;left&quot;:460,&quot;top&quot;:130,&quot;width&quot;:450}"/>
</p:tagLst>
</file>

<file path=ppt/tags/tag131.xml><?xml version="1.0" encoding="utf-8"?>
<p:tagLst xmlns:p="http://schemas.openxmlformats.org/presentationml/2006/main">
  <p:tag name="KSO_WM_DIAGRAM_VIRTUALLY_FRAME" val="{&quot;height&quot;:260,&quot;left&quot;:460,&quot;top&quot;:130,&quot;width&quot;:450}"/>
</p:tagLst>
</file>

<file path=ppt/tags/tag132.xml><?xml version="1.0" encoding="utf-8"?>
<p:tagLst xmlns:p="http://schemas.openxmlformats.org/presentationml/2006/main">
  <p:tag name="KSO_WM_DIAGRAM_VIRTUALLY_FRAME" val="{&quot;height&quot;:260,&quot;left&quot;:460,&quot;top&quot;:130,&quot;width&quot;:450}"/>
</p:tagLst>
</file>

<file path=ppt/tags/tag133.xml><?xml version="1.0" encoding="utf-8"?>
<p:tagLst xmlns:p="http://schemas.openxmlformats.org/presentationml/2006/main">
  <p:tag name="KSO_WM_DIAGRAM_VIRTUALLY_FRAME" val="{&quot;height&quot;:260,&quot;left&quot;:460,&quot;top&quot;:130,&quot;width&quot;:450}"/>
</p:tagLst>
</file>

<file path=ppt/tags/tag134.xml><?xml version="1.0" encoding="utf-8"?>
<p:tagLst xmlns:p="http://schemas.openxmlformats.org/presentationml/2006/main">
  <p:tag name="KSO_WM_DIAGRAM_VIRTUALLY_FRAME" val="{&quot;height&quot;:260,&quot;left&quot;:460,&quot;top&quot;:130,&quot;width&quot;:450}"/>
</p:tagLst>
</file>

<file path=ppt/tags/tag135.xml><?xml version="1.0" encoding="utf-8"?>
<p:tagLst xmlns:p="http://schemas.openxmlformats.org/presentationml/2006/main">
  <p:tag name="KSO_WM_DIAGRAM_VIRTUALLY_FRAME" val="{&quot;height&quot;:260,&quot;left&quot;:460,&quot;top&quot;:130,&quot;width&quot;:450}"/>
</p:tagLst>
</file>

<file path=ppt/tags/tag136.xml><?xml version="1.0" encoding="utf-8"?>
<p:tagLst xmlns:p="http://schemas.openxmlformats.org/presentationml/2006/main">
  <p:tag name="KSO_WM_DIAGRAM_VIRTUALLY_FRAME" val="{&quot;height&quot;:260,&quot;left&quot;:460,&quot;top&quot;:130,&quot;width&quot;:450}"/>
</p:tagLst>
</file>

<file path=ppt/tags/tag137.xml><?xml version="1.0" encoding="utf-8"?>
<p:tagLst xmlns:p="http://schemas.openxmlformats.org/presentationml/2006/main">
  <p:tag name="KSO_WM_DIAGRAM_VIRTUALLY_FRAME" val="{&quot;height&quot;:260,&quot;left&quot;:460,&quot;top&quot;:130,&quot;width&quot;:450}"/>
</p:tagLst>
</file>

<file path=ppt/tags/tag138.xml><?xml version="1.0" encoding="utf-8"?>
<p:tagLst xmlns:p="http://schemas.openxmlformats.org/presentationml/2006/main">
  <p:tag name="KSO_WM_DIAGRAM_VIRTUALLY_FRAME" val="{&quot;height&quot;:260,&quot;left&quot;:460,&quot;top&quot;:130,&quot;width&quot;:450}"/>
</p:tagLst>
</file>

<file path=ppt/tags/tag139.xml><?xml version="1.0" encoding="utf-8"?>
<p:tagLst xmlns:p="http://schemas.openxmlformats.org/presentationml/2006/main">
  <p:tag name="KSO_WM_DIAGRAM_VIRTUALLY_FRAME" val="{&quot;height&quot;:260,&quot;left&quot;:460,&quot;top&quot;:130,&quot;width&quot;:450}"/>
</p:tagLst>
</file>

<file path=ppt/tags/tag140.xml><?xml version="1.0" encoding="utf-8"?>
<p:tagLst xmlns:p="http://schemas.openxmlformats.org/presentationml/2006/main">
  <p:tag name="TABLE_ENDDRAG_ORIGIN_RECT" val="560*299"/>
  <p:tag name="TABLE_ENDDRAG_RECT" val="50*135*560*300"/>
</p:tagLst>
</file>

<file path=ppt/tags/tag141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142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143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144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145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146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147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148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149.xml><?xml version="1.0" encoding="utf-8"?>
<p:tagLst xmlns:p="http://schemas.openxmlformats.org/presentationml/2006/main">
  <p:tag name="KSO_WM_DIAGRAM_VIRTUALLY_FRAME" val="{&quot;height&quot;:102.0472412109375,&quot;left&quot;:66.23999999999998,&quot;top&quot;:140.4,&quot;width&quot;:845.9999212598425}"/>
</p:tagLst>
</file>

<file path=ppt/tags/tag150.xml><?xml version="1.0" encoding="utf-8"?>
<p:tagLst xmlns:p="http://schemas.openxmlformats.org/presentationml/2006/main">
  <p:tag name="KSO_WM_DIAGRAM_VIRTUALLY_FRAME" val="{&quot;height&quot;:102.0472412109375,&quot;left&quot;:66.23999999999998,&quot;top&quot;:140.4,&quot;width&quot;:845.9999212598425}"/>
</p:tagLst>
</file>

<file path=ppt/tags/tag151.xml><?xml version="1.0" encoding="utf-8"?>
<p:tagLst xmlns:p="http://schemas.openxmlformats.org/presentationml/2006/main">
  <p:tag name="KSO_WM_DIAGRAM_VIRTUALLY_FRAME" val="{&quot;height&quot;:102.0472412109375,&quot;left&quot;:66.23999999999998,&quot;top&quot;:140.4,&quot;width&quot;:845.9999212598425}"/>
</p:tagLst>
</file>

<file path=ppt/tags/tag152.xml><?xml version="1.0" encoding="utf-8"?>
<p:tagLst xmlns:p="http://schemas.openxmlformats.org/presentationml/2006/main">
  <p:tag name="KSO_WM_DIAGRAM_VIRTUALLY_FRAME" val="{&quot;height&quot;:102.0472412109375,&quot;left&quot;:66.23999999999998,&quot;top&quot;:140.4,&quot;width&quot;:845.9999212598425}"/>
</p:tagLst>
</file>

<file path=ppt/tags/tag153.xml><?xml version="1.0" encoding="utf-8"?>
<p:tagLst xmlns:p="http://schemas.openxmlformats.org/presentationml/2006/main">
  <p:tag name="KSO_WM_DIAGRAM_VIRTUALLY_FRAME" val="{&quot;height&quot;:102.0472412109375,&quot;left&quot;:66.23999999999998,&quot;top&quot;:140.4,&quot;width&quot;:845.9999212598425}"/>
</p:tagLst>
</file>

<file path=ppt/tags/tag154.xml><?xml version="1.0" encoding="utf-8"?>
<p:tagLst xmlns:p="http://schemas.openxmlformats.org/presentationml/2006/main">
  <p:tag name="KSO_WM_DIAGRAM_VIRTUALLY_FRAME" val="{&quot;height&quot;:102.0472412109375,&quot;left&quot;:66.23999999999998,&quot;top&quot;:140.4,&quot;width&quot;:845.9999212598425}"/>
</p:tagLst>
</file>

<file path=ppt/tags/tag155.xml><?xml version="1.0" encoding="utf-8"?>
<p:tagLst xmlns:p="http://schemas.openxmlformats.org/presentationml/2006/main">
  <p:tag name="KSO_WM_DIAGRAM_VIRTUALLY_FRAME" val="{&quot;height&quot;:102.0472412109375,&quot;left&quot;:66.23999999999998,&quot;top&quot;:140.4,&quot;width&quot;:845.9999212598425}"/>
</p:tagLst>
</file>

<file path=ppt/tags/tag156.xml><?xml version="1.0" encoding="utf-8"?>
<p:tagLst xmlns:p="http://schemas.openxmlformats.org/presentationml/2006/main">
  <p:tag name="KSO_WM_DIAGRAM_VIRTUALLY_FRAME" val="{&quot;height&quot;:102.0472412109375,&quot;left&quot;:66.23999999999998,&quot;top&quot;:140.4,&quot;width&quot;:845.9999212598425}"/>
</p:tagLst>
</file>

<file path=ppt/tags/tag157.xml><?xml version="1.0" encoding="utf-8"?>
<p:tagLst xmlns:p="http://schemas.openxmlformats.org/presentationml/2006/main">
  <p:tag name="KSO_WM_DIAGRAM_VIRTUALLY_FRAME" val="{&quot;height&quot;:102.0472412109375,&quot;left&quot;:66.23999999999998,&quot;top&quot;:140.4,&quot;width&quot;:845.9999212598425}"/>
</p:tagLst>
</file>

<file path=ppt/tags/tag158.xml><?xml version="1.0" encoding="utf-8"?>
<p:tagLst xmlns:p="http://schemas.openxmlformats.org/presentationml/2006/main">
  <p:tag name="KSO_WM_DIAGRAM_VIRTUALLY_FRAME" val="{&quot;height&quot;:102.0472412109375,&quot;left&quot;:66.23999999999998,&quot;top&quot;:140.4,&quot;width&quot;:845.9999212598425}"/>
</p:tagLst>
</file>

<file path=ppt/tags/tag159.xml><?xml version="1.0" encoding="utf-8"?>
<p:tagLst xmlns:p="http://schemas.openxmlformats.org/presentationml/2006/main">
  <p:tag name="KSO_WM_DIAGRAM_VIRTUALLY_FRAME" val="{&quot;height&quot;:102.0472412109375,&quot;left&quot;:66.23999999999998,&quot;top&quot;:140.4,&quot;width&quot;:845.9999212598425}"/>
</p:tagLst>
</file>

<file path=ppt/tags/tag160.xml><?xml version="1.0" encoding="utf-8"?>
<p:tagLst xmlns:p="http://schemas.openxmlformats.org/presentationml/2006/main">
  <p:tag name="KSO_WM_DIAGRAM_VIRTUALLY_FRAME" val="{&quot;height&quot;:102.0472412109375,&quot;left&quot;:66.23999999999998,&quot;top&quot;:140.4,&quot;width&quot;:845.9999212598425}"/>
</p:tagLst>
</file>

<file path=ppt/tags/tag161.xml><?xml version="1.0" encoding="utf-8"?>
<p:tagLst xmlns:p="http://schemas.openxmlformats.org/presentationml/2006/main">
  <p:tag name="KSO_WM_DIAGRAM_VIRTUALLY_FRAME" val="{&quot;height&quot;:102.0472412109375,&quot;left&quot;:66.23999999999998,&quot;top&quot;:140.4,&quot;width&quot;:845.9999212598425}"/>
</p:tagLst>
</file>

<file path=ppt/tags/tag162.xml><?xml version="1.0" encoding="utf-8"?>
<p:tagLst xmlns:p="http://schemas.openxmlformats.org/presentationml/2006/main">
  <p:tag name="KSO_WM_DIAGRAM_VIRTUALLY_FRAME" val="{&quot;height&quot;:102.0472412109375,&quot;left&quot;:66.23999999999998,&quot;top&quot;:140.4,&quot;width&quot;:845.9999212598425}"/>
</p:tagLst>
</file>

<file path=ppt/tags/tag163.xml><?xml version="1.0" encoding="utf-8"?>
<p:tagLst xmlns:p="http://schemas.openxmlformats.org/presentationml/2006/main">
  <p:tag name="KSO_WM_DIAGRAM_VIRTUALLY_FRAME" val="{&quot;height&quot;:102.0472412109375,&quot;left&quot;:66.23999999999998,&quot;top&quot;:140.4,&quot;width&quot;:845.9999212598425}"/>
</p:tagLst>
</file>

<file path=ppt/tags/tag164.xml><?xml version="1.0" encoding="utf-8"?>
<p:tagLst xmlns:p="http://schemas.openxmlformats.org/presentationml/2006/main">
  <p:tag name="KSO_WM_DIAGRAM_VIRTUALLY_FRAME" val="{&quot;height&quot;:102.0472412109375,&quot;left&quot;:66.23999999999998,&quot;top&quot;:140.4,&quot;width&quot;:845.9999212598425}"/>
</p:tagLst>
</file>

<file path=ppt/tags/tag165.xml><?xml version="1.0" encoding="utf-8"?>
<p:tagLst xmlns:p="http://schemas.openxmlformats.org/presentationml/2006/main">
  <p:tag name="KSO_WM_DIAGRAM_VIRTUALLY_FRAME" val="{&quot;height&quot;:102.0472412109375,&quot;left&quot;:66.23999999999998,&quot;top&quot;:140.4,&quot;width&quot;:845.9999212598425}"/>
</p:tagLst>
</file>

<file path=ppt/tags/tag166.xml><?xml version="1.0" encoding="utf-8"?>
<p:tagLst xmlns:p="http://schemas.openxmlformats.org/presentationml/2006/main">
  <p:tag name="KSO_WM_DIAGRAM_VIRTUALLY_FRAME" val="{&quot;height&quot;:102.0472412109375,&quot;left&quot;:66.23999999999998,&quot;top&quot;:140.4,&quot;width&quot;:845.9999212598425}"/>
</p:tagLst>
</file>

<file path=ppt/tags/tag167.xml><?xml version="1.0" encoding="utf-8"?>
<p:tagLst xmlns:p="http://schemas.openxmlformats.org/presentationml/2006/main">
  <p:tag name="KSO_WM_DIAGRAM_VIRTUALLY_FRAME" val="{&quot;height&quot;:102.0472412109375,&quot;left&quot;:66.23999999999998,&quot;top&quot;:140.4,&quot;width&quot;:845.9999212598425}"/>
</p:tagLst>
</file>

<file path=ppt/tags/tag168.xml><?xml version="1.0" encoding="utf-8"?>
<p:tagLst xmlns:p="http://schemas.openxmlformats.org/presentationml/2006/main">
  <p:tag name="KSO_WM_DIAGRAM_VIRTUALLY_FRAME" val="{&quot;height&quot;:102.0472412109375,&quot;left&quot;:66.23999999999998,&quot;top&quot;:140.4,&quot;width&quot;:845.9999212598425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自定义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6_自定义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7_自定义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2_自定义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5_自定义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1_自定义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7841</Words>
  <Application>WPS 演示</Application>
  <PresentationFormat/>
  <Paragraphs>1022</Paragraphs>
  <Slides>29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9</vt:i4>
      </vt:variant>
      <vt:variant>
        <vt:lpstr>幻灯片标题</vt:lpstr>
      </vt:variant>
      <vt:variant>
        <vt:i4>29</vt:i4>
      </vt:variant>
    </vt:vector>
  </HeadingPairs>
  <TitlesOfParts>
    <vt:vector size="46" baseType="lpstr">
      <vt:lpstr>Arial</vt:lpstr>
      <vt:lpstr>宋体</vt:lpstr>
      <vt:lpstr>Wingdings</vt:lpstr>
      <vt:lpstr>Arial</vt:lpstr>
      <vt:lpstr>微软雅黑</vt:lpstr>
      <vt:lpstr>Calibri</vt:lpstr>
      <vt:lpstr>Noto Sans SC</vt:lpstr>
      <vt:lpstr>Arial Unicode MS</vt:lpstr>
      <vt:lpstr>Office 主题​​</vt:lpstr>
      <vt:lpstr>自定义主题</vt:lpstr>
      <vt:lpstr>Office Theme</vt:lpstr>
      <vt:lpstr>3_自定义主题</vt:lpstr>
      <vt:lpstr>6_自定义主题</vt:lpstr>
      <vt:lpstr>7_自定义主题</vt:lpstr>
      <vt:lpstr>2_自定义主题</vt:lpstr>
      <vt:lpstr>5_自定义主题</vt:lpstr>
      <vt:lpstr>1_自定义主题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Andrés จุ๊บ</cp:lastModifiedBy>
  <cp:revision>44</cp:revision>
  <dcterms:created xsi:type="dcterms:W3CDTF">2026-09-14T03:51:00Z</dcterms:created>
  <dcterms:modified xsi:type="dcterms:W3CDTF">2026-09-16T16:56:28Z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{"Label":"1","ContentProducer":"001191110102MACQD9K64010000","ProduceID":"7685233556696255675","ReservedCode1":"","ContentPropagator":"","PropagateID":"","ReservedCode2":""}</vt:lpwstr>
  </property>
  <property fmtid="{D5CDD505-2E9C-101B-9397-08002B2CF9AE}" pid="3" name="ICV">
    <vt:lpwstr>E2AA7AB84A2C490D9695AD052A8D2CAE_13</vt:lpwstr>
  </property>
  <property fmtid="{D5CDD505-2E9C-101B-9397-08002B2CF9AE}" pid="4" name="KSOProductBuildVer">
    <vt:lpwstr>2052-12.1.0.28505</vt:lpwstr>
  </property>
</Properties>
</file>