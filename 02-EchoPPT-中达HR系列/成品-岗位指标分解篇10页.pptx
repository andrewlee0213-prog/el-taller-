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6" r:id="rId4"/>
    <p:sldMasterId id="2147483678" r:id="rId5"/>
    <p:sldMasterId id="2147483683" r:id="rId6"/>
    <p:sldMasterId id="2147483688" r:id="rId7"/>
    <p:sldMasterId id="2147483693" r:id="rId8"/>
    <p:sldMasterId id="2147483698" r:id="rId9"/>
    <p:sldMasterId id="2147483703" r:id="rId10"/>
  </p:sldMasterIdLst>
  <p:notesMasterIdLst>
    <p:notesMasterId r:id="rId12"/>
  </p:notesMasterIdLst>
  <p:sldIdLst>
    <p:sldId id="256" r:id="rId11"/>
    <p:sldId id="281" r:id="rId31"/>
    <p:sldId id="275" r:id="rId35"/>
    <p:sldId id="274" r:id="rId34"/>
    <p:sldId id="276" r:id="rId36"/>
    <p:sldId id="277" r:id="rId37"/>
    <p:sldId id="307" r:id="rId39"/>
    <p:sldId id="266" r:id="rId25"/>
    <p:sldId id="271" r:id="rId30"/>
    <p:sldId id="280" r:id="rId40"/>
  </p:sldIdLst>
  <p:sldSz cx="121793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44" userDrawn="1">
          <p15:clr>
            <a:srgbClr val="747775"/>
          </p15:clr>
        </p15:guide>
        <p15:guide id="2" pos="2899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3E9"/>
    <a:srgbClr val="E8590C"/>
    <a:srgbClr val="B2320A"/>
    <a:srgbClr val="FDEBD7"/>
    <a:srgbClr val="000C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44"/>
        <p:guide pos="2899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slide" Target="slides/slide29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28.xml"/><Relationship Id="rId37" Type="http://schemas.openxmlformats.org/officeDocument/2006/relationships/slide" Target="slides/slide26.xml"/><Relationship Id="rId36" Type="http://schemas.openxmlformats.org/officeDocument/2006/relationships/slide" Target="slides/slide25.xml"/><Relationship Id="rId35" Type="http://schemas.openxmlformats.org/officeDocument/2006/relationships/slide" Target="slides/slide24.xml"/><Relationship Id="rId34" Type="http://schemas.openxmlformats.org/officeDocument/2006/relationships/slide" Target="slides/slide23.xml"/><Relationship Id="rId31" Type="http://schemas.openxmlformats.org/officeDocument/2006/relationships/slide" Target="slides/slide20.xml"/><Relationship Id="rId30" Type="http://schemas.openxmlformats.org/officeDocument/2006/relationships/slide" Target="slides/slide19.xml"/><Relationship Id="rId3" Type="http://schemas.openxmlformats.org/officeDocument/2006/relationships/slideMaster" Target="slideMasters/slideMaster2.xml"/><Relationship Id="rId25" Type="http://schemas.openxmlformats.org/officeDocument/2006/relationships/slide" Target="slides/slide14.xml"/><Relationship Id="rId2" Type="http://schemas.openxmlformats.org/officeDocument/2006/relationships/theme" Target="theme/theme1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1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11403" y="319088"/>
            <a:ext cx="10504646" cy="5429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9062880" cy="907132"/>
          </a:xfrm>
          <a:prstGeom prst="rect">
            <a:avLst/>
          </a:prstGeom>
          <a:gradFill flip="none" rotWithShape="1">
            <a:gsLst>
              <a:gs pos="46000">
                <a:srgbClr val="00B0F0"/>
              </a:gs>
              <a:gs pos="0">
                <a:srgbClr val="063197"/>
              </a:gs>
              <a:gs pos="81000">
                <a:srgbClr val="C5EDFC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5" name="Picture 1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21145" y="6523038"/>
            <a:ext cx="12217360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4164" y="260648"/>
            <a:ext cx="8660537" cy="706090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8" name="Picture 9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57485" y="154185"/>
            <a:ext cx="2684043" cy="671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000174" y="5534025"/>
            <a:ext cx="1987066" cy="10747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6" hasCustomPrompt="1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4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body" sz="quarter" idx="7" hasCustomPrompt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algn="ctr" defTabSz="457200">
              <a:lnSpc>
                <a:spcPct val="100000"/>
              </a:lnSpc>
              <a:defRPr sz="3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457200">
              <a:lnSpc>
                <a:spcPct val="100000"/>
              </a:lnSpc>
              <a:spcBef>
                <a:spcPct val="20000"/>
              </a:spcBef>
            </a:pPr>
            <a:r>
              <a:rPr lang="en-US" sz="3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subtitle style</a:t>
            </a:r>
            <a:endParaRPr lang="en-US" sz="3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/>
          <p:nvPr>
            <p:ph type="body" sz="quarter" idx="8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l"/>
          </a:p>
        </p:txBody>
      </p:sp>
      <p:sp>
        <p:nvSpPr>
          <p:cNvPr id="5" name="AutoShape 5"/>
          <p:cNvSpPr/>
          <p:nvPr>
            <p:ph type="body" sz="quarter" idx="9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/>
          <p:nvPr>
            <p:ph type="body" sz="quarter" idx="10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1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4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body" sz="quarter" idx="12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marL="749300" indent="-406400" algn="l" defTabSz="457200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3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 level</a:t>
            </a:r>
            <a:endParaRPr lang="en-US" sz="2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Third level</a:t>
            </a:r>
            <a:endParaRPr lang="en-US" sz="2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Fourth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Fifth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/>
          <p:nvPr>
            <p:ph type="body" sz="quarter" idx="13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l"/>
          </a:p>
        </p:txBody>
      </p:sp>
      <p:sp>
        <p:nvSpPr>
          <p:cNvPr id="5" name="AutoShape 5"/>
          <p:cNvSpPr/>
          <p:nvPr>
            <p:ph type="body" sz="quarter" idx="14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/>
          <p:nvPr>
            <p:ph type="body" sz="quarter" idx="1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6" hasCustomPrompt="1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defRPr sz="4000" b="1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40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4000" b="1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body" sz="quarter" idx="17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 defTabSz="457200">
              <a:lnSpc>
                <a:spcPct val="100000"/>
              </a:lnSpc>
              <a:defRPr sz="20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457200">
              <a:lnSpc>
                <a:spcPct val="100000"/>
              </a:lnSpc>
              <a:spcBef>
                <a:spcPct val="20000"/>
              </a:spcBef>
            </a:pPr>
            <a:r>
              <a:rPr lang="en-US" sz="20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20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/>
          <p:nvPr>
            <p:ph type="body" sz="quarter" idx="18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l"/>
          </a:p>
        </p:txBody>
      </p:sp>
      <p:sp>
        <p:nvSpPr>
          <p:cNvPr id="5" name="AutoShape 5"/>
          <p:cNvSpPr/>
          <p:nvPr>
            <p:ph type="body" sz="quarter" idx="19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/>
          <p:nvPr>
            <p:ph type="body" sz="quarter" idx="20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21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4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body" sz="quarter" idx="22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marL="698500" indent="-355600" algn="l" defTabSz="457200">
              <a:lnSpc>
                <a:spcPct val="100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  <a:lvl2pPr marL="104775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2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 level</a:t>
            </a:r>
            <a:endParaRPr lang="en-US" sz="2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Third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Fourth level</a:t>
            </a:r>
            <a:endParaRPr lang="en-US" sz="1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Fifth level</a:t>
            </a:r>
            <a:endParaRPr lang="en-US" sz="1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/>
          <p:nvPr>
            <p:ph type="body" sz="quarter" idx="23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marL="698500" indent="-355600" algn="l" defTabSz="457200">
              <a:lnSpc>
                <a:spcPct val="100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  <a:lvl2pPr marL="104775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2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 level</a:t>
            </a:r>
            <a:endParaRPr lang="en-US" sz="2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Third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Fourth level</a:t>
            </a:r>
            <a:endParaRPr lang="en-US" sz="1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Fifth level</a:t>
            </a:r>
            <a:endParaRPr lang="en-US" sz="1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AutoShape 5"/>
          <p:cNvSpPr/>
          <p:nvPr>
            <p:ph type="body" sz="quarter" idx="2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l"/>
          </a:p>
        </p:txBody>
      </p:sp>
      <p:sp>
        <p:nvSpPr>
          <p:cNvPr id="6" name="AutoShape 6"/>
          <p:cNvSpPr/>
          <p:nvPr>
            <p:ph type="body" sz="quarter" idx="25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AutoShape 7"/>
          <p:cNvSpPr/>
          <p:nvPr>
            <p:ph type="body" sz="quarter" idx="26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27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4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body" sz="quarter" idx="28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 defTabSz="457200">
              <a:lnSpc>
                <a:spcPct val="100000"/>
              </a:lnSpc>
              <a:defRPr sz="2400" b="1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457200">
              <a:lnSpc>
                <a:spcPct val="100000"/>
              </a:lnSpc>
              <a:spcBef>
                <a:spcPct val="20000"/>
              </a:spcBef>
            </a:pPr>
            <a:r>
              <a:rPr lang="en-US" sz="24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2400" b="1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/>
          <p:nvPr>
            <p:ph type="body" sz="quarter" idx="29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marL="647700" indent="-304800" algn="l" defTabSz="457200">
              <a:lnSpc>
                <a:spcPct val="100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  <a:lvl2pPr marL="996950" indent="-254000"/>
            <a:lvl3pPr marL="1371600" indent="-228600"/>
            <a:lvl4pPr marL="1803400" indent="-203200"/>
            <a:lvl5pPr marL="2260600" indent="-203200"/>
            <a:lvl6pPr marL="2717800" indent="-203200"/>
            <a:lvl7pPr marL="3175000" indent="-203200"/>
            <a:lvl8pPr marL="3632200" indent="-203200"/>
            <a:lvl9pPr marL="4089400" indent="-2032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2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Third level</a:t>
            </a:r>
            <a:endParaRPr lang="en-US" sz="1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16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Fourth level</a:t>
            </a:r>
            <a:endParaRPr lang="en-US" sz="16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16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Fifth level</a:t>
            </a:r>
            <a:endParaRPr lang="en-US" sz="16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AutoShape 5"/>
          <p:cNvSpPr/>
          <p:nvPr>
            <p:ph type="body" sz="quarter" idx="30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 defTabSz="457200">
              <a:lnSpc>
                <a:spcPct val="100000"/>
              </a:lnSpc>
              <a:defRPr sz="2400" b="1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457200">
              <a:lnSpc>
                <a:spcPct val="100000"/>
              </a:lnSpc>
              <a:spcBef>
                <a:spcPct val="20000"/>
              </a:spcBef>
            </a:pPr>
            <a:r>
              <a:rPr lang="en-US" sz="24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2400" b="1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/>
          <p:nvPr>
            <p:ph type="body" sz="quarter" idx="31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marL="647700" indent="-304800" algn="l" defTabSz="457200">
              <a:lnSpc>
                <a:spcPct val="100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  <a:lvl2pPr marL="996950" indent="-254000"/>
            <a:lvl3pPr marL="1371600" indent="-228600"/>
            <a:lvl4pPr marL="1803400" indent="-203200"/>
            <a:lvl5pPr marL="2260600" indent="-203200"/>
            <a:lvl6pPr marL="2717800" indent="-203200"/>
            <a:lvl7pPr marL="3175000" indent="-203200"/>
            <a:lvl8pPr marL="3632200" indent="-203200"/>
            <a:lvl9pPr marL="4089400" indent="-2032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2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Third level</a:t>
            </a:r>
            <a:endParaRPr lang="en-US" sz="1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16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Fourth level</a:t>
            </a:r>
            <a:endParaRPr lang="en-US" sz="16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16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Fifth level</a:t>
            </a:r>
            <a:endParaRPr lang="en-US" sz="16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AutoShape 7"/>
          <p:cNvSpPr/>
          <p:nvPr>
            <p:ph type="body" sz="quarter" idx="3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l"/>
          </a:p>
        </p:txBody>
      </p:sp>
      <p:sp>
        <p:nvSpPr>
          <p:cNvPr id="8" name="AutoShape 8"/>
          <p:cNvSpPr/>
          <p:nvPr>
            <p:ph type="body" sz="quarter" idx="33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" name="AutoShape 9"/>
          <p:cNvSpPr/>
          <p:nvPr>
            <p:ph type="body" sz="quarter" idx="3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35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4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body" sz="quarter" idx="36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l"/>
          </a:p>
        </p:txBody>
      </p:sp>
      <p:sp>
        <p:nvSpPr>
          <p:cNvPr id="4" name="AutoShape 4"/>
          <p:cNvSpPr/>
          <p:nvPr>
            <p:ph type="body" sz="quarter" idx="37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AutoShape 5"/>
          <p:cNvSpPr/>
          <p:nvPr>
            <p:ph type="body" sz="quarter" idx="38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39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l"/>
          </a:p>
        </p:txBody>
      </p:sp>
      <p:sp>
        <p:nvSpPr>
          <p:cNvPr id="3" name="AutoShape 3"/>
          <p:cNvSpPr/>
          <p:nvPr>
            <p:ph type="body" sz="quarter" idx="40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/>
          <p:nvPr>
            <p:ph type="body" sz="quarter" idx="4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42" hasCustomPrompt="1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 defTabSz="457200">
              <a:lnSpc>
                <a:spcPct val="100000"/>
              </a:lnSpc>
              <a:defRPr sz="2000" b="1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20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2000" b="1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body" sz="quarter" idx="43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marL="749300" indent="-406400" algn="l" defTabSz="457200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3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 level</a:t>
            </a:r>
            <a:endParaRPr lang="en-US" sz="2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Third level</a:t>
            </a:r>
            <a:endParaRPr lang="en-US" sz="2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Fourth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Fifth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/>
          <p:nvPr>
            <p:ph type="body" sz="quarter" idx="44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defRPr sz="1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457200">
              <a:lnSpc>
                <a:spcPct val="100000"/>
              </a:lnSpc>
              <a:spcBef>
                <a:spcPct val="20000"/>
              </a:spcBef>
            </a:pPr>
            <a:r>
              <a:rPr lang="en-US" sz="1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1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AutoShape 5"/>
          <p:cNvSpPr/>
          <p:nvPr>
            <p:ph type="body" sz="quarter" idx="45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l"/>
          </a:p>
        </p:txBody>
      </p:sp>
      <p:sp>
        <p:nvSpPr>
          <p:cNvPr id="6" name="AutoShape 6"/>
          <p:cNvSpPr/>
          <p:nvPr>
            <p:ph type="body" sz="quarter" idx="46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AutoShape 7"/>
          <p:cNvSpPr/>
          <p:nvPr>
            <p:ph type="body" sz="quarter" idx="47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48" hasCustomPrompt="1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 defTabSz="457200">
              <a:lnSpc>
                <a:spcPct val="100000"/>
              </a:lnSpc>
              <a:defRPr sz="2000" b="1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20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2000" b="1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pic" sz="quarter" idx="49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4" name="AutoShape 4"/>
          <p:cNvSpPr/>
          <p:nvPr>
            <p:ph type="body" sz="quarter" idx="50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defRPr sz="1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457200">
              <a:lnSpc>
                <a:spcPct val="100000"/>
              </a:lnSpc>
              <a:spcBef>
                <a:spcPct val="20000"/>
              </a:spcBef>
            </a:pPr>
            <a:r>
              <a:rPr lang="en-US" sz="1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1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AutoShape 5"/>
          <p:cNvSpPr/>
          <p:nvPr>
            <p:ph type="body" sz="quarter" idx="5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l"/>
          </a:p>
        </p:txBody>
      </p:sp>
      <p:sp>
        <p:nvSpPr>
          <p:cNvPr id="6" name="AutoShape 6"/>
          <p:cNvSpPr/>
          <p:nvPr>
            <p:ph type="body" sz="quarter" idx="52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AutoShape 7"/>
          <p:cNvSpPr/>
          <p:nvPr>
            <p:ph type="body" sz="quarter" idx="53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54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4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body" sz="quarter" idx="55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eaVert" wrap="square" lIns="91440" tIns="45720" rIns="91440" bIns="45720" anchor="t">
            <a:normAutofit/>
          </a:bodyPr>
          <a:lstStyle>
            <a:lvl1pPr marL="749300" indent="-406400" algn="l" defTabSz="457200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3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 level</a:t>
            </a:r>
            <a:endParaRPr lang="en-US" sz="2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Third level</a:t>
            </a:r>
            <a:endParaRPr lang="en-US" sz="2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Fourth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Fifth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/>
          <p:nvPr>
            <p:ph type="body" sz="quarter" idx="56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l"/>
          </a:p>
        </p:txBody>
      </p:sp>
      <p:sp>
        <p:nvSpPr>
          <p:cNvPr id="5" name="AutoShape 5"/>
          <p:cNvSpPr/>
          <p:nvPr>
            <p:ph type="body" sz="quarter" idx="57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/>
          <p:nvPr>
            <p:ph type="body" sz="quarter" idx="58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59" hasCustomPrompt="1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eaVert"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4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body" sz="quarter" idx="60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eaVert" wrap="square" lIns="91440" tIns="45720" rIns="91440" bIns="45720" anchor="t">
            <a:normAutofit/>
          </a:bodyPr>
          <a:lstStyle>
            <a:lvl1pPr marL="749300" indent="-406400" algn="l" defTabSz="457200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3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 level</a:t>
            </a:r>
            <a:endParaRPr lang="en-US" sz="2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Third level</a:t>
            </a:r>
            <a:endParaRPr lang="en-US" sz="2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Fourth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Fifth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/>
          <p:nvPr>
            <p:ph type="body" sz="quarter" idx="6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l"/>
          </a:p>
        </p:txBody>
      </p:sp>
      <p:sp>
        <p:nvSpPr>
          <p:cNvPr id="5" name="AutoShape 5"/>
          <p:cNvSpPr/>
          <p:nvPr>
            <p:ph type="body" sz="quarter" idx="62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/>
          <p:nvPr>
            <p:ph type="body" sz="quarter" idx="63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11403" y="319088"/>
            <a:ext cx="10504646" cy="5429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9062880" cy="907132"/>
          </a:xfrm>
          <a:prstGeom prst="rect">
            <a:avLst/>
          </a:prstGeom>
          <a:gradFill flip="none" rotWithShape="1">
            <a:gsLst>
              <a:gs pos="46000">
                <a:srgbClr val="00B0F0"/>
              </a:gs>
              <a:gs pos="0">
                <a:srgbClr val="063197"/>
              </a:gs>
              <a:gs pos="81000">
                <a:srgbClr val="C5EDFC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5" name="Picture 1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21145" y="6523038"/>
            <a:ext cx="12217360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4164" y="260648"/>
            <a:ext cx="8660537" cy="706090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8" name="Picture 9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57485" y="154185"/>
            <a:ext cx="2684043" cy="671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000174" y="5534025"/>
            <a:ext cx="1987066" cy="10747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11403" y="319088"/>
            <a:ext cx="10504646" cy="5429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9062880" cy="907132"/>
          </a:xfrm>
          <a:prstGeom prst="rect">
            <a:avLst/>
          </a:prstGeom>
          <a:gradFill flip="none" rotWithShape="1">
            <a:gsLst>
              <a:gs pos="46000">
                <a:srgbClr val="00B0F0"/>
              </a:gs>
              <a:gs pos="0">
                <a:srgbClr val="063197"/>
              </a:gs>
              <a:gs pos="81000">
                <a:srgbClr val="C5EDFC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5" name="Picture 1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21145" y="6523038"/>
            <a:ext cx="12217360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4164" y="260648"/>
            <a:ext cx="8660537" cy="706090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8" name="Picture 9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57485" y="154185"/>
            <a:ext cx="2684043" cy="671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000174" y="5534025"/>
            <a:ext cx="1987066" cy="10747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11403" y="319088"/>
            <a:ext cx="10504646" cy="5429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9062880" cy="907132"/>
          </a:xfrm>
          <a:prstGeom prst="rect">
            <a:avLst/>
          </a:prstGeom>
          <a:gradFill flip="none" rotWithShape="1">
            <a:gsLst>
              <a:gs pos="46000">
                <a:srgbClr val="00B0F0"/>
              </a:gs>
              <a:gs pos="0">
                <a:srgbClr val="063197"/>
              </a:gs>
              <a:gs pos="81000">
                <a:srgbClr val="C5EDFC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5" name="Picture 1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21145" y="6523038"/>
            <a:ext cx="12217360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4164" y="260648"/>
            <a:ext cx="8660537" cy="706090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8" name="Picture 9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57485" y="154185"/>
            <a:ext cx="2684043" cy="671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000174" y="5534025"/>
            <a:ext cx="1987066" cy="10747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11403" y="319088"/>
            <a:ext cx="10504646" cy="5429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9062880" cy="907132"/>
          </a:xfrm>
          <a:prstGeom prst="rect">
            <a:avLst/>
          </a:prstGeom>
          <a:gradFill flip="none" rotWithShape="1">
            <a:gsLst>
              <a:gs pos="46000">
                <a:srgbClr val="00B0F0"/>
              </a:gs>
              <a:gs pos="0">
                <a:srgbClr val="063197"/>
              </a:gs>
              <a:gs pos="81000">
                <a:srgbClr val="C5EDFC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5" name="Picture 1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21145" y="6523038"/>
            <a:ext cx="12217360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4164" y="260648"/>
            <a:ext cx="8660537" cy="706090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8" name="Picture 9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57485" y="154185"/>
            <a:ext cx="2684043" cy="671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000174" y="5534025"/>
            <a:ext cx="1987066" cy="10747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11403" y="319088"/>
            <a:ext cx="10504646" cy="5429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9062880" cy="907132"/>
          </a:xfrm>
          <a:prstGeom prst="rect">
            <a:avLst/>
          </a:prstGeom>
          <a:gradFill flip="none" rotWithShape="1">
            <a:gsLst>
              <a:gs pos="46000">
                <a:srgbClr val="00B0F0"/>
              </a:gs>
              <a:gs pos="0">
                <a:srgbClr val="063197"/>
              </a:gs>
              <a:gs pos="81000">
                <a:srgbClr val="C5EDFC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5" name="Picture 1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21145" y="6523038"/>
            <a:ext cx="12217360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4164" y="260648"/>
            <a:ext cx="8660537" cy="706090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8" name="Picture 9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57485" y="154185"/>
            <a:ext cx="2684043" cy="671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000174" y="5534025"/>
            <a:ext cx="1987066" cy="10747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11403" y="319088"/>
            <a:ext cx="10504646" cy="542925"/>
          </a:xfrm>
        </p:spPr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0" y="0"/>
            <a:ext cx="9062880" cy="907132"/>
          </a:xfrm>
          <a:prstGeom prst="rect">
            <a:avLst/>
          </a:prstGeom>
          <a:gradFill rotWithShape="1">
            <a:gsLst>
              <a:gs pos="46000">
                <a:srgbClr val="00B0F0"/>
              </a:gs>
              <a:gs pos="0">
                <a:srgbClr val="063197"/>
              </a:gs>
              <a:gs pos="81000">
                <a:srgbClr val="C5EDFC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>
              <a:solidFill>
                <a:srgbClr val="FFFFFF"/>
              </a:solidFill>
              <a:sym typeface="+mn-ea"/>
            </a:endParaRPr>
          </a:p>
        </p:txBody>
      </p:sp>
      <p:pic>
        <p:nvPicPr>
          <p:cNvPr id="13" name="Picture 1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21145" y="6523038"/>
            <a:ext cx="12217360" cy="371475"/>
          </a:xfrm>
          <a:prstGeom prst="rect">
            <a:avLst/>
          </a:prstGeom>
          <a:ln w="9525">
            <a:noFill/>
            <a:miter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4164" y="260648"/>
            <a:ext cx="8660537" cy="706090"/>
          </a:xfrm>
          <a:prstGeom prst="rect">
            <a:avLst/>
          </a:prstGeom>
        </p:spPr>
        <p:txBody>
          <a:bodyPr/>
          <a:lstStyle>
            <a:lvl1pPr algn="l">
              <a:buNone/>
              <a:def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t>单击此处编辑母版标题样式</a:t>
            </a:r>
          </a:p>
        </p:txBody>
      </p:sp>
      <p:pic>
        <p:nvPicPr>
          <p:cNvPr id="15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7485" y="154185"/>
            <a:ext cx="2684043" cy="671710"/>
          </a:xfrm>
          <a:prstGeom prst="rect">
            <a:avLst/>
          </a:prstGeom>
          <a:ln w="9525">
            <a:noFill/>
            <a:miter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/>
        </p:nvSpPr>
        <p:spPr>
          <a:xfrm>
            <a:off x="5000174" y="5534025"/>
            <a:ext cx="1987066" cy="10747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lt1"/>
              </a:solidFill>
              <a:latin typeface="+mn-lt"/>
              <a:ea typeface="+mn-lt"/>
              <a:cs typeface="+mn-lt"/>
              <a:sym typeface="+mn-e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7" Type="http://schemas.openxmlformats.org/officeDocument/2006/relationships/theme" Target="../theme/theme2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5.xml"/><Relationship Id="rId8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3" Type="http://schemas.openxmlformats.org/officeDocument/2006/relationships/theme" Target="../theme/theme3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6.xml"/><Relationship Id="rId1" Type="http://schemas.openxmlformats.org/officeDocument/2006/relationships/slideLayout" Target="../slideLayouts/slideLayout17.xml"/></Relationships>
</file>

<file path=ppt/slideMasters/_rels/slideMaster4.xml.rels><?xml version="1.0" encoding="UTF-8" standalone="yes"?>
<Relationships xmlns="http://schemas.openxmlformats.org/package/2006/relationships"><Relationship Id="rId6" Type="http://schemas.openxmlformats.org/officeDocument/2006/relationships/theme" Target="../theme/theme4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31.xml"/><Relationship Id="rId3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/Relationships>
</file>

<file path=ppt/slideMasters/_rels/slideMaster5.xml.rels><?xml version="1.0" encoding="UTF-8" standalone="yes"?>
<Relationships xmlns="http://schemas.openxmlformats.org/package/2006/relationships"><Relationship Id="rId6" Type="http://schemas.openxmlformats.org/officeDocument/2006/relationships/theme" Target="../theme/theme5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/Relationships>
</file>

<file path=ppt/slideMasters/_rels/slideMaster6.xml.rels><?xml version="1.0" encoding="UTF-8" standalone="yes"?>
<Relationships xmlns="http://schemas.openxmlformats.org/package/2006/relationships"><Relationship Id="rId6" Type="http://schemas.openxmlformats.org/officeDocument/2006/relationships/theme" Target="../theme/theme6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/Relationships>
</file>

<file path=ppt/slideMasters/_rels/slideMaster7.xml.rels><?xml version="1.0" encoding="UTF-8" standalone="yes"?>
<Relationships xmlns="http://schemas.openxmlformats.org/package/2006/relationships"><Relationship Id="rId6" Type="http://schemas.openxmlformats.org/officeDocument/2006/relationships/theme" Target="../theme/theme7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43.xml"/><Relationship Id="rId3" Type="http://schemas.openxmlformats.org/officeDocument/2006/relationships/slideLayout" Target="../slideLayouts/slideLayout42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/Relationships>
</file>

<file path=ppt/slideMasters/_rels/slideMaster8.xml.rels><?xml version="1.0" encoding="UTF-8" standalone="yes"?>
<Relationships xmlns="http://schemas.openxmlformats.org/package/2006/relationships"><Relationship Id="rId6" Type="http://schemas.openxmlformats.org/officeDocument/2006/relationships/theme" Target="../theme/theme8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5.xml"/><Relationship Id="rId1" Type="http://schemas.openxmlformats.org/officeDocument/2006/relationships/slideLayout" Target="../slideLayouts/slideLayout44.xml"/></Relationships>
</file>

<file path=ppt/slideMasters/_rels/slideMaster9.xml.rels><?xml version="1.0" encoding="UTF-8" standalone="yes"?>
<Relationships xmlns="http://schemas.openxmlformats.org/package/2006/relationships"><Relationship Id="rId6" Type="http://schemas.openxmlformats.org/officeDocument/2006/relationships/theme" Target="../theme/theme9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51.xml"/><Relationship Id="rId3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  <p:pic>
        <p:nvPicPr>
          <p:cNvPr id="1" name="Picture 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06417" y="5029200"/>
            <a:ext cx="2286000" cy="13716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6417" y="5029200"/>
            <a:ext cx="2286000" cy="13716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AutoShape 1"/>
          <p:cNvSpPr/>
          <p:nvPr>
            <p:ph type="body" sz="quarter" idx="1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1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4400" b="1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AutoShape 2"/>
          <p:cNvSpPr/>
          <p:nvPr>
            <p:ph type="body" sz="quarter" idx="2" hasCustomPrompt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rmAutofit/>
          </a:bodyPr>
          <a:lstStyle>
            <a:lvl1pPr marL="749300" indent="-406400" algn="l" defTabSz="457200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3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 level</a:t>
            </a:r>
            <a:endParaRPr lang="en-US" sz="2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Third level</a:t>
            </a:r>
            <a:endParaRPr lang="en-US" sz="2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Fourth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Fifth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body" sz="quarter" idx="3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l"/>
          </a:p>
        </p:txBody>
      </p:sp>
      <p:sp>
        <p:nvSpPr>
          <p:cNvPr id="4" name="AutoShape 4"/>
          <p:cNvSpPr/>
          <p:nvPr>
            <p:ph type="body" sz="quarter" idx="4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/>
          <p:nvPr>
            <p:ph type="body" sz="quarter" idx="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r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06417" y="5029200"/>
            <a:ext cx="2286000" cy="13716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6417" y="5029200"/>
            <a:ext cx="2286000" cy="13716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6417" y="5029200"/>
            <a:ext cx="2286000" cy="13716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6417" y="5029200"/>
            <a:ext cx="2286000" cy="13716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6417" y="5029200"/>
            <a:ext cx="2286000" cy="13716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6417" y="5029200"/>
            <a:ext cx="2286000" cy="13716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6417" y="5029200"/>
            <a:ext cx="2286000" cy="13716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tags" Target="../tags/tag156.xml"/><Relationship Id="rId8" Type="http://schemas.openxmlformats.org/officeDocument/2006/relationships/tags" Target="../tags/tag155.xml"/><Relationship Id="rId7" Type="http://schemas.openxmlformats.org/officeDocument/2006/relationships/tags" Target="../tags/tag154.xml"/><Relationship Id="rId6" Type="http://schemas.openxmlformats.org/officeDocument/2006/relationships/tags" Target="../tags/tag153.xml"/><Relationship Id="rId5" Type="http://schemas.openxmlformats.org/officeDocument/2006/relationships/tags" Target="../tags/tag152.xml"/><Relationship Id="rId4" Type="http://schemas.openxmlformats.org/officeDocument/2006/relationships/tags" Target="../tags/tag151.xml"/><Relationship Id="rId3" Type="http://schemas.openxmlformats.org/officeDocument/2006/relationships/tags" Target="../tags/tag150.xml"/><Relationship Id="rId23" Type="http://schemas.openxmlformats.org/officeDocument/2006/relationships/notesSlide" Target="../notesSlides/notesSlide27.xml"/><Relationship Id="rId22" Type="http://schemas.openxmlformats.org/officeDocument/2006/relationships/slideLayout" Target="../slideLayouts/slideLayout48.xml"/><Relationship Id="rId21" Type="http://schemas.openxmlformats.org/officeDocument/2006/relationships/tags" Target="../tags/tag168.xml"/><Relationship Id="rId20" Type="http://schemas.openxmlformats.org/officeDocument/2006/relationships/tags" Target="../tags/tag167.xml"/><Relationship Id="rId2" Type="http://schemas.openxmlformats.org/officeDocument/2006/relationships/tags" Target="../tags/tag149.xml"/><Relationship Id="rId19" Type="http://schemas.openxmlformats.org/officeDocument/2006/relationships/tags" Target="../tags/tag166.xml"/><Relationship Id="rId18" Type="http://schemas.openxmlformats.org/officeDocument/2006/relationships/tags" Target="../tags/tag165.xml"/><Relationship Id="rId17" Type="http://schemas.openxmlformats.org/officeDocument/2006/relationships/tags" Target="../tags/tag164.xml"/><Relationship Id="rId16" Type="http://schemas.openxmlformats.org/officeDocument/2006/relationships/tags" Target="../tags/tag163.xml"/><Relationship Id="rId15" Type="http://schemas.openxmlformats.org/officeDocument/2006/relationships/tags" Target="../tags/tag162.xml"/><Relationship Id="rId14" Type="http://schemas.openxmlformats.org/officeDocument/2006/relationships/tags" Target="../tags/tag161.xml"/><Relationship Id="rId13" Type="http://schemas.openxmlformats.org/officeDocument/2006/relationships/tags" Target="../tags/tag160.xml"/><Relationship Id="rId12" Type="http://schemas.openxmlformats.org/officeDocument/2006/relationships/tags" Target="../tags/tag159.xml"/><Relationship Id="rId11" Type="http://schemas.openxmlformats.org/officeDocument/2006/relationships/tags" Target="../tags/tag158.xml"/><Relationship Id="rId10" Type="http://schemas.openxmlformats.org/officeDocument/2006/relationships/tags" Target="../tags/tag157.xml"/><Relationship Id="rId1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1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1945640" y="3149600"/>
            <a:ext cx="8890000" cy="635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000" b="1" i="0" u="none" strike="noStrike">
                <a:solidFill>
                  <a:srgbClr val="E24D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绩效型薪酬管理 —— 指标到岗 · 责任到人</a:t>
            </a:r>
            <a:endParaRPr lang="en-US" sz="3000" b="1" i="0" u="none" strike="noStrike">
              <a:solidFill>
                <a:srgbClr val="E24D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1945640" y="4105910"/>
            <a:ext cx="7620000" cy="355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0" i="0" u="none" strike="noStrike" spc="200">
                <a:solidFill>
                  <a:srgbClr val="E24D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部门指标分解方法 · 岗位指标设定 · 岗位职责编写规则</a:t>
            </a:r>
            <a:endParaRPr lang="zh-CN" altLang="en-US" sz="1600" b="0" i="0" u="none" strike="noStrike" spc="200">
              <a:solidFill>
                <a:srgbClr val="E24D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8512810" y="5689600"/>
            <a:ext cx="3114040" cy="519430"/>
          </a:xfrm>
          <a:prstGeom prst="roundRect">
            <a:avLst>
              <a:gd name="adj" fmla="val 10000"/>
            </a:avLst>
          </a:prstGeom>
          <a:solidFill>
            <a:srgbClr val="F6410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人力资源部 Judy   2026.10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533400"/>
            <a:ext cx="76200" cy="660400"/>
          </a:xfrm>
          <a:prstGeom prst="roundRect">
            <a:avLst>
              <a:gd name="adj" fmla="val 0"/>
            </a:avLst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38200" y="482600"/>
            <a:ext cx="6350000" cy="25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 spc="100">
                <a:solidFill>
                  <a:srgbClr val="E859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LINK · 职责到指标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38200" y="711200"/>
            <a:ext cx="8890000" cy="508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从一条职责，长出一项指标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l="59" r="59"/>
          <a:stretch>
            <a:fillRect/>
          </a:stretch>
        </p:blipFill>
        <p:spPr>
          <a:xfrm>
            <a:off x="10896600" y="228600"/>
            <a:ext cx="1016000" cy="850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635000" y="1778000"/>
            <a:ext cx="3429000" cy="4318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D9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35000" y="1778000"/>
            <a:ext cx="3429000" cy="76200"/>
          </a:xfrm>
          <a:prstGeom prst="roundRect">
            <a:avLst>
              <a:gd name="adj" fmla="val 50000"/>
            </a:avLst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89000" y="2057400"/>
            <a:ext cx="2921000" cy="381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转化三问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14400" y="2603500"/>
            <a:ext cx="2870200" cy="3302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产出：这条职责交付什么（成果 · 交付物）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衡量：产出好不好怎么量（数量·质量·时效·成本）</a:t>
            </a:r>
            <a:endParaRPr lang="en-US" sz="13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定标：目标值多少、数据从哪来（口径+数据源）</a:t>
            </a:r>
            <a:endParaRPr lang="en-US" sz="13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381500" y="1778000"/>
            <a:ext cx="3429000" cy="4318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D9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381500" y="1778000"/>
            <a:ext cx="3429000" cy="76200"/>
          </a:xfrm>
          <a:prstGeom prst="roundRect">
            <a:avLst>
              <a:gd name="adj" fmla="val 50000"/>
            </a:avLst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635500" y="2057400"/>
            <a:ext cx="2921000" cy="381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转化示例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60900" y="2603500"/>
            <a:ext cx="2870200" cy="3302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职责：运营公司新媒体账号，产出获客内容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初稿：「新媒体获客效果好」——不可考</a:t>
            </a:r>
            <a:endParaRPr lang="en-US" sz="13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加口径：月均获客线索 ≥300条，单线索成本 ≤50元</a:t>
            </a:r>
            <a:endParaRPr lang="en-US" sz="13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补全：季度内达成 · 权重 20%，入指标库</a:t>
            </a:r>
            <a:endParaRPr lang="en-US" sz="13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128000" y="1778000"/>
            <a:ext cx="3429000" cy="4318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D9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128000" y="1778000"/>
            <a:ext cx="3429000" cy="76200"/>
          </a:xfrm>
          <a:prstGeom prst="roundRect">
            <a:avLst>
              <a:gd name="adj" fmla="val 50000"/>
            </a:avLst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382000" y="2057400"/>
            <a:ext cx="2921000" cy="381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常见误区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407400" y="2603500"/>
            <a:ext cx="2870200" cy="3302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职责写成任务流水账，提不出指标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指标与职责两张皮，考核另起炉灶</a:t>
            </a:r>
            <a:endParaRPr lang="en-US" sz="13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全是「做好配合」式定性，期末没法打分</a:t>
            </a:r>
            <a:endParaRPr lang="en-US" sz="13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边界不清：交叉产出无人认领，指标落空</a:t>
            </a:r>
            <a:endParaRPr lang="en-US" sz="13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533400"/>
            <a:ext cx="76200" cy="660400"/>
          </a:xfrm>
          <a:prstGeom prst="roundRect">
            <a:avLst>
              <a:gd name="adj" fmla="val 0"/>
            </a:avLst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38200" y="711200"/>
            <a:ext cx="8890000" cy="508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800" b="1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宣导后，管理者和员工分别要做什么</a:t>
            </a:r>
            <a:endParaRPr lang="zh-CN" altLang="en-US" sz="2800" b="1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l="59" r="59"/>
          <a:stretch>
            <a:fillRect/>
          </a:stretch>
        </p:blipFill>
        <p:spPr>
          <a:xfrm>
            <a:off x="10896600" y="228600"/>
            <a:ext cx="1016000" cy="850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9" name="Rounded Rectangle 6"/>
          <p:cNvSpPr/>
          <p:nvPr/>
        </p:nvSpPr>
        <p:spPr>
          <a:xfrm>
            <a:off x="651510" y="1851660"/>
            <a:ext cx="522000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Oval 7"/>
          <p:cNvSpPr/>
          <p:nvPr/>
        </p:nvSpPr>
        <p:spPr>
          <a:xfrm>
            <a:off x="761238" y="2080260"/>
            <a:ext cx="457200" cy="457200"/>
          </a:xfrm>
          <a:prstGeom prst="ellipse">
            <a:avLst/>
          </a:prstGeom>
          <a:solidFill>
            <a:srgbClr val="B23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8"/>
          <p:cNvSpPr txBox="1"/>
          <p:nvPr/>
        </p:nvSpPr>
        <p:spPr>
          <a:xfrm>
            <a:off x="761238" y="2125980"/>
            <a:ext cx="457200" cy="365760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ctr">
              <a:lnSpc>
                <a:spcPct val="125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1</a:t>
            </a:r>
            <a:endParaRPr>
              <a:ea typeface="微软雅黑" panose="020B0503020204020204" charset="-122"/>
            </a:endParaRPr>
          </a:p>
        </p:txBody>
      </p:sp>
      <p:sp>
        <p:nvSpPr>
          <p:cNvPr id="22" name="TextBox 9"/>
          <p:cNvSpPr txBox="1"/>
          <p:nvPr/>
        </p:nvSpPr>
        <p:spPr>
          <a:xfrm>
            <a:off x="1309878" y="2141982"/>
            <a:ext cx="4747107" cy="658368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lnSpc>
                <a:spcPct val="125000"/>
              </a:lnSpc>
              <a:spcAft>
                <a:spcPts val="0"/>
              </a:spcAft>
              <a:defRPr sz="1400" b="0">
                <a:solidFill>
                  <a:srgbClr val="2A211C"/>
                </a:solidFill>
                <a:latin typeface="微软雅黑" panose="020B0503020204020204" charset="-122"/>
              </a:defRPr>
            </a:pPr>
            <a:r>
              <a:rPr lang="zh-CN">
                <a:ea typeface="微软雅黑" panose="020B0503020204020204" charset="-122"/>
                <a:cs typeface="微软雅黑" panose="020B0503020204020204" charset="-122"/>
              </a:rPr>
              <a:t>管理者：盘点部门指标，逐岗定承接·拆分·支撑·衍生</a:t>
            </a:r>
            <a:endParaRPr lang="zh-CN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ounded Rectangle 10"/>
          <p:cNvSpPr/>
          <p:nvPr/>
        </p:nvSpPr>
        <p:spPr>
          <a:xfrm>
            <a:off x="651510" y="2921508"/>
            <a:ext cx="522000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Oval 11"/>
          <p:cNvSpPr/>
          <p:nvPr/>
        </p:nvSpPr>
        <p:spPr>
          <a:xfrm>
            <a:off x="761238" y="3150108"/>
            <a:ext cx="457200" cy="457200"/>
          </a:xfrm>
          <a:prstGeom prst="ellipse">
            <a:avLst/>
          </a:prstGeom>
          <a:solidFill>
            <a:srgbClr val="B23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12"/>
          <p:cNvSpPr txBox="1"/>
          <p:nvPr/>
        </p:nvSpPr>
        <p:spPr>
          <a:xfrm>
            <a:off x="761238" y="3195828"/>
            <a:ext cx="457200" cy="365760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ctr">
              <a:lnSpc>
                <a:spcPct val="125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2</a:t>
            </a:r>
            <a:endParaRPr>
              <a:ea typeface="微软雅黑" panose="020B0503020204020204" charset="-122"/>
            </a:endParaRPr>
          </a:p>
        </p:txBody>
      </p:sp>
      <p:sp>
        <p:nvSpPr>
          <p:cNvPr id="26" name="TextBox 13"/>
          <p:cNvSpPr txBox="1"/>
          <p:nvPr/>
        </p:nvSpPr>
        <p:spPr>
          <a:xfrm>
            <a:off x="1309878" y="3211830"/>
            <a:ext cx="4747107" cy="658368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lnSpc>
                <a:spcPct val="125000"/>
              </a:lnSpc>
              <a:spcAft>
                <a:spcPts val="0"/>
              </a:spcAft>
              <a:defRPr sz="1400" b="0">
                <a:solidFill>
                  <a:srgbClr val="2A211C"/>
                </a:solidFill>
                <a:latin typeface="微软雅黑" panose="020B0503020204020204" charset="-122"/>
              </a:defRPr>
            </a:pPr>
            <a:r>
              <a:rPr lang="zh-CN">
                <a:ea typeface="微软雅黑" panose="020B0503020204020204" charset="-122"/>
              </a:rPr>
              <a:t>管理者：与员工一对一沟通岗位指标、口径与权重</a:t>
            </a:r>
            <a:endParaRPr lang="zh-CN">
              <a:ea typeface="微软雅黑" panose="020B0503020204020204" charset="-122"/>
            </a:endParaRPr>
          </a:p>
        </p:txBody>
      </p:sp>
      <p:sp>
        <p:nvSpPr>
          <p:cNvPr id="27" name="Rounded Rectangle 14"/>
          <p:cNvSpPr/>
          <p:nvPr/>
        </p:nvSpPr>
        <p:spPr>
          <a:xfrm>
            <a:off x="651510" y="3991356"/>
            <a:ext cx="522000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Oval 15"/>
          <p:cNvSpPr/>
          <p:nvPr/>
        </p:nvSpPr>
        <p:spPr>
          <a:xfrm>
            <a:off x="761238" y="4219956"/>
            <a:ext cx="457200" cy="457200"/>
          </a:xfrm>
          <a:prstGeom prst="ellipse">
            <a:avLst/>
          </a:prstGeom>
          <a:solidFill>
            <a:srgbClr val="B23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16"/>
          <p:cNvSpPr txBox="1"/>
          <p:nvPr/>
        </p:nvSpPr>
        <p:spPr>
          <a:xfrm>
            <a:off x="761238" y="4265676"/>
            <a:ext cx="457200" cy="365760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ctr">
              <a:lnSpc>
                <a:spcPct val="125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3</a:t>
            </a:r>
            <a:endParaRPr>
              <a:ea typeface="微软雅黑" panose="020B0503020204020204" charset="-122"/>
            </a:endParaRPr>
          </a:p>
        </p:txBody>
      </p:sp>
      <p:sp>
        <p:nvSpPr>
          <p:cNvPr id="30" name="TextBox 17"/>
          <p:cNvSpPr txBox="1"/>
          <p:nvPr/>
        </p:nvSpPr>
        <p:spPr>
          <a:xfrm>
            <a:off x="1309878" y="4281678"/>
            <a:ext cx="4747107" cy="658368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lnSpc>
                <a:spcPct val="125000"/>
              </a:lnSpc>
              <a:spcAft>
                <a:spcPts val="0"/>
              </a:spcAft>
              <a:defRPr sz="1400" b="0">
                <a:solidFill>
                  <a:srgbClr val="2A211C"/>
                </a:solidFill>
                <a:latin typeface="微软雅黑" panose="020B0503020204020204" charset="-122"/>
              </a:defRPr>
            </a:pPr>
            <a:r>
              <a:rPr lang="zh-CN">
                <a:ea typeface="微软雅黑" panose="020B0503020204020204" charset="-122"/>
                <a:cs typeface="微软雅黑" panose="020B0503020204020204" charset="-122"/>
                <a:sym typeface="+mn-ea"/>
              </a:rPr>
              <a:t>员工：确认资源与数据源，对口径有异议当场提出</a:t>
            </a:r>
            <a:endParaRPr lang="zh-CN" altLang="en-US"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  <a:defRPr sz="1400" b="0">
                <a:solidFill>
                  <a:srgbClr val="2A211C"/>
                </a:solidFill>
                <a:latin typeface="微软雅黑" panose="020B0503020204020204" charset="-122"/>
              </a:defRPr>
            </a:pPr>
            <a:endParaRPr lang="zh-CN">
              <a:ea typeface="微软雅黑" panose="020B0503020204020204" charset="-122"/>
            </a:endParaRPr>
          </a:p>
        </p:txBody>
      </p:sp>
      <p:sp>
        <p:nvSpPr>
          <p:cNvPr id="31" name="Rounded Rectangle 18"/>
          <p:cNvSpPr/>
          <p:nvPr/>
        </p:nvSpPr>
        <p:spPr>
          <a:xfrm>
            <a:off x="651510" y="5061204"/>
            <a:ext cx="522000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Oval 19"/>
          <p:cNvSpPr/>
          <p:nvPr/>
        </p:nvSpPr>
        <p:spPr>
          <a:xfrm>
            <a:off x="761238" y="5289804"/>
            <a:ext cx="457200" cy="457200"/>
          </a:xfrm>
          <a:prstGeom prst="ellipse">
            <a:avLst/>
          </a:prstGeom>
          <a:solidFill>
            <a:srgbClr val="B23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20"/>
          <p:cNvSpPr txBox="1"/>
          <p:nvPr/>
        </p:nvSpPr>
        <p:spPr>
          <a:xfrm>
            <a:off x="761238" y="5335524"/>
            <a:ext cx="457200" cy="365760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ctr">
              <a:lnSpc>
                <a:spcPct val="125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4</a:t>
            </a:r>
            <a:endParaRPr>
              <a:ea typeface="微软雅黑" panose="020B0503020204020204" charset="-122"/>
            </a:endParaRPr>
          </a:p>
        </p:txBody>
      </p:sp>
      <p:sp>
        <p:nvSpPr>
          <p:cNvPr id="34" name="TextBox 21"/>
          <p:cNvSpPr txBox="1"/>
          <p:nvPr/>
        </p:nvSpPr>
        <p:spPr>
          <a:xfrm>
            <a:off x="1309878" y="5351526"/>
            <a:ext cx="4747107" cy="658368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lnSpc>
                <a:spcPct val="125000"/>
              </a:lnSpc>
              <a:spcAft>
                <a:spcPts val="0"/>
              </a:spcAft>
              <a:defRPr sz="1400" b="0">
                <a:solidFill>
                  <a:srgbClr val="2A211C"/>
                </a:solidFill>
                <a:latin typeface="微软雅黑" panose="020B0503020204020204" charset="-122"/>
              </a:defRPr>
            </a:pPr>
            <a:r>
              <a:rPr lang="zh-CN">
                <a:ea typeface="微软雅黑" panose="020B0503020204020204" charset="-122"/>
                <a:sym typeface="+mn-ea"/>
              </a:rPr>
              <a:t>双方：达成共识签字确认，报HR备案入指标库</a:t>
            </a:r>
            <a:endParaRPr lang="zh-CN" altLang="en-US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ounded Rectangle 22"/>
          <p:cNvSpPr/>
          <p:nvPr/>
        </p:nvSpPr>
        <p:spPr>
          <a:xfrm>
            <a:off x="6278727" y="1851660"/>
            <a:ext cx="522000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Oval 23"/>
          <p:cNvSpPr/>
          <p:nvPr/>
        </p:nvSpPr>
        <p:spPr>
          <a:xfrm>
            <a:off x="6388455" y="2080260"/>
            <a:ext cx="457200" cy="457200"/>
          </a:xfrm>
          <a:prstGeom prst="ellipse">
            <a:avLst/>
          </a:prstGeom>
          <a:solidFill>
            <a:srgbClr val="B23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24"/>
          <p:cNvSpPr txBox="1"/>
          <p:nvPr/>
        </p:nvSpPr>
        <p:spPr>
          <a:xfrm>
            <a:off x="6388455" y="2125980"/>
            <a:ext cx="457200" cy="365760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ctr">
              <a:lnSpc>
                <a:spcPct val="125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en-US">
                <a:ea typeface="微软雅黑" panose="020B0503020204020204" charset="-122"/>
              </a:rPr>
              <a:t>5</a:t>
            </a:r>
            <a:endParaRPr lang="en-US">
              <a:ea typeface="微软雅黑" panose="020B0503020204020204" charset="-122"/>
            </a:endParaRPr>
          </a:p>
        </p:txBody>
      </p:sp>
      <p:sp>
        <p:nvSpPr>
          <p:cNvPr id="38" name="TextBox 25"/>
          <p:cNvSpPr txBox="1"/>
          <p:nvPr/>
        </p:nvSpPr>
        <p:spPr>
          <a:xfrm>
            <a:off x="6937095" y="2130552"/>
            <a:ext cx="4747107" cy="658368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lnSpc>
                <a:spcPct val="125000"/>
              </a:lnSpc>
              <a:spcAft>
                <a:spcPts val="0"/>
              </a:spcAft>
              <a:defRPr sz="1400" b="0">
                <a:solidFill>
                  <a:srgbClr val="2A211C"/>
                </a:solidFill>
                <a:latin typeface="微软雅黑" panose="020B0503020204020204" charset="-122"/>
              </a:defRPr>
            </a:pPr>
            <a:r>
              <a:rPr lang="zh-CN">
                <a:ea typeface="微软雅黑" panose="020B0503020204020204" charset="-122"/>
                <a:cs typeface="微软雅黑" panose="020B0503020204020204" charset="-122"/>
              </a:rPr>
              <a:t>管理者：按职责编写规则更新岗位说明书</a:t>
            </a:r>
            <a:endParaRPr lang="zh-CN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ounded Rectangle 26"/>
          <p:cNvSpPr/>
          <p:nvPr/>
        </p:nvSpPr>
        <p:spPr>
          <a:xfrm>
            <a:off x="6278727" y="2921508"/>
            <a:ext cx="522000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Oval 27"/>
          <p:cNvSpPr/>
          <p:nvPr/>
        </p:nvSpPr>
        <p:spPr>
          <a:xfrm>
            <a:off x="6388455" y="3150108"/>
            <a:ext cx="457200" cy="457200"/>
          </a:xfrm>
          <a:prstGeom prst="ellipse">
            <a:avLst/>
          </a:prstGeom>
          <a:solidFill>
            <a:srgbClr val="B23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TextBox 28"/>
          <p:cNvSpPr txBox="1"/>
          <p:nvPr/>
        </p:nvSpPr>
        <p:spPr>
          <a:xfrm>
            <a:off x="6388455" y="3195828"/>
            <a:ext cx="457200" cy="365760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ctr">
              <a:lnSpc>
                <a:spcPct val="125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6</a:t>
            </a:r>
            <a:endParaRPr>
              <a:ea typeface="微软雅黑" panose="020B0503020204020204" charset="-122"/>
            </a:endParaRPr>
          </a:p>
        </p:txBody>
      </p:sp>
      <p:sp>
        <p:nvSpPr>
          <p:cNvPr id="42" name="TextBox 29"/>
          <p:cNvSpPr txBox="1"/>
          <p:nvPr/>
        </p:nvSpPr>
        <p:spPr>
          <a:xfrm>
            <a:off x="6937095" y="3200400"/>
            <a:ext cx="4747107" cy="658368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lnSpc>
                <a:spcPct val="125000"/>
              </a:lnSpc>
              <a:spcAft>
                <a:spcPts val="0"/>
              </a:spcAft>
              <a:defRPr sz="1400" b="0">
                <a:solidFill>
                  <a:srgbClr val="2A211C"/>
                </a:solidFill>
                <a:latin typeface="微软雅黑" panose="020B0503020204020204" charset="-122"/>
              </a:defRPr>
            </a:pPr>
            <a:r>
              <a:rPr lang="zh-CN">
                <a:ea typeface="微软雅黑" panose="020B0503020204020204" charset="-122"/>
              </a:rPr>
              <a:t>员工：按周期复盘进展，数据异常及时预警</a:t>
            </a:r>
            <a:endParaRPr lang="en-US" altLang="zh-CN">
              <a:ea typeface="微软雅黑" panose="020B0503020204020204" charset="-122"/>
            </a:endParaRPr>
          </a:p>
        </p:txBody>
      </p:sp>
      <p:sp>
        <p:nvSpPr>
          <p:cNvPr id="43" name="Rounded Rectangle 30"/>
          <p:cNvSpPr/>
          <p:nvPr/>
        </p:nvSpPr>
        <p:spPr>
          <a:xfrm>
            <a:off x="6278727" y="3991356"/>
            <a:ext cx="522000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Oval 31"/>
          <p:cNvSpPr/>
          <p:nvPr/>
        </p:nvSpPr>
        <p:spPr>
          <a:xfrm>
            <a:off x="6388455" y="4219956"/>
            <a:ext cx="457200" cy="457200"/>
          </a:xfrm>
          <a:prstGeom prst="ellipse">
            <a:avLst/>
          </a:prstGeom>
          <a:solidFill>
            <a:srgbClr val="B23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TextBox 32"/>
          <p:cNvSpPr txBox="1"/>
          <p:nvPr/>
        </p:nvSpPr>
        <p:spPr>
          <a:xfrm>
            <a:off x="6388455" y="4265676"/>
            <a:ext cx="457200" cy="365760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ctr">
              <a:lnSpc>
                <a:spcPct val="125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7</a:t>
            </a:r>
            <a:endParaRPr>
              <a:ea typeface="微软雅黑" panose="020B0503020204020204" charset="-122"/>
            </a:endParaRPr>
          </a:p>
        </p:txBody>
      </p:sp>
      <p:sp>
        <p:nvSpPr>
          <p:cNvPr id="46" name="TextBox 33"/>
          <p:cNvSpPr txBox="1"/>
          <p:nvPr/>
        </p:nvSpPr>
        <p:spPr>
          <a:xfrm>
            <a:off x="6937095" y="4270248"/>
            <a:ext cx="4747107" cy="658368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lnSpc>
                <a:spcPct val="125000"/>
              </a:lnSpc>
              <a:spcAft>
                <a:spcPts val="0"/>
              </a:spcAft>
              <a:defRPr sz="1400" b="0">
                <a:solidFill>
                  <a:srgbClr val="2A211C"/>
                </a:solidFill>
                <a:latin typeface="微软雅黑" panose="020B0503020204020204" charset="-122"/>
              </a:defRPr>
            </a:pPr>
            <a:r>
              <a:rPr lang="zh-CN">
                <a:ea typeface="微软雅黑" panose="020B0503020204020204" charset="-122"/>
                <a:cs typeface="微软雅黑" panose="020B0503020204020204" charset="-122"/>
              </a:rPr>
              <a:t>双方：变更须书面确认报HR，每周期≤1次</a:t>
            </a:r>
            <a:endParaRPr lang="zh-CN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AutoShape 3"/>
          <p:cNvSpPr/>
          <p:nvPr/>
        </p:nvSpPr>
        <p:spPr>
          <a:xfrm>
            <a:off x="838200" y="482600"/>
            <a:ext cx="6350000" cy="25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200" b="1" i="0" u="none" strike="noStrike" spc="100">
                <a:solidFill>
                  <a:srgbClr val="E859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管理</a:t>
            </a:r>
            <a:r>
              <a:rPr lang="zh-CN" altLang="en-US" sz="1200" b="1" i="0" u="none" strike="noStrike" spc="100">
                <a:solidFill>
                  <a:srgbClr val="E859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要求</a:t>
            </a:r>
            <a:endParaRPr lang="zh-CN" altLang="en-US" sz="1200" b="1" i="0" u="none" strike="noStrike" spc="100">
              <a:solidFill>
                <a:srgbClr val="E859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572"/>
            <a:ext cx="12179300" cy="6850856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>
            <a:noFill/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0" y="3572"/>
            <a:ext cx="12179300" cy="6850856"/>
          </a:xfrm>
          <a:prstGeom prst="rect">
            <a:avLst/>
          </a:prstGeom>
          <a:gradFill rotWithShape="1"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80000"/>
                </a:srgbClr>
              </a:gs>
            </a:gsLst>
            <a:lin ang="2700000"/>
          </a:gradFill>
          <a:ln w="12700" cap="flat">
            <a:noFill/>
            <a:prstDash val="solid"/>
          </a:ln>
          <a:effectLst>
            <a:outerShdw blurRad="254000" dist="431800" dir="5400000" sx="90000" sy="90000" algn="t" rotWithShape="0">
              <a:srgbClr val="3B3838">
                <a:alpha val="15000"/>
              </a:srgbClr>
            </a:outerShdw>
          </a:effectLst>
        </p:spPr>
        <p:txBody>
          <a:bodyPr wrap="square" lIns="91344" tIns="45672" rIns="91344" bIns="45672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grpSp>
        <p:nvGrpSpPr>
          <p:cNvPr id="12" name="组合 11"/>
          <p:cNvGrpSpPr/>
          <p:nvPr/>
        </p:nvGrpSpPr>
        <p:grpSpPr>
          <a:xfrm>
            <a:off x="1016000" y="900467"/>
            <a:ext cx="9501505" cy="4811993"/>
            <a:chOff x="1600" y="2457"/>
            <a:chExt cx="14963" cy="6743"/>
          </a:xfrm>
        </p:grpSpPr>
        <p:sp>
          <p:nvSpPr>
            <p:cNvPr id="6" name="AutoShape 2"/>
            <p:cNvSpPr/>
            <p:nvPr/>
          </p:nvSpPr>
          <p:spPr>
            <a:xfrm>
              <a:off x="1727" y="5001"/>
              <a:ext cx="12000" cy="500"/>
            </a:xfrm>
            <a:prstGeom prst="rect">
              <a:avLst/>
            </a:prstGeom>
            <a:noFill/>
            <a:ln w="12687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800" b="1" i="0" u="none" strike="noStrike" spc="200">
                  <a:solidFill>
                    <a:srgbClr val="E8590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指标到岗方法论 · 岗位职责编写要点</a:t>
              </a:r>
              <a:endParaRPr lang="zh-CN" altLang="en-US" sz="1800" b="1" i="0" u="none" strike="noStrike" spc="200">
                <a:solidFill>
                  <a:srgbClr val="E859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7" name="AutoShape 3"/>
            <p:cNvSpPr/>
            <p:nvPr/>
          </p:nvSpPr>
          <p:spPr>
            <a:xfrm>
              <a:off x="1600" y="2457"/>
              <a:ext cx="14963" cy="2400"/>
            </a:xfrm>
            <a:prstGeom prst="rect">
              <a:avLst/>
            </a:prstGeom>
            <a:noFill/>
            <a:ln w="12687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zh-CN" altLang="en-US" sz="5400" b="1" i="0" u="none" strike="noStrike">
                  <a:solidFill>
                    <a:srgbClr val="E8590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部门指标分解及岗位指标设定</a:t>
              </a:r>
              <a:endParaRPr lang="zh-CN" altLang="en-US" sz="5400" b="1" i="0" u="none" strike="noStrike">
                <a:solidFill>
                  <a:srgbClr val="E859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9" name="AutoShape 5"/>
            <p:cNvSpPr/>
            <p:nvPr/>
          </p:nvSpPr>
          <p:spPr>
            <a:xfrm>
              <a:off x="1600" y="7600"/>
              <a:ext cx="12000" cy="500"/>
            </a:xfrm>
            <a:prstGeom prst="rect">
              <a:avLst/>
            </a:prstGeom>
            <a:noFill/>
            <a:ln w="12687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800" b="0" i="0" u="none" strike="noStrike">
                  <a:solidFill>
                    <a:srgbClr val="E8590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分解方法 · 案例 · 职责规则</a:t>
              </a:r>
              <a:endParaRPr lang="en-US" sz="1800" b="0" i="0" u="none" strike="noStrike">
                <a:solidFill>
                  <a:srgbClr val="E859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0" name="AutoShape 6"/>
            <p:cNvSpPr/>
            <p:nvPr/>
          </p:nvSpPr>
          <p:spPr>
            <a:xfrm>
              <a:off x="1600" y="8400"/>
              <a:ext cx="4535" cy="60"/>
            </a:xfrm>
            <a:prstGeom prst="roundRect">
              <a:avLst>
                <a:gd name="adj" fmla="val 0"/>
              </a:avLst>
            </a:prstGeom>
            <a:solidFill>
              <a:srgbClr val="FFB47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lnSpc>
                  <a:spcPct val="125000"/>
                </a:lnSpc>
                <a:defRPr/>
              </a:pPr>
              <a:endParaRPr sz="1800">
                <a:solidFill>
                  <a:srgbClr val="E8590C"/>
                </a:solidFill>
              </a:endParaRPr>
            </a:p>
          </p:txBody>
        </p:sp>
        <p:sp>
          <p:nvSpPr>
            <p:cNvPr id="11" name="AutoShape 7"/>
            <p:cNvSpPr/>
            <p:nvPr/>
          </p:nvSpPr>
          <p:spPr>
            <a:xfrm>
              <a:off x="1600" y="8700"/>
              <a:ext cx="14000" cy="500"/>
            </a:xfrm>
            <a:prstGeom prst="rect">
              <a:avLst/>
            </a:prstGeom>
            <a:noFill/>
            <a:ln w="12687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600" b="0" u="none" strike="noStrike">
                  <a:solidFill>
                    <a:srgbClr val="E8590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指标不到岗，考核就悬空；责任不到人，目标就落空。</a:t>
              </a:r>
              <a:endParaRPr lang="en-US" sz="1600" b="0" u="none" strike="noStrike">
                <a:solidFill>
                  <a:srgbClr val="E859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13" name="Picture 4"/>
          <p:cNvPicPr>
            <a:picLocks noChangeAspect="1"/>
          </p:cNvPicPr>
          <p:nvPr/>
        </p:nvPicPr>
        <p:blipFill>
          <a:blip r:embed="rId2"/>
          <a:srcRect l="59" r="59"/>
          <a:stretch>
            <a:fillRect/>
          </a:stretch>
        </p:blipFill>
        <p:spPr>
          <a:xfrm>
            <a:off x="10896600" y="228600"/>
            <a:ext cx="1016000" cy="850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533400"/>
            <a:ext cx="76200" cy="660400"/>
          </a:xfrm>
          <a:prstGeom prst="roundRect">
            <a:avLst>
              <a:gd name="adj" fmla="val 0"/>
            </a:avLst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38200" y="482600"/>
            <a:ext cx="6350000" cy="25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 spc="100">
                <a:solidFill>
                  <a:srgbClr val="E859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FRAMEWORK · 分解四法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38200" y="711200"/>
            <a:ext cx="10160000" cy="508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四种分解方法，找到岗位的「承接点」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l="59" r="59"/>
          <a:stretch>
            <a:fillRect/>
          </a:stretch>
        </p:blipFill>
        <p:spPr>
          <a:xfrm>
            <a:off x="10896600" y="228600"/>
            <a:ext cx="1016000" cy="850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838200" y="1333500"/>
            <a:ext cx="10541000" cy="3175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86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部门指标不会自动变成岗位指标；同一项指标落到不同岗位，承接方式不同——四法对号入座，避免「人人有份=人人无责」。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35000" y="1905000"/>
            <a:ext cx="2603500" cy="2794000"/>
          </a:xfrm>
          <a:prstGeom prst="roundRect">
            <a:avLst>
              <a:gd name="adj" fmla="val 58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D9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587500" y="2159000"/>
            <a:ext cx="698500" cy="698500"/>
          </a:xfrm>
          <a:prstGeom prst="ellipse">
            <a:avLst/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承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25500" y="2984500"/>
            <a:ext cx="2222500" cy="330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直接承接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25500" y="3365500"/>
            <a:ext cx="2222500" cy="279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部门指标 = 岗位主责结果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89000" y="3746500"/>
            <a:ext cx="2095500" cy="762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786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岗位思考：我是否对该结果负最终责任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429000" y="1905000"/>
            <a:ext cx="2603500" cy="2794000"/>
          </a:xfrm>
          <a:prstGeom prst="roundRect">
            <a:avLst>
              <a:gd name="adj" fmla="val 58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D9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381500" y="2159000"/>
            <a:ext cx="698500" cy="698500"/>
          </a:xfrm>
          <a:prstGeom prst="ellipse">
            <a:avLst/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拆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619500" y="2984500"/>
            <a:ext cx="2222500" cy="330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口径拆分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619500" y="3365500"/>
            <a:ext cx="2222500" cy="279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按客户·区域·产品·时间切块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683000" y="3746500"/>
            <a:ext cx="2095500" cy="762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786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岗位领走一块，加总=部门目标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23000" y="1905000"/>
            <a:ext cx="2603500" cy="2794000"/>
          </a:xfrm>
          <a:prstGeom prst="roundRect">
            <a:avLst>
              <a:gd name="adj" fmla="val 58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D9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7175500" y="2159000"/>
            <a:ext cx="698500" cy="698500"/>
          </a:xfrm>
          <a:prstGeom prst="ellipse">
            <a:avLst/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支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13500" y="2984500"/>
            <a:ext cx="2222500" cy="330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流程支撑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13500" y="3365500"/>
            <a:ext cx="2222500" cy="279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上游交付质量决定下游结果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477000" y="3746500"/>
            <a:ext cx="2095500" cy="762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786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以过程指标支撑主责岗位（如：剪辑支撑爆款率）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017000" y="1905000"/>
            <a:ext cx="2603500" cy="2794000"/>
          </a:xfrm>
          <a:prstGeom prst="roundRect">
            <a:avLst>
              <a:gd name="adj" fmla="val 58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D9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9969500" y="2159000"/>
            <a:ext cx="698500" cy="698500"/>
          </a:xfrm>
          <a:prstGeom prst="ellipse">
            <a:avLst/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衍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207500" y="2984500"/>
            <a:ext cx="2222500" cy="330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职责衍生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207500" y="3365500"/>
            <a:ext cx="2222500" cy="279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覆盖指标外的长期性职责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9271000" y="3746500"/>
            <a:ext cx="2095500" cy="762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786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从岗位说明书提取（如：方法论沉淀、带教）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35000" y="4953000"/>
            <a:ext cx="10922000" cy="152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1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要点：</a:t>
            </a:r>
            <a:r>
              <a:rPr lang="en-US" sz="1100" b="0" i="0" u="none" strike="noStrike">
                <a:solidFill>
                  <a:srgbClr val="786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一个岗位通常「承接1-2项+衍生1-2项」；纯衍生指标权重合计≤30%，岗位始终围着部门指标转。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endParaRPr lang="en-US" sz="1100" b="0" i="0" u="none" strike="noStrike">
              <a:solidFill>
                <a:srgbClr val="7864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100" b="1" i="0" u="none" strike="noStrike">
                <a:solidFill>
                  <a:srgbClr val="786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①能推动：</a:t>
            </a:r>
            <a:r>
              <a:rPr lang="en-US" sz="1100" b="0" i="0" u="none" strike="noStrike">
                <a:solidFill>
                  <a:srgbClr val="786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该结果确为此岗位行为可影响，而非外部环境决定</a:t>
            </a:r>
            <a:endParaRPr lang="en-US" sz="1100" b="0" i="0" u="none" strike="noStrike">
              <a:solidFill>
                <a:srgbClr val="7864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100" b="1" i="0" u="none" strike="noStrike">
                <a:solidFill>
                  <a:srgbClr val="786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②有数据：</a:t>
            </a:r>
            <a:r>
              <a:rPr lang="en-US" sz="1100" b="0" i="0" u="none" strike="noStrike">
                <a:solidFill>
                  <a:srgbClr val="786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有明确数据源与计算口径，周期内可取数可核对</a:t>
            </a:r>
            <a:endParaRPr lang="en-US" sz="1100" b="0" i="0" u="none" strike="noStrike">
              <a:solidFill>
                <a:srgbClr val="7864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100" b="1" i="0" u="none" strike="noStrike">
                <a:solidFill>
                  <a:srgbClr val="786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③有归属：</a:t>
            </a:r>
            <a:r>
              <a:rPr lang="en-US" sz="1100" b="0" i="0" u="none" strike="noStrike">
                <a:solidFill>
                  <a:srgbClr val="786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能答出支撑哪条部门指标——三问皆是才可入库</a:t>
            </a:r>
            <a:endParaRPr lang="en-US" sz="1100" b="0" i="0" u="none" strike="noStrike">
              <a:solidFill>
                <a:srgbClr val="7864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533400"/>
            <a:ext cx="76200" cy="660400"/>
          </a:xfrm>
          <a:prstGeom prst="roundRect">
            <a:avLst>
              <a:gd name="adj" fmla="val 0"/>
            </a:avLst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38200" y="482600"/>
            <a:ext cx="6350000" cy="25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 spc="100">
                <a:solidFill>
                  <a:srgbClr val="E859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CASCADE · 岗位承接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38200" y="711200"/>
            <a:ext cx="10160000" cy="508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岗位指标五步落地 + 四个关键要点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l="59" r="59"/>
          <a:stretch>
            <a:fillRect/>
          </a:stretch>
        </p:blipFill>
        <p:spPr>
          <a:xfrm>
            <a:off x="10896600" y="228600"/>
            <a:ext cx="1016000" cy="850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1289050" y="1836420"/>
            <a:ext cx="889000" cy="889000"/>
          </a:xfrm>
          <a:prstGeom prst="ellipse">
            <a:avLst/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dist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35050" y="2827020"/>
            <a:ext cx="1397000" cy="279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盘点部门指标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99490" y="3131820"/>
            <a:ext cx="1397635" cy="508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000" b="0" i="0" u="none" strike="noStrike">
                <a:solidFill>
                  <a:srgbClr val="786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部门BSC逐条过：数量·权重·口径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57290">
            <a:off x="2470203" y="227457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97316">
                <a:alpha val="50000"/>
              </a:srgbClr>
            </a:solidFill>
            <a:prstDash val="solid"/>
            <a:round/>
            <a:headEnd type="none" w="lg" len="lg"/>
            <a:tailEnd type="triangle" w="sm" len="sm"/>
          </a:ln>
        </p:spPr>
      </p:cxnSp>
      <p:sp>
        <p:nvSpPr>
          <p:cNvPr id="10" name="AutoShape 10"/>
          <p:cNvSpPr/>
          <p:nvPr/>
        </p:nvSpPr>
        <p:spPr>
          <a:xfrm>
            <a:off x="3470910" y="1836420"/>
            <a:ext cx="889000" cy="889000"/>
          </a:xfrm>
          <a:prstGeom prst="ellipse">
            <a:avLst/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dist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208020" y="2827020"/>
            <a:ext cx="1397000" cy="279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岗位认领拆分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081020" y="3131820"/>
            <a:ext cx="1778000" cy="508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900" b="0" i="0" u="none" strike="noStrike">
                <a:solidFill>
                  <a:srgbClr val="786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主责岗位承接，大指标切块分派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57290">
            <a:off x="4620313" y="227457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97316">
                <a:alpha val="50000"/>
              </a:srgbClr>
            </a:solidFill>
            <a:prstDash val="solid"/>
            <a:round/>
            <a:headEnd type="none" w="lg" len="lg"/>
            <a:tailEnd type="triangle" w="sm" len="sm"/>
          </a:ln>
        </p:spPr>
      </p:cxnSp>
      <p:sp>
        <p:nvSpPr>
          <p:cNvPr id="14" name="AutoShape 14"/>
          <p:cNvSpPr/>
          <p:nvPr/>
        </p:nvSpPr>
        <p:spPr>
          <a:xfrm>
            <a:off x="5652770" y="1836420"/>
            <a:ext cx="889000" cy="889000"/>
          </a:xfrm>
          <a:prstGeom prst="ellipse">
            <a:avLst/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dist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392420" y="2827020"/>
            <a:ext cx="1397000" cy="279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职责衍生补位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322570" y="3131820"/>
            <a:ext cx="1562100" cy="508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000" b="0" i="0" u="none" strike="noStrike">
                <a:solidFill>
                  <a:srgbClr val="786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从岗位说明书补齐指标盖不到的产出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57290">
            <a:off x="6827573" y="227457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97316">
                <a:alpha val="50000"/>
              </a:srgbClr>
            </a:solidFill>
            <a:prstDash val="solid"/>
            <a:round/>
            <a:headEnd type="none" w="lg" len="lg"/>
            <a:tailEnd type="triangle" w="sm" len="sm"/>
          </a:ln>
        </p:spPr>
      </p:cxnSp>
      <p:sp>
        <p:nvSpPr>
          <p:cNvPr id="18" name="AutoShape 18"/>
          <p:cNvSpPr/>
          <p:nvPr/>
        </p:nvSpPr>
        <p:spPr>
          <a:xfrm>
            <a:off x="7834630" y="1836420"/>
            <a:ext cx="889000" cy="889000"/>
          </a:xfrm>
          <a:prstGeom prst="ellipse">
            <a:avLst/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dist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4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588250" y="2827020"/>
            <a:ext cx="1397000" cy="279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定口径定权重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461250" y="3131820"/>
            <a:ext cx="1778000" cy="508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900" b="0" i="0" u="none" strike="noStrike">
                <a:solidFill>
                  <a:srgbClr val="786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公式·数据源·目标值·权重=100%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57290">
            <a:off x="9000543" y="227457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97316">
                <a:alpha val="50000"/>
              </a:srgbClr>
            </a:solidFill>
            <a:prstDash val="solid"/>
            <a:round/>
            <a:headEnd type="none" w="lg" len="lg"/>
            <a:tailEnd type="triangle" w="sm" len="sm"/>
          </a:ln>
        </p:spPr>
      </p:cxnSp>
      <p:sp>
        <p:nvSpPr>
          <p:cNvPr id="22" name="AutoShape 22"/>
          <p:cNvSpPr/>
          <p:nvPr/>
        </p:nvSpPr>
        <p:spPr>
          <a:xfrm>
            <a:off x="10016490" y="1836420"/>
            <a:ext cx="889000" cy="889000"/>
          </a:xfrm>
          <a:prstGeom prst="ellipse">
            <a:avLst/>
          </a:prstGeom>
          <a:solidFill>
            <a:srgbClr val="B2320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dist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5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761220" y="2827020"/>
            <a:ext cx="1397000" cy="279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共识归档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599930" y="3131820"/>
            <a:ext cx="1778000" cy="508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000" b="0" i="0" u="none" strike="noStrike">
                <a:solidFill>
                  <a:srgbClr val="786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一对一沟通签字确认，报HR备案入指标库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35000" y="3937000"/>
            <a:ext cx="10922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D9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889000" y="4127500"/>
            <a:ext cx="10414000" cy="355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四个关键要点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1016000" y="4572000"/>
            <a:ext cx="10160000" cy="1651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8000"/>
              </a:lnSpc>
              <a:defRPr/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可控可影响：指标须是岗位行为能推动的；跨岗位指标写明R主责与C协同</a:t>
            </a:r>
            <a:endParaRPr lang="en-US" sz="1100"/>
          </a:p>
          <a:p>
            <a:pPr marL="0" indent="0" algn="l">
              <a:lnSpc>
                <a:spcPct val="158000"/>
              </a:lnSpc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上下贯通：每个岗位指标都答得出「支撑哪条部门指标」，答不出的不进考核</a:t>
            </a:r>
            <a:endParaRPr lang="en-US" sz="13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数量收敛：每岗3-8个为宜，权重合计100%，单项≥5%，避免人人有份</a:t>
            </a:r>
            <a:endParaRPr lang="en-US" sz="13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数据可得：无数据源、无计算口径的指标，先补口径再入库</a:t>
            </a:r>
            <a:endParaRPr lang="en-US" sz="13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533400"/>
            <a:ext cx="76200" cy="660400"/>
          </a:xfrm>
          <a:prstGeom prst="roundRect">
            <a:avLst>
              <a:gd name="adj" fmla="val 0"/>
            </a:avLst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38200" y="482600"/>
            <a:ext cx="6350000" cy="25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 spc="100">
                <a:solidFill>
                  <a:srgbClr val="E859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CASE 3 · 业务岗位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38200" y="711200"/>
            <a:ext cx="10160000" cy="508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案例：抖音内容推广团队（业务部门）的岗位分解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l="59" r="59"/>
          <a:stretch>
            <a:fillRect/>
          </a:stretch>
        </p:blipFill>
        <p:spPr>
          <a:xfrm>
            <a:off x="10896600" y="228600"/>
            <a:ext cx="1016000" cy="850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635000" y="1524000"/>
            <a:ext cx="10922000" cy="508000"/>
          </a:xfrm>
          <a:prstGeom prst="roundRect">
            <a:avLst>
              <a:gd name="adj" fmla="val 15000"/>
            </a:avLst>
          </a:prstGeom>
          <a:solidFill>
            <a:srgbClr val="FDEBD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25500" y="1524000"/>
            <a:ext cx="10541000" cy="508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部门级目标（承接上一讲）：</a:t>
            </a: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内容引流 GMV ≥1亿 · 粉丝净增 500万 · 爆款率 ≥8% · 投流 ROI ≥3 · 制作发布周期 ↓30% · 金牌编导 3名</a:t>
            </a:r>
            <a:endParaRPr lang="en-US" sz="1100"/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635000" y="2286000"/>
          <a:ext cx="10922000" cy="33274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524000"/>
                <a:gridCol w="3556000"/>
                <a:gridCol w="5842000"/>
              </a:tblGrid>
              <a:tr h="533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部门指标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2320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关键岗位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2320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岗位指标（方法 · 口径 · 目标）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2320A">
                        <a:alpha val="100000"/>
                      </a:srgbClr>
                    </a:solidFill>
                  </a:tcPr>
                </a:tc>
              </a:tr>
              <a:tr h="558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B232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内容引流GMV ≥1亿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A211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直播运营经理 · 承接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A211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全年 GMV ≥1亿按月拆解；单粉获客成本 ↓15%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58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B232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粉丝净增500万 · 爆款率≥8%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0E1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A211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内容编导 · 拆分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0E1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A211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月爆款条数 ≥N（百万播放口径）；互动率 ≥5%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0E1">
                        <a:alpha val="100000"/>
                      </a:srgbClr>
                    </a:solidFill>
                  </a:tcPr>
                </a:tc>
              </a:tr>
              <a:tr h="558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B232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投流 ROI ≥3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A211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投流专员 · 承接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A211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投流 ROI ≥3；消耗进度偏差 ≤10%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58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B232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制作发布周期 ↓30%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0E1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A211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后期剪辑 · 支撑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0E1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A211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单条成片 ≤48h 交付；返工率 ≤10%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0E1">
                        <a:alpha val="100000"/>
                      </a:srgbClr>
                    </a:solidFill>
                  </a:tcPr>
                </a:tc>
              </a:tr>
              <a:tr h="558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B232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方法论沉淀 · 金牌编导3名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0E1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A211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编导组长 · 衍生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0E1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A211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季度沉淀脚本模板 ≥3套；带教 2 名独立编导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0E1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9" name="AutoShape 9"/>
          <p:cNvSpPr/>
          <p:nvPr/>
        </p:nvSpPr>
        <p:spPr>
          <a:xfrm>
            <a:off x="635000" y="5842000"/>
            <a:ext cx="10922000" cy="3175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1" u="none" strike="noStrike">
                <a:solidFill>
                  <a:srgbClr val="8A6F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解码逻辑：经理承接结果、编导拆口径、投手盯ROI、剪辑做支撑、组长衍生带教——岗位指标加总，必须回到部门目标。</a:t>
            </a:r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533400"/>
            <a:ext cx="76200" cy="660400"/>
          </a:xfrm>
          <a:prstGeom prst="roundRect">
            <a:avLst>
              <a:gd name="adj" fmla="val 0"/>
            </a:avLst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38200" y="482600"/>
            <a:ext cx="6350000" cy="25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 spc="100">
                <a:solidFill>
                  <a:srgbClr val="E859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CASE 4 · 职能岗位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38200" y="711200"/>
            <a:ext cx="10160000" cy="508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案例：人力资源部（职能部门）的岗位分解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l="59" r="59"/>
          <a:stretch>
            <a:fillRect/>
          </a:stretch>
        </p:blipFill>
        <p:spPr>
          <a:xfrm>
            <a:off x="10896600" y="228600"/>
            <a:ext cx="1016000" cy="850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635000" y="1524000"/>
            <a:ext cx="10922000" cy="508000"/>
          </a:xfrm>
          <a:prstGeom prst="roundRect">
            <a:avLst>
              <a:gd name="adj" fmla="val 15000"/>
            </a:avLst>
          </a:prstGeom>
          <a:solidFill>
            <a:srgbClr val="FDEBD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25500" y="1524000"/>
            <a:ext cx="10541000" cy="508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部门级目标（承接上一讲）：</a:t>
            </a: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招聘满足周期 ↓20% · 绩效闭环覆盖率 100% · 薪酬核算准确率 ≥95% · 继任覆盖率 60% · 核心人才保留率 ≥80%</a:t>
            </a:r>
            <a:endParaRPr lang="en-US" sz="1100"/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635000" y="2286000"/>
          <a:ext cx="10922000" cy="33274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524000"/>
                <a:gridCol w="3556000"/>
                <a:gridCol w="5842000"/>
              </a:tblGrid>
              <a:tr h="533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部门指标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2320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关键岗位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2320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岗位指标（方法 · 口径 · 目标）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2320A">
                        <a:alpha val="100000"/>
                      </a:srgbClr>
                    </a:solidFill>
                  </a:tcPr>
                </a:tc>
              </a:tr>
              <a:tr h="558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B232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招聘满足周期 ↓20%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A211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招聘专员 · 承接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A211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平均到岗周期 ≤25天；试用期通过率 ≥85%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58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B232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绩效闭环覆盖率 100%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0E1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A211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绩效薪酬专员 · 承接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0E1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A211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目标签订率 100%；面谈记录归档率 100%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0E1">
                        <a:alpha val="100000"/>
                      </a:srgbClr>
                    </a:solidFill>
                  </a:tcPr>
                </a:tc>
              </a:tr>
              <a:tr h="558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B232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薪酬核算准确率 ≥95%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A211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薪酬核算专员 · 拆分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A211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分模块核算差错 0起；月度 T+3 出表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58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B232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继任覆盖率 60%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0E1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A211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HRBP · 支撑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0E1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A211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季度更新人才九宫格；继任人 IDP 完成率 100%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0E1">
                        <a:alpha val="100000"/>
                      </a:srgbClr>
                    </a:solidFill>
                  </a:tcPr>
                </a:tc>
              </a:tr>
              <a:tr h="558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B232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人力成本占收比优化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0E1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A211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HRBP · 衍生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0E1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A211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季度人效分析报告 1份；预警响应 ≤5个工作日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0E1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9" name="AutoShape 9"/>
          <p:cNvSpPr/>
          <p:nvPr/>
        </p:nvSpPr>
        <p:spPr>
          <a:xfrm>
            <a:off x="635000" y="5842000"/>
            <a:ext cx="10922000" cy="3175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1" u="none" strike="noStrike">
                <a:solidFill>
                  <a:srgbClr val="8A6F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解码逻辑：职能岗多用SLA口径（周期·准确率·覆盖率·时效）；岗位目标值可严于部门值——加严保达成。</a:t>
            </a:r>
            <a:endParaRPr lang="en-US" sz="1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/>
        </p:nvSpPr>
        <p:spPr>
          <a:xfrm>
            <a:off x="609600" y="533400"/>
            <a:ext cx="76200" cy="660400"/>
          </a:xfrm>
          <a:prstGeom prst="roundRect">
            <a:avLst>
              <a:gd name="adj" fmla="val 0"/>
            </a:avLst>
          </a:prstGeom>
          <a:solidFill>
            <a:srgbClr val="E8590C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AutoShape 3"/>
          <p:cNvSpPr>
            <a:spLocks noGrp="1"/>
          </p:cNvSpPr>
          <p:nvPr/>
        </p:nvSpPr>
        <p:spPr>
          <a:xfrm>
            <a:off x="838200" y="711200"/>
            <a:ext cx="10160000" cy="508000"/>
          </a:xfrm>
          <a:prstGeom prst="rect">
            <a:avLst/>
          </a:prstGeom>
          <a:noFill/>
          <a:ln w="12687" cmpd="sng">
            <a:noFill/>
            <a:prstDash val="solid"/>
          </a:ln>
        </p:spPr>
        <p:txBody>
          <a:bodyPr vert="horz" wrap="none" lIns="0" tIns="0" rIns="0" bIns="0" anchor="ctr"/>
          <a:lstStyle/>
          <a:p>
            <a:pPr marL="0" indent="0" algn="l" defTabSz="9144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2800" b="1" i="0" u="none" kern="1200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岗位职责编写</a:t>
            </a:r>
            <a:r>
              <a:rPr sz="2800" b="1" i="0" u="none" kern="1200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规则</a:t>
            </a:r>
            <a:endParaRPr sz="2800" b="1" i="0" u="none" kern="1200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04" name="Picture 4"/>
          <p:cNvPicPr>
            <a:picLocks noChangeAspect="1"/>
          </p:cNvPicPr>
          <p:nvPr/>
        </p:nvPicPr>
        <p:blipFill>
          <a:blip r:embed="rId1"/>
          <a:srcRect l="59" r="59"/>
          <a:stretch>
            <a:fillRect/>
          </a:stretch>
        </p:blipFill>
        <p:spPr>
          <a:xfrm>
            <a:off x="10896600" y="228600"/>
            <a:ext cx="1016000" cy="850900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  <p:sp>
        <p:nvSpPr>
          <p:cNvPr id="28" name="TextBox 4"/>
          <p:cNvSpPr>
            <a:spLocks noGrp="1"/>
          </p:cNvSpPr>
          <p:nvPr/>
        </p:nvSpPr>
        <p:spPr>
          <a:xfrm>
            <a:off x="838073" y="476377"/>
            <a:ext cx="5486400" cy="237744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 defTabSz="914400">
              <a:lnSpc>
                <a:spcPct val="125000"/>
              </a:lnSpc>
              <a:spcBef>
                <a:spcPct val="0"/>
              </a:spcBef>
              <a:spcAft>
                <a:spcPts val="0"/>
              </a:spcAft>
              <a:buNone/>
              <a:defRPr sz="1200" b="1">
                <a:solidFill>
                  <a:srgbClr val="E859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ern="1200">
                <a:sym typeface="+mn-ea"/>
              </a:rPr>
              <a:t>JD · </a:t>
            </a:r>
            <a:r>
              <a:rPr kern="1200">
                <a:sym typeface="+mn-ea"/>
              </a:rPr>
              <a:t>职责编写</a:t>
            </a:r>
            <a:endParaRPr kern="1200">
              <a:sym typeface="+mn-ea"/>
            </a:endParaRPr>
          </a:p>
        </p:txBody>
      </p:sp>
      <p:sp>
        <p:nvSpPr>
          <p:cNvPr id="29" name="TextBox 28"/>
          <p:cNvSpPr>
            <a:spLocks noGrp="1"/>
          </p:cNvSpPr>
          <p:nvPr/>
        </p:nvSpPr>
        <p:spPr>
          <a:xfrm>
            <a:off x="841248" y="14173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spcBef>
                <a:spcPct val="0"/>
              </a:spcBef>
              <a:spcAft>
                <a:spcPct val="0"/>
              </a:spcAft>
              <a:buNone/>
              <a:defRPr sz="1400" b="1">
                <a:solidFill>
                  <a:srgbClr val="E24D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ern="1200">
                <a:sym typeface="+mn-ea"/>
              </a:rPr>
              <a:t>职责编写四条规则</a:t>
            </a:r>
            <a:endParaRPr kern="1200">
              <a:sym typeface="+mn-ea"/>
            </a:endParaRPr>
          </a:p>
        </p:txBody>
      </p:sp>
      <p:sp>
        <p:nvSpPr>
          <p:cNvPr id="30" name="Rounded Rectangle 29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41248" y="1845310"/>
            <a:ext cx="2542032" cy="129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1" name="Rounded Rectangle 30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950976" y="1982470"/>
            <a:ext cx="457200" cy="365760"/>
          </a:xfrm>
          <a:prstGeom prst="roundRect">
            <a:avLst>
              <a:gd name="adj" fmla="val 20000"/>
            </a:avLst>
          </a:prstGeom>
          <a:solidFill>
            <a:srgbClr val="E24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  <a:buNone/>
              <a:defRPr sz="12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kern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01</a:t>
            </a:r>
            <a:endParaRPr kern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2" name="TextBox 3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499616" y="1982470"/>
            <a:ext cx="17647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spcBef>
                <a:spcPct val="0"/>
              </a:spcBef>
              <a:spcAft>
                <a:spcPct val="0"/>
              </a:spcAft>
              <a:buNone/>
              <a:defRPr sz="14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ern="1200">
                <a:sym typeface="+mn-ea"/>
              </a:rPr>
              <a:t>动宾结构</a:t>
            </a:r>
            <a:endParaRPr kern="1200">
              <a:sym typeface="+mn-ea"/>
            </a:endParaRPr>
          </a:p>
        </p:txBody>
      </p:sp>
      <p:sp>
        <p:nvSpPr>
          <p:cNvPr id="33" name="Rectangle 32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978408" y="2412238"/>
            <a:ext cx="2267712" cy="1097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4" name="TextBox 33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978408" y="2485390"/>
            <a:ext cx="2267712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05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kern="1200">
                <a:sym typeface="+mn-ea"/>
              </a:rPr>
              <a:t>动词+对象+成果</a:t>
            </a:r>
            <a:endParaRPr sz="1200" kern="1200">
              <a:sym typeface="+mn-ea"/>
            </a:endParaRPr>
          </a:p>
          <a:p>
            <a:pPr defTabSz="9144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05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kern="1200">
                <a:sym typeface="+mn-ea"/>
              </a:rPr>
              <a:t>写清「做什么、出什么」</a:t>
            </a:r>
            <a:endParaRPr sz="1200" kern="1200">
              <a:sym typeface="+mn-ea"/>
            </a:endParaRPr>
          </a:p>
        </p:txBody>
      </p:sp>
      <p:sp>
        <p:nvSpPr>
          <p:cNvPr id="35" name="Rounded Rectangle 34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3575303" y="1845310"/>
            <a:ext cx="2542032" cy="129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6" name="Rounded Rectangle 35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3685031" y="1982470"/>
            <a:ext cx="457200" cy="365760"/>
          </a:xfrm>
          <a:prstGeom prst="roundRect">
            <a:avLst>
              <a:gd name="adj" fmla="val 20000"/>
            </a:avLst>
          </a:prstGeom>
          <a:solidFill>
            <a:srgbClr val="E24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  <a:buNone/>
              <a:defRPr sz="12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kern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02</a:t>
            </a:r>
            <a:endParaRPr kern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7" name="TextBox 36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4233672" y="1982470"/>
            <a:ext cx="17647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spcBef>
                <a:spcPct val="0"/>
              </a:spcBef>
              <a:spcAft>
                <a:spcPct val="0"/>
              </a:spcAft>
              <a:buNone/>
              <a:defRPr sz="14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ern="1200">
                <a:sym typeface="+mn-ea"/>
              </a:rPr>
              <a:t>结果导向</a:t>
            </a:r>
            <a:endParaRPr kern="1200">
              <a:sym typeface="+mn-ea"/>
            </a:endParaRPr>
          </a:p>
        </p:txBody>
      </p:sp>
      <p:sp>
        <p:nvSpPr>
          <p:cNvPr id="38" name="Rectangle 37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3712463" y="2412238"/>
            <a:ext cx="2267712" cy="1097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9" name="TextBox 38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3712463" y="2485390"/>
            <a:ext cx="2267712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05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kern="1200">
                <a:sym typeface="+mn-ea"/>
              </a:rPr>
              <a:t>每条落到可交付产出</a:t>
            </a:r>
            <a:endParaRPr sz="1200" kern="1200">
              <a:sym typeface="+mn-ea"/>
            </a:endParaRPr>
          </a:p>
          <a:p>
            <a:pPr defTabSz="9144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05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kern="1200">
                <a:sym typeface="+mn-ea"/>
              </a:rPr>
              <a:t>写到什么程度，而非日常事务</a:t>
            </a:r>
            <a:endParaRPr sz="1200" kern="1200">
              <a:sym typeface="+mn-ea"/>
            </a:endParaRPr>
          </a:p>
        </p:txBody>
      </p:sp>
      <p:sp>
        <p:nvSpPr>
          <p:cNvPr id="40" name="Rounded Rectangle 39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6309359" y="1845310"/>
            <a:ext cx="2542032" cy="129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1" name="Rounded Rectangle 40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6419088" y="1982470"/>
            <a:ext cx="457200" cy="365760"/>
          </a:xfrm>
          <a:prstGeom prst="roundRect">
            <a:avLst>
              <a:gd name="adj" fmla="val 20000"/>
            </a:avLst>
          </a:prstGeom>
          <a:solidFill>
            <a:srgbClr val="E24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  <a:buNone/>
              <a:defRPr sz="12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kern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03</a:t>
            </a:r>
            <a:endParaRPr kern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2" name="TextBox 41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6967727" y="1982470"/>
            <a:ext cx="17647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spcBef>
                <a:spcPct val="0"/>
              </a:spcBef>
              <a:spcAft>
                <a:spcPct val="0"/>
              </a:spcAft>
              <a:buNone/>
              <a:defRPr sz="14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ern="1200">
                <a:sym typeface="+mn-ea"/>
              </a:rPr>
              <a:t>边界清晰</a:t>
            </a:r>
            <a:endParaRPr kern="1200">
              <a:sym typeface="+mn-ea"/>
            </a:endParaRPr>
          </a:p>
        </p:txBody>
      </p:sp>
      <p:sp>
        <p:nvSpPr>
          <p:cNvPr id="43" name="Rectangle 42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6446520" y="2412238"/>
            <a:ext cx="2267712" cy="1097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4" name="TextBox 43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6446520" y="2485390"/>
            <a:ext cx="2267712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05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kern="1200">
                <a:sym typeface="+mn-ea"/>
              </a:rPr>
              <a:t>一岗一主线，不重不漏</a:t>
            </a:r>
            <a:endParaRPr sz="1200" kern="1200">
              <a:sym typeface="+mn-ea"/>
            </a:endParaRPr>
          </a:p>
          <a:p>
            <a:pPr defTabSz="9144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05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kern="1200">
                <a:sym typeface="+mn-ea"/>
              </a:rPr>
              <a:t>交叉职责写明主责与配合</a:t>
            </a:r>
            <a:endParaRPr sz="1200" kern="1200">
              <a:sym typeface="+mn-ea"/>
            </a:endParaRPr>
          </a:p>
        </p:txBody>
      </p:sp>
      <p:sp>
        <p:nvSpPr>
          <p:cNvPr id="45" name="Rounded Rectangle 44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9043415" y="1845310"/>
            <a:ext cx="2542032" cy="129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6" name="Rounded Rectangle 45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9153143" y="1982470"/>
            <a:ext cx="457200" cy="365760"/>
          </a:xfrm>
          <a:prstGeom prst="roundRect">
            <a:avLst>
              <a:gd name="adj" fmla="val 20000"/>
            </a:avLst>
          </a:prstGeom>
          <a:solidFill>
            <a:srgbClr val="E24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  <a:buNone/>
              <a:defRPr sz="12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kern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04</a:t>
            </a:r>
            <a:endParaRPr kern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7" name="TextBox 46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9701784" y="1982470"/>
            <a:ext cx="17647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spcBef>
                <a:spcPct val="0"/>
              </a:spcBef>
              <a:spcAft>
                <a:spcPct val="0"/>
              </a:spcAft>
              <a:buNone/>
              <a:defRPr sz="14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ern="1200">
                <a:sym typeface="+mn-ea"/>
              </a:rPr>
              <a:t>数量克制</a:t>
            </a:r>
            <a:endParaRPr kern="1200">
              <a:sym typeface="+mn-ea"/>
            </a:endParaRPr>
          </a:p>
        </p:txBody>
      </p:sp>
      <p:sp>
        <p:nvSpPr>
          <p:cNvPr id="48" name="Rectangle 47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9180576" y="2412238"/>
            <a:ext cx="2267712" cy="1097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9" name="TextBox 48"/>
          <p:cNvSpPr>
            <a:spLocks noGrp="1"/>
          </p:cNvSpPr>
          <p:nvPr>
            <p:custDataLst>
              <p:tags r:id="rId21"/>
            </p:custDataLst>
          </p:nvPr>
        </p:nvSpPr>
        <p:spPr>
          <a:xfrm>
            <a:off x="9180576" y="2485390"/>
            <a:ext cx="2267712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05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kern="1200">
                <a:sym typeface="+mn-ea"/>
              </a:rPr>
              <a:t>核心职责 6-10 条</a:t>
            </a:r>
            <a:endParaRPr sz="1200" kern="1200">
              <a:sym typeface="+mn-ea"/>
            </a:endParaRPr>
          </a:p>
          <a:p>
            <a:pPr defTabSz="9144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05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kern="1200">
                <a:sym typeface="+mn-ea"/>
              </a:rPr>
              <a:t>覆盖80%以上工时</a:t>
            </a:r>
            <a:endParaRPr sz="1200" kern="1200">
              <a:sym typeface="+mn-ea"/>
            </a:endParaRPr>
          </a:p>
        </p:txBody>
      </p:sp>
      <p:sp>
        <p:nvSpPr>
          <p:cNvPr id="98" name="矩形 97"/>
          <p:cNvSpPr>
            <a:spLocks noGrp="1"/>
          </p:cNvSpPr>
          <p:nvPr/>
        </p:nvSpPr>
        <p:spPr>
          <a:xfrm>
            <a:off x="843280" y="342392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defTabSz="914400">
              <a:spcBef>
                <a:spcPct val="0"/>
              </a:spcBef>
              <a:spcAft>
                <a:spcPct val="0"/>
              </a:spcAft>
              <a:defRPr sz="1875" b="1">
                <a:solidFill>
                  <a:srgbClr val="E84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 kern="1200">
                <a:solidFill>
                  <a:srgbClr val="E84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职责写法：</a:t>
            </a:r>
            <a:r>
              <a:rPr sz="1400" b="1" kern="1200">
                <a:solidFill>
                  <a:srgbClr val="E84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动词 + 对象 + 方式 + 成果</a:t>
            </a:r>
            <a:endParaRPr sz="1400" b="1" kern="1200">
              <a:solidFill>
                <a:srgbClr val="E84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9" name="圆角矩形 98"/>
          <p:cNvSpPr>
            <a:spLocks noGrp="1"/>
          </p:cNvSpPr>
          <p:nvPr/>
        </p:nvSpPr>
        <p:spPr>
          <a:xfrm>
            <a:off x="838200" y="3871595"/>
            <a:ext cx="5143500" cy="174117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4288">
            <a:solidFill>
              <a:srgbClr val="F7AA7D"/>
            </a:solidFill>
          </a:ln>
        </p:spPr>
        <p:txBody>
          <a:bodyPr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  <a:defRPr sz="165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kern="1200">
                <a:solidFill>
                  <a:srgbClr val="C637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合格写法</a:t>
            </a:r>
            <a:endParaRPr sz="1600" b="1" kern="1200">
              <a:solidFill>
                <a:srgbClr val="C637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defTabSz="914400">
              <a:spcBef>
                <a:spcPct val="0"/>
              </a:spcBef>
              <a:spcAft>
                <a:spcPct val="0"/>
              </a:spcAft>
              <a:defRPr sz="165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600" kern="12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defTabSz="914400">
              <a:spcBef>
                <a:spcPct val="0"/>
              </a:spcBef>
              <a:spcAft>
                <a:spcPct val="0"/>
              </a:spcAft>
              <a:defRPr sz="165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kern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动词具体 · 有产出 · 可衡量</a:t>
            </a:r>
            <a:endParaRPr sz="1400" kern="12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defTabSz="914400">
              <a:spcBef>
                <a:spcPct val="0"/>
              </a:spcBef>
              <a:spcAft>
                <a:spcPct val="0"/>
              </a:spcAft>
            </a:pPr>
            <a:endParaRPr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  <a:p>
            <a:pPr defTabSz="914400">
              <a:spcBef>
                <a:spcPct val="0"/>
              </a:spcBef>
              <a:spcAft>
                <a:spcPct val="0"/>
              </a:spcAft>
              <a:defRPr sz="165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kern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示例：独立完成月度薪酬核算，T+3出表，全年差错0起</a:t>
            </a:r>
            <a:endParaRPr sz="1400" kern="12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0" name="圆角矩形 99"/>
          <p:cNvSpPr>
            <a:spLocks noGrp="1"/>
          </p:cNvSpPr>
          <p:nvPr/>
        </p:nvSpPr>
        <p:spPr>
          <a:xfrm>
            <a:off x="6191250" y="3871595"/>
            <a:ext cx="5143500" cy="174117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4288">
            <a:solidFill>
              <a:srgbClr val="F7AA7D"/>
            </a:solidFill>
          </a:ln>
        </p:spPr>
        <p:txBody>
          <a:bodyPr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  <a:defRPr sz="165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kern="1200">
                <a:solidFill>
                  <a:srgbClr val="C637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不合格写法</a:t>
            </a:r>
            <a:endParaRPr sz="1600" b="1" kern="1200">
              <a:solidFill>
                <a:srgbClr val="C637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defTabSz="914400">
              <a:spcBef>
                <a:spcPct val="0"/>
              </a:spcBef>
              <a:spcAft>
                <a:spcPct val="0"/>
              </a:spcAft>
              <a:defRPr sz="165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600" kern="12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defTabSz="914400">
              <a:spcBef>
                <a:spcPct val="0"/>
              </a:spcBef>
              <a:spcAft>
                <a:spcPct val="0"/>
              </a:spcAft>
              <a:defRPr sz="165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kern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动词空洞 · 无产出 · 不可衡量</a:t>
            </a:r>
            <a:endParaRPr sz="1400" kern="12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defTabSz="914400">
              <a:spcBef>
                <a:spcPct val="0"/>
              </a:spcBef>
              <a:spcAft>
                <a:spcPct val="0"/>
              </a:spcAft>
            </a:pPr>
            <a:endParaRPr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  <a:p>
            <a:pPr defTabSz="914400">
              <a:spcBef>
                <a:spcPct val="0"/>
              </a:spcBef>
              <a:spcAft>
                <a:spcPct val="0"/>
              </a:spcAft>
              <a:defRPr sz="165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kern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示例：负责薪酬相关工作，完成领导交办的其他事项</a:t>
            </a:r>
            <a:endParaRPr sz="1400" kern="12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1" name="圆角矩形 100"/>
          <p:cNvSpPr>
            <a:spLocks noGrp="1"/>
          </p:cNvSpPr>
          <p:nvPr/>
        </p:nvSpPr>
        <p:spPr>
          <a:xfrm>
            <a:off x="838200" y="5857875"/>
            <a:ext cx="10496550" cy="552450"/>
          </a:xfrm>
          <a:prstGeom prst="roundRect">
            <a:avLst>
              <a:gd name="adj" fmla="val 13793"/>
            </a:avLst>
          </a:prstGeom>
          <a:solidFill>
            <a:srgbClr val="FDE7D8"/>
          </a:solidFill>
          <a:ln w="0">
            <a:noFill/>
          </a:ln>
        </p:spPr>
        <p:txBody>
          <a:bodyPr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9E2A0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 kern="1200">
                <a:solidFill>
                  <a:srgbClr val="9E2A0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职责是指标的「源代码」——职责里没写的产出，考核里长不出指标；写好职责，指标分解就成功了一半。</a:t>
            </a:r>
            <a:endParaRPr sz="1400" b="1" kern="1200">
              <a:solidFill>
                <a:srgbClr val="9E2A0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2120900" y="3342640"/>
            <a:ext cx="1016000" cy="431800"/>
          </a:xfrm>
          <a:prstGeom prst="roundRect">
            <a:avLst>
              <a:gd name="adj" fmla="val 50000"/>
            </a:avLst>
          </a:prstGeom>
          <a:solidFill>
            <a:srgbClr val="F7AA7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正道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327400" y="3342640"/>
            <a:ext cx="1016000" cy="431800"/>
          </a:xfrm>
          <a:prstGeom prst="roundRect">
            <a:avLst>
              <a:gd name="adj" fmla="val 50000"/>
            </a:avLst>
          </a:prstGeom>
          <a:solidFill>
            <a:srgbClr val="F7AA7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利他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533900" y="3342640"/>
            <a:ext cx="1016000" cy="431800"/>
          </a:xfrm>
          <a:prstGeom prst="roundRect">
            <a:avLst>
              <a:gd name="adj" fmla="val 50000"/>
            </a:avLst>
          </a:prstGeom>
          <a:solidFill>
            <a:srgbClr val="F7AA7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真实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740400" y="3342640"/>
            <a:ext cx="1016000" cy="431800"/>
          </a:xfrm>
          <a:prstGeom prst="roundRect">
            <a:avLst>
              <a:gd name="adj" fmla="val 50000"/>
            </a:avLst>
          </a:prstGeom>
          <a:solidFill>
            <a:srgbClr val="F7AA7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情义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120900" y="4535805"/>
            <a:ext cx="8890000" cy="381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E24D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把目标变成行动，把贡献变成回报，让中达与每一位伙伴共同成长。</a:t>
            </a:r>
            <a:endParaRPr lang="en-US" sz="2000" b="0" i="0" u="none" strike="noStrike">
              <a:solidFill>
                <a:srgbClr val="E24D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rcRect l="303" r="303"/>
          <a:stretch>
            <a:fillRect/>
          </a:stretch>
        </p:blipFill>
        <p:spPr>
          <a:xfrm>
            <a:off x="10668000" y="5701030"/>
            <a:ext cx="1041400" cy="419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2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3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4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5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6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7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8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9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10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11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12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13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14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15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16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17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18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19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20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21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22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23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24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25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26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27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28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29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30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31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32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33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34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35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36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37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38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39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40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41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42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43.xml><?xml version="1.0" encoding="utf-8"?>
<p:tagLst xmlns:p="http://schemas.openxmlformats.org/presentationml/2006/main">
  <p:tag name="KSO_WM_DIAGRAM_VIRTUALLY_FRAME" val="{&quot;height&quot;:220.39000000000001,&quot;left&quot;:61.2,&quot;top&quot;:162,&quot;width&quot;:863.95}"/>
</p:tagLst>
</file>

<file path=ppt/tags/tag44.xml><?xml version="1.0" encoding="utf-8"?>
<p:tagLst xmlns:p="http://schemas.openxmlformats.org/presentationml/2006/main">
  <p:tag name="KSO_WM_DIAGRAM_VIRTUALLY_FRAME" val="{&quot;height&quot;:220.39000000000001,&quot;left&quot;:61.2,&quot;top&quot;:162,&quot;width&quot;:863.95}"/>
</p:tagLst>
</file>

<file path=ppt/tags/tag45.xml><?xml version="1.0" encoding="utf-8"?>
<p:tagLst xmlns:p="http://schemas.openxmlformats.org/presentationml/2006/main">
  <p:tag name="KSO_WM_DIAGRAM_VIRTUALLY_FRAME" val="{&quot;height&quot;:220.39000000000001,&quot;left&quot;:61.2,&quot;top&quot;:162,&quot;width&quot;:863.95}"/>
</p:tagLst>
</file>

<file path=ppt/tags/tag46.xml><?xml version="1.0" encoding="utf-8"?>
<p:tagLst xmlns:p="http://schemas.openxmlformats.org/presentationml/2006/main">
  <p:tag name="KSO_WM_DIAGRAM_VIRTUALLY_FRAME" val="{&quot;height&quot;:220.39000000000001,&quot;left&quot;:61.2,&quot;top&quot;:162,&quot;width&quot;:863.95}"/>
</p:tagLst>
</file>

<file path=ppt/tags/tag47.xml><?xml version="1.0" encoding="utf-8"?>
<p:tagLst xmlns:p="http://schemas.openxmlformats.org/presentationml/2006/main">
  <p:tag name="KSO_WM_DIAGRAM_VIRTUALLY_FRAME" val="{&quot;height&quot;:220.39000000000001,&quot;left&quot;:61.2,&quot;top&quot;:162,&quot;width&quot;:863.95}"/>
</p:tagLst>
</file>

<file path=ppt/tags/tag48.xml><?xml version="1.0" encoding="utf-8"?>
<p:tagLst xmlns:p="http://schemas.openxmlformats.org/presentationml/2006/main">
  <p:tag name="KSO_WM_DIAGRAM_VIRTUALLY_FRAME" val="{&quot;height&quot;:220.39000000000001,&quot;left&quot;:61.2,&quot;top&quot;:162,&quot;width&quot;:863.95}"/>
</p:tagLst>
</file>

<file path=ppt/tags/tag49.xml><?xml version="1.0" encoding="utf-8"?>
<p:tagLst xmlns:p="http://schemas.openxmlformats.org/presentationml/2006/main">
  <p:tag name="KSO_WM_DIAGRAM_VIRTUALLY_FRAME" val="{&quot;height&quot;:220.39000000000001,&quot;left&quot;:61.2,&quot;top&quot;:162,&quot;width&quot;:863.95}"/>
</p:tagLst>
</file>

<file path=ppt/tags/tag50.xml><?xml version="1.0" encoding="utf-8"?>
<p:tagLst xmlns:p="http://schemas.openxmlformats.org/presentationml/2006/main">
  <p:tag name="KSO_WM_DIAGRAM_VIRTUALLY_FRAME" val="{&quot;height&quot;:220.39000000000001,&quot;left&quot;:61.2,&quot;top&quot;:162,&quot;width&quot;:863.95}"/>
</p:tagLst>
</file>

<file path=ppt/tags/tag51.xml><?xml version="1.0" encoding="utf-8"?>
<p:tagLst xmlns:p="http://schemas.openxmlformats.org/presentationml/2006/main">
  <p:tag name="KSO_WM_DIAGRAM_VIRTUALLY_FRAME" val="{&quot;height&quot;:220.39000000000001,&quot;left&quot;:61.2,&quot;top&quot;:162,&quot;width&quot;:863.95}"/>
</p:tagLst>
</file>

<file path=ppt/tags/tag52.xml><?xml version="1.0" encoding="utf-8"?>
<p:tagLst xmlns:p="http://schemas.openxmlformats.org/presentationml/2006/main">
  <p:tag name="KSO_WM_DIAGRAM_VIRTUALLY_FRAME" val="{&quot;height&quot;:220.39000000000001,&quot;left&quot;:61.2,&quot;top&quot;:162,&quot;width&quot;:863.95}"/>
</p:tagLst>
</file>

<file path=ppt/tags/tag53.xml><?xml version="1.0" encoding="utf-8"?>
<p:tagLst xmlns:p="http://schemas.openxmlformats.org/presentationml/2006/main">
  <p:tag name="KSO_WM_DIAGRAM_VIRTUALLY_FRAME" val="{&quot;height&quot;:220.39000000000001,&quot;left&quot;:61.2,&quot;top&quot;:162,&quot;width&quot;:863.95}"/>
</p:tagLst>
</file>

<file path=ppt/tags/tag54.xml><?xml version="1.0" encoding="utf-8"?>
<p:tagLst xmlns:p="http://schemas.openxmlformats.org/presentationml/2006/main">
  <p:tag name="KSO_WM_DIAGRAM_VIRTUALLY_FRAME" val="{&quot;height&quot;:220.39000000000001,&quot;left&quot;:61.2,&quot;top&quot;:162,&quot;width&quot;:863.95}"/>
</p:tagLst>
</file>

<file path=ppt/tags/tag55.xml><?xml version="1.0" encoding="utf-8"?>
<p:tagLst xmlns:p="http://schemas.openxmlformats.org/presentationml/2006/main">
  <p:tag name="TABLE_ENDDRAG_ORIGIN_RECT" val="850*138"/>
  <p:tag name="TABLE_ENDDRAG_RECT" val="54*130*850*138"/>
</p:tagLst>
</file>

<file path=ppt/tags/tag56.xml><?xml version="1.0" encoding="utf-8"?>
<p:tagLst xmlns:p="http://schemas.openxmlformats.org/presentationml/2006/main">
  <p:tag name="KSO_WM_DIAGRAM_VIRTUALLY_FRAME" val="{&quot;height&quot;:392.7,&quot;left&quot;:50,&quot;top&quot;:140,&quot;width&quot;:886.85}"/>
</p:tagLst>
</file>

<file path=ppt/tags/tag57.xml><?xml version="1.0" encoding="utf-8"?>
<p:tagLst xmlns:p="http://schemas.openxmlformats.org/presentationml/2006/main">
  <p:tag name="KSO_WM_DIAGRAM_VIRTUALLY_FRAME" val="{&quot;height&quot;:392.7,&quot;left&quot;:50,&quot;top&quot;:140,&quot;width&quot;:886.85}"/>
</p:tagLst>
</file>

<file path=ppt/tags/tag58.xml><?xml version="1.0" encoding="utf-8"?>
<p:tagLst xmlns:p="http://schemas.openxmlformats.org/presentationml/2006/main">
  <p:tag name="KSO_WM_DIAGRAM_VIRTUALLY_FRAME" val="{&quot;height&quot;:392.7,&quot;left&quot;:50,&quot;top&quot;:140,&quot;width&quot;:886.85}"/>
</p:tagLst>
</file>

<file path=ppt/tags/tag59.xml><?xml version="1.0" encoding="utf-8"?>
<p:tagLst xmlns:p="http://schemas.openxmlformats.org/presentationml/2006/main">
  <p:tag name="KSO_WM_DIAGRAM_VIRTUALLY_FRAME" val="{&quot;height&quot;:392.7,&quot;left&quot;:50,&quot;top&quot;:140,&quot;width&quot;:886.85}"/>
</p:tagLst>
</file>

<file path=ppt/tags/tag60.xml><?xml version="1.0" encoding="utf-8"?>
<p:tagLst xmlns:p="http://schemas.openxmlformats.org/presentationml/2006/main">
  <p:tag name="KSO_WM_DIAGRAM_VIRTUALLY_FRAME" val="{&quot;height&quot;:392.7,&quot;left&quot;:50,&quot;top&quot;:140,&quot;width&quot;:886.85}"/>
</p:tagLst>
</file>

<file path=ppt/tags/tag61.xml><?xml version="1.0" encoding="utf-8"?>
<p:tagLst xmlns:p="http://schemas.openxmlformats.org/presentationml/2006/main">
  <p:tag name="KSO_WM_DIAGRAM_VIRTUALLY_FRAME" val="{&quot;height&quot;:392.7,&quot;left&quot;:50,&quot;top&quot;:140,&quot;width&quot;:886.85}"/>
</p:tagLst>
</file>

<file path=ppt/tags/tag62.xml><?xml version="1.0" encoding="utf-8"?>
<p:tagLst xmlns:p="http://schemas.openxmlformats.org/presentationml/2006/main">
  <p:tag name="KSO_WM_DIAGRAM_VIRTUALLY_FRAME" val="{&quot;height&quot;:392.7,&quot;left&quot;:50,&quot;top&quot;:140,&quot;width&quot;:886.85}"/>
</p:tagLst>
</file>

<file path=ppt/tags/tag63.xml><?xml version="1.0" encoding="utf-8"?>
<p:tagLst xmlns:p="http://schemas.openxmlformats.org/presentationml/2006/main">
  <p:tag name="KSO_WM_DIAGRAM_VIRTUALLY_FRAME" val="{&quot;height&quot;:392.7,&quot;left&quot;:50,&quot;top&quot;:140,&quot;width&quot;:886.85}"/>
</p:tagLst>
</file>

<file path=ppt/tags/tag64.xml><?xml version="1.0" encoding="utf-8"?>
<p:tagLst xmlns:p="http://schemas.openxmlformats.org/presentationml/2006/main">
  <p:tag name="KSO_WM_DIAGRAM_VIRTUALLY_FRAME" val="{&quot;height&quot;:340,&quot;left&quot;:50,&quot;top&quot;:140,&quot;width&quot;:565}"/>
</p:tagLst>
</file>

<file path=ppt/tags/tag65.xml><?xml version="1.0" encoding="utf-8"?>
<p:tagLst xmlns:p="http://schemas.openxmlformats.org/presentationml/2006/main">
  <p:tag name="KSO_WM_DIAGRAM_VIRTUALLY_FRAME" val="{&quot;height&quot;:340,&quot;left&quot;:50,&quot;top&quot;:140,&quot;width&quot;:565}"/>
</p:tagLst>
</file>

<file path=ppt/tags/tag66.xml><?xml version="1.0" encoding="utf-8"?>
<p:tagLst xmlns:p="http://schemas.openxmlformats.org/presentationml/2006/main">
  <p:tag name="KSO_WM_DIAGRAM_VIRTUALLY_FRAME" val="{&quot;height&quot;:340,&quot;left&quot;:50,&quot;top&quot;:140,&quot;width&quot;:565}"/>
</p:tagLst>
</file>

<file path=ppt/tags/tag67.xml><?xml version="1.0" encoding="utf-8"?>
<p:tagLst xmlns:p="http://schemas.openxmlformats.org/presentationml/2006/main">
  <p:tag name="KSO_WM_DIAGRAM_VIRTUALLY_FRAME" val="{&quot;height&quot;:340,&quot;left&quot;:50,&quot;top&quot;:140,&quot;width&quot;:565}"/>
</p:tagLst>
</file>

<file path=ppt/tags/tag68.xml><?xml version="1.0" encoding="utf-8"?>
<p:tagLst xmlns:p="http://schemas.openxmlformats.org/presentationml/2006/main">
  <p:tag name="KSO_WM_DIAGRAM_VIRTUALLY_FRAME" val="{&quot;height&quot;:340,&quot;left&quot;:50,&quot;top&quot;:140,&quot;width&quot;:565}"/>
</p:tagLst>
</file>

<file path=ppt/tags/tag69.xml><?xml version="1.0" encoding="utf-8"?>
<p:tagLst xmlns:p="http://schemas.openxmlformats.org/presentationml/2006/main">
  <p:tag name="KSO_WM_DIAGRAM_VIRTUALLY_FRAME" val="{&quot;height&quot;:340,&quot;left&quot;:50,&quot;top&quot;:140,&quot;width&quot;:565}"/>
</p:tagLst>
</file>

<file path=ppt/tags/tag70.xml><?xml version="1.0" encoding="utf-8"?>
<p:tagLst xmlns:p="http://schemas.openxmlformats.org/presentationml/2006/main">
  <p:tag name="KSO_WM_DIAGRAM_VIRTUALLY_FRAME" val="{&quot;height&quot;:340,&quot;left&quot;:50,&quot;top&quot;:140,&quot;width&quot;:565}"/>
</p:tagLst>
</file>

<file path=ppt/tags/tag71.xml><?xml version="1.0" encoding="utf-8"?>
<p:tagLst xmlns:p="http://schemas.openxmlformats.org/presentationml/2006/main">
  <p:tag name="KSO_WM_DIAGRAM_VIRTUALLY_FRAME" val="{&quot;height&quot;:340,&quot;left&quot;:50,&quot;top&quot;:140,&quot;width&quot;:565}"/>
</p:tagLst>
</file>

<file path=ppt/tags/tag72.xml><?xml version="1.0" encoding="utf-8"?>
<p:tagLst xmlns:p="http://schemas.openxmlformats.org/presentationml/2006/main">
  <p:tag name="KSO_WM_DIAGRAM_VIRTUALLY_FRAME" val="{&quot;height&quot;:340,&quot;left&quot;:50,&quot;top&quot;:140,&quot;width&quot;:860}"/>
</p:tagLst>
</file>

<file path=ppt/tags/tag73.xml><?xml version="1.0" encoding="utf-8"?>
<p:tagLst xmlns:p="http://schemas.openxmlformats.org/presentationml/2006/main">
  <p:tag name="KSO_WM_DIAGRAM_VIRTUALLY_FRAME" val="{&quot;height&quot;:340,&quot;left&quot;:50,&quot;top&quot;:140,&quot;width&quot;:860}"/>
</p:tagLst>
</file>

<file path=ppt/tags/tag74.xml><?xml version="1.0" encoding="utf-8"?>
<p:tagLst xmlns:p="http://schemas.openxmlformats.org/presentationml/2006/main">
  <p:tag name="KSO_WM_DIAGRAM_VIRTUALLY_FRAME" val="{&quot;height&quot;:340,&quot;left&quot;:50,&quot;top&quot;:140,&quot;width&quot;:860}"/>
</p:tagLst>
</file>

<file path=ppt/tags/tag75.xml><?xml version="1.0" encoding="utf-8"?>
<p:tagLst xmlns:p="http://schemas.openxmlformats.org/presentationml/2006/main">
  <p:tag name="KSO_WM_DIAGRAM_VIRTUALLY_FRAME" val="{&quot;height&quot;:340,&quot;left&quot;:50,&quot;top&quot;:140,&quot;width&quot;:860}"/>
</p:tagLst>
</file>

<file path=ppt/tags/tag76.xml><?xml version="1.0" encoding="utf-8"?>
<p:tagLst xmlns:p="http://schemas.openxmlformats.org/presentationml/2006/main">
  <p:tag name="KSO_WM_DIAGRAM_VIRTUALLY_FRAME" val="{&quot;height&quot;:340,&quot;left&quot;:50,&quot;top&quot;:140,&quot;width&quot;:860}"/>
</p:tagLst>
</file>

<file path=ppt/tags/tag77.xml><?xml version="1.0" encoding="utf-8"?>
<p:tagLst xmlns:p="http://schemas.openxmlformats.org/presentationml/2006/main">
  <p:tag name="KSO_WM_DIAGRAM_VIRTUALLY_FRAME" val="{&quot;height&quot;:340,&quot;left&quot;:50,&quot;top&quot;:140,&quot;width&quot;:860}"/>
</p:tagLst>
</file>

<file path=ppt/tags/tag78.xml><?xml version="1.0" encoding="utf-8"?>
<p:tagLst xmlns:p="http://schemas.openxmlformats.org/presentationml/2006/main">
  <p:tag name="KSO_WM_DIAGRAM_VIRTUALLY_FRAME" val="{&quot;height&quot;:340,&quot;left&quot;:50,&quot;top&quot;:140,&quot;width&quot;:860}"/>
</p:tagLst>
</file>

<file path=ppt/tags/tag79.xml><?xml version="1.0" encoding="utf-8"?>
<p:tagLst xmlns:p="http://schemas.openxmlformats.org/presentationml/2006/main">
  <p:tag name="KSO_WM_DIAGRAM_VIRTUALLY_FRAME" val="{&quot;height&quot;:340,&quot;left&quot;:50,&quot;top&quot;:140,&quot;width&quot;:860}"/>
</p:tagLst>
</file>

<file path=ppt/tags/tag80.xml><?xml version="1.0" encoding="utf-8"?>
<p:tagLst xmlns:p="http://schemas.openxmlformats.org/presentationml/2006/main">
  <p:tag name="KSO_WM_DIAGRAM_VIRTUALLY_FRAME" val="{&quot;height&quot;:340,&quot;left&quot;:50,&quot;top&quot;:140,&quot;width&quot;:860}"/>
</p:tagLst>
</file>

<file path=ppt/tags/tag81.xml><?xml version="1.0" encoding="utf-8"?>
<p:tagLst xmlns:p="http://schemas.openxmlformats.org/presentationml/2006/main">
  <p:tag name="KSO_WM_DIAGRAM_VIRTUALLY_FRAME" val="{&quot;height&quot;:340,&quot;left&quot;:50,&quot;top&quot;:140,&quot;width&quot;:860}"/>
</p:tagLst>
</file>

<file path=ppt/tags/tag82.xml><?xml version="1.0" encoding="utf-8"?>
<p:tagLst xmlns:p="http://schemas.openxmlformats.org/presentationml/2006/main">
  <p:tag name="KSO_WM_DIAGRAM_VIRTUALLY_FRAME" val="{&quot;height&quot;:340,&quot;left&quot;:50,&quot;top&quot;:140,&quot;width&quot;:860}"/>
</p:tagLst>
</file>

<file path=ppt/tags/tag83.xml><?xml version="1.0" encoding="utf-8"?>
<p:tagLst xmlns:p="http://schemas.openxmlformats.org/presentationml/2006/main">
  <p:tag name="KSO_WM_DIAGRAM_VIRTUALLY_FRAME" val="{&quot;height&quot;:340,&quot;left&quot;:50,&quot;top&quot;:140,&quot;width&quot;:860}"/>
</p:tagLst>
</file>

<file path=ppt/tags/tag84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85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86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87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88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89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90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91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92.xml><?xml version="1.0" encoding="utf-8"?>
<p:tagLst xmlns:p="http://schemas.openxmlformats.org/presentationml/2006/main">
  <p:tag name="KSO_WM_DIAGRAM_VIRTUALLY_FRAME" val="{&quot;height&quot;:337.05,&quot;left&quot;:655,&quot;top&quot;:121.2,&quot;width&quot;:260}"/>
</p:tagLst>
</file>

<file path=ppt/tags/tag93.xml><?xml version="1.0" encoding="utf-8"?>
<p:tagLst xmlns:p="http://schemas.openxmlformats.org/presentationml/2006/main">
  <p:tag name="KSO_WM_DIAGRAM_VIRTUALLY_FRAME" val="{&quot;height&quot;:337.05,&quot;left&quot;:655,&quot;top&quot;:121.2,&quot;width&quot;:260}"/>
</p:tagLst>
</file>

<file path=ppt/tags/tag94.xml><?xml version="1.0" encoding="utf-8"?>
<p:tagLst xmlns:p="http://schemas.openxmlformats.org/presentationml/2006/main">
  <p:tag name="KSO_WM_DIAGRAM_VIRTUALLY_FRAME" val="{&quot;height&quot;:337.05,&quot;left&quot;:655,&quot;top&quot;:121.2,&quot;width&quot;:260}"/>
</p:tagLst>
</file>

<file path=ppt/tags/tag95.xml><?xml version="1.0" encoding="utf-8"?>
<p:tagLst xmlns:p="http://schemas.openxmlformats.org/presentationml/2006/main">
  <p:tag name="KSO_WM_DIAGRAM_VIRTUALLY_FRAME" val="{&quot;height&quot;:337.05,&quot;left&quot;:655,&quot;top&quot;:121.2,&quot;width&quot;:260}"/>
</p:tagLst>
</file>

<file path=ppt/tags/tag96.xml><?xml version="1.0" encoding="utf-8"?>
<p:tagLst xmlns:p="http://schemas.openxmlformats.org/presentationml/2006/main">
  <p:tag name="KSO_WM_DIAGRAM_VIRTUALLY_FRAME" val="{&quot;height&quot;:337.05,&quot;left&quot;:655,&quot;top&quot;:121.2,&quot;width&quot;:260}"/>
</p:tagLst>
</file>

<file path=ppt/tags/tag97.xml><?xml version="1.0" encoding="utf-8"?>
<p:tagLst xmlns:p="http://schemas.openxmlformats.org/presentationml/2006/main">
  <p:tag name="KSO_WM_DIAGRAM_VIRTUALLY_FRAME" val="{&quot;height&quot;:337.05,&quot;left&quot;:655,&quot;top&quot;:121.2,&quot;width&quot;:260}"/>
</p:tagLst>
</file>

<file path=ppt/tags/tag98.xml><?xml version="1.0" encoding="utf-8"?>
<p:tagLst xmlns:p="http://schemas.openxmlformats.org/presentationml/2006/main">
  <p:tag name="KSO_WM_DIAGRAM_VIRTUALLY_FRAME" val="{&quot;height&quot;:337.05,&quot;left&quot;:655,&quot;top&quot;:121.2,&quot;width&quot;:260}"/>
</p:tagLst>
</file>

<file path=ppt/tags/tag99.xml><?xml version="1.0" encoding="utf-8"?>
<p:tagLst xmlns:p="http://schemas.openxmlformats.org/presentationml/2006/main">
  <p:tag name="KSO_WM_DIAGRAM_VIRTUALLY_FRAME" val="{&quot;height&quot;:337.05,&quot;left&quot;:655,&quot;top&quot;:121.2,&quot;width&quot;:260}"/>
</p:tagLst>
</file>

<file path=ppt/tags/tag100.xml><?xml version="1.0" encoding="utf-8"?>
<p:tagLst xmlns:p="http://schemas.openxmlformats.org/presentationml/2006/main">
  <p:tag name="KSO_WM_DIAGRAM_VIRTUALLY_FRAME" val="{&quot;height&quot;:337.05,&quot;left&quot;:655,&quot;top&quot;:121.2,&quot;width&quot;:260}"/>
</p:tagLst>
</file>

<file path=ppt/tags/tag101.xml><?xml version="1.0" encoding="utf-8"?>
<p:tagLst xmlns:p="http://schemas.openxmlformats.org/presentationml/2006/main">
  <p:tag name="KSO_WM_DIAGRAM_VIRTUALLY_FRAME" val="{&quot;height&quot;:337.05,&quot;left&quot;:655,&quot;top&quot;:121.2,&quot;width&quot;:260}"/>
</p:tagLst>
</file>

<file path=ppt/tags/tag102.xml><?xml version="1.0" encoding="utf-8"?>
<p:tagLst xmlns:p="http://schemas.openxmlformats.org/presentationml/2006/main">
  <p:tag name="KSO_WM_DIAGRAM_VIRTUALLY_FRAME" val="{&quot;height&quot;:337.05,&quot;left&quot;:655,&quot;top&quot;:121.2,&quot;width&quot;:260}"/>
</p:tagLst>
</file>

<file path=ppt/tags/tag103.xml><?xml version="1.0" encoding="utf-8"?>
<p:tagLst xmlns:p="http://schemas.openxmlformats.org/presentationml/2006/main">
  <p:tag name="KSO_WM_DIAGRAM_VIRTUALLY_FRAME" val="{&quot;height&quot;:337.05,&quot;left&quot;:655,&quot;top&quot;:121.2,&quot;width&quot;:260}"/>
</p:tagLst>
</file>

<file path=ppt/tags/tag104.xml><?xml version="1.0" encoding="utf-8"?>
<p:tagLst xmlns:p="http://schemas.openxmlformats.org/presentationml/2006/main">
  <p:tag name="KSO_WM_DIAGRAM_VIRTUALLY_FRAME" val="{&quot;height&quot;:280,&quot;left&quot;:50,&quot;top&quot;:130,&quot;width&quot;:860}"/>
</p:tagLst>
</file>

<file path=ppt/tags/tag105.xml><?xml version="1.0" encoding="utf-8"?>
<p:tagLst xmlns:p="http://schemas.openxmlformats.org/presentationml/2006/main">
  <p:tag name="KSO_WM_DIAGRAM_VIRTUALLY_FRAME" val="{&quot;height&quot;:280,&quot;left&quot;:50,&quot;top&quot;:130,&quot;width&quot;:860}"/>
</p:tagLst>
</file>

<file path=ppt/tags/tag106.xml><?xml version="1.0" encoding="utf-8"?>
<p:tagLst xmlns:p="http://schemas.openxmlformats.org/presentationml/2006/main">
  <p:tag name="KSO_WM_DIAGRAM_VIRTUALLY_FRAME" val="{&quot;height&quot;:280,&quot;left&quot;:50,&quot;top&quot;:130,&quot;width&quot;:860}"/>
</p:tagLst>
</file>

<file path=ppt/tags/tag107.xml><?xml version="1.0" encoding="utf-8"?>
<p:tagLst xmlns:p="http://schemas.openxmlformats.org/presentationml/2006/main">
  <p:tag name="KSO_WM_DIAGRAM_VIRTUALLY_FRAME" val="{&quot;height&quot;:280,&quot;left&quot;:50,&quot;top&quot;:130,&quot;width&quot;:860}"/>
</p:tagLst>
</file>

<file path=ppt/tags/tag108.xml><?xml version="1.0" encoding="utf-8"?>
<p:tagLst xmlns:p="http://schemas.openxmlformats.org/presentationml/2006/main">
  <p:tag name="KSO_WM_DIAGRAM_VIRTUALLY_FRAME" val="{&quot;height&quot;:280,&quot;left&quot;:50,&quot;top&quot;:130,&quot;width&quot;:860}"/>
</p:tagLst>
</file>

<file path=ppt/tags/tag109.xml><?xml version="1.0" encoding="utf-8"?>
<p:tagLst xmlns:p="http://schemas.openxmlformats.org/presentationml/2006/main">
  <p:tag name="KSO_WM_DIAGRAM_VIRTUALLY_FRAME" val="{&quot;height&quot;:280,&quot;left&quot;:50,&quot;top&quot;:130,&quot;width&quot;:860}"/>
</p:tagLst>
</file>

<file path=ppt/tags/tag110.xml><?xml version="1.0" encoding="utf-8"?>
<p:tagLst xmlns:p="http://schemas.openxmlformats.org/presentationml/2006/main">
  <p:tag name="KSO_WM_DIAGRAM_VIRTUALLY_FRAME" val="{&quot;height&quot;:280,&quot;left&quot;:50,&quot;top&quot;:130,&quot;width&quot;:860}"/>
</p:tagLst>
</file>

<file path=ppt/tags/tag111.xml><?xml version="1.0" encoding="utf-8"?>
<p:tagLst xmlns:p="http://schemas.openxmlformats.org/presentationml/2006/main">
  <p:tag name="KSO_WM_DIAGRAM_VIRTUALLY_FRAME" val="{&quot;height&quot;:280,&quot;left&quot;:50,&quot;top&quot;:130,&quot;width&quot;:860}"/>
</p:tagLst>
</file>

<file path=ppt/tags/tag112.xml><?xml version="1.0" encoding="utf-8"?>
<p:tagLst xmlns:p="http://schemas.openxmlformats.org/presentationml/2006/main">
  <p:tag name="KSO_WM_DIAGRAM_VIRTUALLY_FRAME" val="{&quot;height&quot;:280,&quot;left&quot;:50,&quot;top&quot;:130,&quot;width&quot;:860}"/>
</p:tagLst>
</file>

<file path=ppt/tags/tag113.xml><?xml version="1.0" encoding="utf-8"?>
<p:tagLst xmlns:p="http://schemas.openxmlformats.org/presentationml/2006/main">
  <p:tag name="KSO_WM_DIAGRAM_VIRTUALLY_FRAME" val="{&quot;height&quot;:280,&quot;left&quot;:50,&quot;top&quot;:130,&quot;width&quot;:860}"/>
</p:tagLst>
</file>

<file path=ppt/tags/tag114.xml><?xml version="1.0" encoding="utf-8"?>
<p:tagLst xmlns:p="http://schemas.openxmlformats.org/presentationml/2006/main">
  <p:tag name="KSO_WM_DIAGRAM_VIRTUALLY_FRAME" val="{&quot;height&quot;:280,&quot;left&quot;:50,&quot;top&quot;:130,&quot;width&quot;:860}"/>
</p:tagLst>
</file>

<file path=ppt/tags/tag115.xml><?xml version="1.0" encoding="utf-8"?>
<p:tagLst xmlns:p="http://schemas.openxmlformats.org/presentationml/2006/main">
  <p:tag name="KSO_WM_DIAGRAM_VIRTUALLY_FRAME" val="{&quot;height&quot;:280,&quot;left&quot;:50,&quot;top&quot;:130,&quot;width&quot;:860}"/>
</p:tagLst>
</file>

<file path=ppt/tags/tag116.xml><?xml version="1.0" encoding="utf-8"?>
<p:tagLst xmlns:p="http://schemas.openxmlformats.org/presentationml/2006/main">
  <p:tag name="KSO_WM_DIAGRAM_VIRTUALLY_FRAME" val="{&quot;height&quot;:280,&quot;left&quot;:50,&quot;top&quot;:130,&quot;width&quot;:860}"/>
</p:tagLst>
</file>

<file path=ppt/tags/tag117.xml><?xml version="1.0" encoding="utf-8"?>
<p:tagLst xmlns:p="http://schemas.openxmlformats.org/presentationml/2006/main">
  <p:tag name="KSO_WM_DIAGRAM_VIRTUALLY_FRAME" val="{&quot;height&quot;:280,&quot;left&quot;:50,&quot;top&quot;:130,&quot;width&quot;:860}"/>
</p:tagLst>
</file>

<file path=ppt/tags/tag118.xml><?xml version="1.0" encoding="utf-8"?>
<p:tagLst xmlns:p="http://schemas.openxmlformats.org/presentationml/2006/main">
  <p:tag name="KSO_WM_DIAGRAM_VIRTUALLY_FRAME" val="{&quot;height&quot;:280,&quot;left&quot;:50,&quot;top&quot;:130,&quot;width&quot;:860}"/>
</p:tagLst>
</file>

<file path=ppt/tags/tag119.xml><?xml version="1.0" encoding="utf-8"?>
<p:tagLst xmlns:p="http://schemas.openxmlformats.org/presentationml/2006/main">
  <p:tag name="KSO_WM_DIAGRAM_VIRTUALLY_FRAME" val="{&quot;height&quot;:280,&quot;left&quot;:50,&quot;top&quot;:130,&quot;width&quot;:860}"/>
</p:tagLst>
</file>

<file path=ppt/tags/tag120.xml><?xml version="1.0" encoding="utf-8"?>
<p:tagLst xmlns:p="http://schemas.openxmlformats.org/presentationml/2006/main">
  <p:tag name="KSO_WM_DIAGRAM_VIRTUALLY_FRAME" val="{&quot;height&quot;:280,&quot;left&quot;:50,&quot;top&quot;:130,&quot;width&quot;:860}"/>
</p:tagLst>
</file>

<file path=ppt/tags/tag121.xml><?xml version="1.0" encoding="utf-8"?>
<p:tagLst xmlns:p="http://schemas.openxmlformats.org/presentationml/2006/main">
  <p:tag name="KSO_WM_DIAGRAM_VIRTUALLY_FRAME" val="{&quot;height&quot;:280,&quot;left&quot;:50,&quot;top&quot;:130,&quot;width&quot;:860}"/>
</p:tagLst>
</file>

<file path=ppt/tags/tag122.xml><?xml version="1.0" encoding="utf-8"?>
<p:tagLst xmlns:p="http://schemas.openxmlformats.org/presentationml/2006/main">
  <p:tag name="KSO_WM_DIAGRAM_VIRTUALLY_FRAME" val="{&quot;height&quot;:280,&quot;left&quot;:50,&quot;top&quot;:130,&quot;width&quot;:860}"/>
</p:tagLst>
</file>

<file path=ppt/tags/tag123.xml><?xml version="1.0" encoding="utf-8"?>
<p:tagLst xmlns:p="http://schemas.openxmlformats.org/presentationml/2006/main">
  <p:tag name="KSO_WM_DIAGRAM_VIRTUALLY_FRAME" val="{&quot;height&quot;:280,&quot;left&quot;:50,&quot;top&quot;:130,&quot;width&quot;:860}"/>
</p:tagLst>
</file>

<file path=ppt/tags/tag124.xml><?xml version="1.0" encoding="utf-8"?>
<p:tagLst xmlns:p="http://schemas.openxmlformats.org/presentationml/2006/main">
  <p:tag name="KSO_WM_DIAGRAM_VIRTUALLY_FRAME" val="{&quot;height&quot;:280,&quot;left&quot;:50,&quot;top&quot;:130,&quot;width&quot;:860}"/>
</p:tagLst>
</file>

<file path=ppt/tags/tag125.xml><?xml version="1.0" encoding="utf-8"?>
<p:tagLst xmlns:p="http://schemas.openxmlformats.org/presentationml/2006/main">
  <p:tag name="KSO_WM_DIAGRAM_VIRTUALLY_FRAME" val="{&quot;height&quot;:280,&quot;left&quot;:50,&quot;top&quot;:130,&quot;width&quot;:860}"/>
</p:tagLst>
</file>

<file path=ppt/tags/tag126.xml><?xml version="1.0" encoding="utf-8"?>
<p:tagLst xmlns:p="http://schemas.openxmlformats.org/presentationml/2006/main">
  <p:tag name="KSO_WM_DIAGRAM_VIRTUALLY_FRAME" val="{&quot;height&quot;:280,&quot;left&quot;:50,&quot;top&quot;:130,&quot;width&quot;:860}"/>
</p:tagLst>
</file>

<file path=ppt/tags/tag127.xml><?xml version="1.0" encoding="utf-8"?>
<p:tagLst xmlns:p="http://schemas.openxmlformats.org/presentationml/2006/main">
  <p:tag name="KSO_WM_DIAGRAM_VIRTUALLY_FRAME" val="{&quot;height&quot;:280,&quot;left&quot;:50,&quot;top&quot;:130,&quot;width&quot;:860}"/>
</p:tagLst>
</file>

<file path=ppt/tags/tag128.xml><?xml version="1.0" encoding="utf-8"?>
<p:tagLst xmlns:p="http://schemas.openxmlformats.org/presentationml/2006/main">
  <p:tag name="KSO_WM_DIAGRAM_VIRTUALLY_FRAME" val="{&quot;height&quot;:260,&quot;left&quot;:460,&quot;top&quot;:130,&quot;width&quot;:450}"/>
</p:tagLst>
</file>

<file path=ppt/tags/tag129.xml><?xml version="1.0" encoding="utf-8"?>
<p:tagLst xmlns:p="http://schemas.openxmlformats.org/presentationml/2006/main">
  <p:tag name="KSO_WM_DIAGRAM_VIRTUALLY_FRAME" val="{&quot;height&quot;:260,&quot;left&quot;:460,&quot;top&quot;:130,&quot;width&quot;:450}"/>
</p:tagLst>
</file>

<file path=ppt/tags/tag130.xml><?xml version="1.0" encoding="utf-8"?>
<p:tagLst xmlns:p="http://schemas.openxmlformats.org/presentationml/2006/main">
  <p:tag name="KSO_WM_DIAGRAM_VIRTUALLY_FRAME" val="{&quot;height&quot;:260,&quot;left&quot;:460,&quot;top&quot;:130,&quot;width&quot;:450}"/>
</p:tagLst>
</file>

<file path=ppt/tags/tag131.xml><?xml version="1.0" encoding="utf-8"?>
<p:tagLst xmlns:p="http://schemas.openxmlformats.org/presentationml/2006/main">
  <p:tag name="KSO_WM_DIAGRAM_VIRTUALLY_FRAME" val="{&quot;height&quot;:260,&quot;left&quot;:460,&quot;top&quot;:130,&quot;width&quot;:450}"/>
</p:tagLst>
</file>

<file path=ppt/tags/tag132.xml><?xml version="1.0" encoding="utf-8"?>
<p:tagLst xmlns:p="http://schemas.openxmlformats.org/presentationml/2006/main">
  <p:tag name="KSO_WM_DIAGRAM_VIRTUALLY_FRAME" val="{&quot;height&quot;:260,&quot;left&quot;:460,&quot;top&quot;:130,&quot;width&quot;:450}"/>
</p:tagLst>
</file>

<file path=ppt/tags/tag133.xml><?xml version="1.0" encoding="utf-8"?>
<p:tagLst xmlns:p="http://schemas.openxmlformats.org/presentationml/2006/main">
  <p:tag name="KSO_WM_DIAGRAM_VIRTUALLY_FRAME" val="{&quot;height&quot;:260,&quot;left&quot;:460,&quot;top&quot;:130,&quot;width&quot;:450}"/>
</p:tagLst>
</file>

<file path=ppt/tags/tag134.xml><?xml version="1.0" encoding="utf-8"?>
<p:tagLst xmlns:p="http://schemas.openxmlformats.org/presentationml/2006/main">
  <p:tag name="KSO_WM_DIAGRAM_VIRTUALLY_FRAME" val="{&quot;height&quot;:260,&quot;left&quot;:460,&quot;top&quot;:130,&quot;width&quot;:450}"/>
</p:tagLst>
</file>

<file path=ppt/tags/tag135.xml><?xml version="1.0" encoding="utf-8"?>
<p:tagLst xmlns:p="http://schemas.openxmlformats.org/presentationml/2006/main">
  <p:tag name="KSO_WM_DIAGRAM_VIRTUALLY_FRAME" val="{&quot;height&quot;:260,&quot;left&quot;:460,&quot;top&quot;:130,&quot;width&quot;:450}"/>
</p:tagLst>
</file>

<file path=ppt/tags/tag136.xml><?xml version="1.0" encoding="utf-8"?>
<p:tagLst xmlns:p="http://schemas.openxmlformats.org/presentationml/2006/main">
  <p:tag name="KSO_WM_DIAGRAM_VIRTUALLY_FRAME" val="{&quot;height&quot;:260,&quot;left&quot;:460,&quot;top&quot;:130,&quot;width&quot;:450}"/>
</p:tagLst>
</file>

<file path=ppt/tags/tag137.xml><?xml version="1.0" encoding="utf-8"?>
<p:tagLst xmlns:p="http://schemas.openxmlformats.org/presentationml/2006/main">
  <p:tag name="KSO_WM_DIAGRAM_VIRTUALLY_FRAME" val="{&quot;height&quot;:260,&quot;left&quot;:460,&quot;top&quot;:130,&quot;width&quot;:450}"/>
</p:tagLst>
</file>

<file path=ppt/tags/tag138.xml><?xml version="1.0" encoding="utf-8"?>
<p:tagLst xmlns:p="http://schemas.openxmlformats.org/presentationml/2006/main">
  <p:tag name="KSO_WM_DIAGRAM_VIRTUALLY_FRAME" val="{&quot;height&quot;:260,&quot;left&quot;:460,&quot;top&quot;:130,&quot;width&quot;:450}"/>
</p:tagLst>
</file>

<file path=ppt/tags/tag139.xml><?xml version="1.0" encoding="utf-8"?>
<p:tagLst xmlns:p="http://schemas.openxmlformats.org/presentationml/2006/main">
  <p:tag name="KSO_WM_DIAGRAM_VIRTUALLY_FRAME" val="{&quot;height&quot;:260,&quot;left&quot;:460,&quot;top&quot;:130,&quot;width&quot;:450}"/>
</p:tagLst>
</file>

<file path=ppt/tags/tag140.xml><?xml version="1.0" encoding="utf-8"?>
<p:tagLst xmlns:p="http://schemas.openxmlformats.org/presentationml/2006/main">
  <p:tag name="TABLE_ENDDRAG_ORIGIN_RECT" val="560*299"/>
  <p:tag name="TABLE_ENDDRAG_RECT" val="50*135*560*300"/>
</p:tagLst>
</file>

<file path=ppt/tags/tag141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42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43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44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45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46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47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48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49.xml><?xml version="1.0" encoding="utf-8"?>
<p:tagLst xmlns:p="http://schemas.openxmlformats.org/presentationml/2006/main">
  <p:tag name="KSO_WM_DIAGRAM_VIRTUALLY_FRAME" val="{&quot;height&quot;:102.0472412109375,&quot;left&quot;:66.23999999999998,&quot;top&quot;:140.4,&quot;width&quot;:845.9999212598425}"/>
</p:tagLst>
</file>

<file path=ppt/tags/tag150.xml><?xml version="1.0" encoding="utf-8"?>
<p:tagLst xmlns:p="http://schemas.openxmlformats.org/presentationml/2006/main">
  <p:tag name="KSO_WM_DIAGRAM_VIRTUALLY_FRAME" val="{&quot;height&quot;:102.0472412109375,&quot;left&quot;:66.23999999999998,&quot;top&quot;:140.4,&quot;width&quot;:845.9999212598425}"/>
</p:tagLst>
</file>

<file path=ppt/tags/tag151.xml><?xml version="1.0" encoding="utf-8"?>
<p:tagLst xmlns:p="http://schemas.openxmlformats.org/presentationml/2006/main">
  <p:tag name="KSO_WM_DIAGRAM_VIRTUALLY_FRAME" val="{&quot;height&quot;:102.0472412109375,&quot;left&quot;:66.23999999999998,&quot;top&quot;:140.4,&quot;width&quot;:845.9999212598425}"/>
</p:tagLst>
</file>

<file path=ppt/tags/tag152.xml><?xml version="1.0" encoding="utf-8"?>
<p:tagLst xmlns:p="http://schemas.openxmlformats.org/presentationml/2006/main">
  <p:tag name="KSO_WM_DIAGRAM_VIRTUALLY_FRAME" val="{&quot;height&quot;:102.0472412109375,&quot;left&quot;:66.23999999999998,&quot;top&quot;:140.4,&quot;width&quot;:845.9999212598425}"/>
</p:tagLst>
</file>

<file path=ppt/tags/tag153.xml><?xml version="1.0" encoding="utf-8"?>
<p:tagLst xmlns:p="http://schemas.openxmlformats.org/presentationml/2006/main">
  <p:tag name="KSO_WM_DIAGRAM_VIRTUALLY_FRAME" val="{&quot;height&quot;:102.0472412109375,&quot;left&quot;:66.23999999999998,&quot;top&quot;:140.4,&quot;width&quot;:845.9999212598425}"/>
</p:tagLst>
</file>

<file path=ppt/tags/tag154.xml><?xml version="1.0" encoding="utf-8"?>
<p:tagLst xmlns:p="http://schemas.openxmlformats.org/presentationml/2006/main">
  <p:tag name="KSO_WM_DIAGRAM_VIRTUALLY_FRAME" val="{&quot;height&quot;:102.0472412109375,&quot;left&quot;:66.23999999999998,&quot;top&quot;:140.4,&quot;width&quot;:845.9999212598425}"/>
</p:tagLst>
</file>

<file path=ppt/tags/tag155.xml><?xml version="1.0" encoding="utf-8"?>
<p:tagLst xmlns:p="http://schemas.openxmlformats.org/presentationml/2006/main">
  <p:tag name="KSO_WM_DIAGRAM_VIRTUALLY_FRAME" val="{&quot;height&quot;:102.0472412109375,&quot;left&quot;:66.23999999999998,&quot;top&quot;:140.4,&quot;width&quot;:845.9999212598425}"/>
</p:tagLst>
</file>

<file path=ppt/tags/tag156.xml><?xml version="1.0" encoding="utf-8"?>
<p:tagLst xmlns:p="http://schemas.openxmlformats.org/presentationml/2006/main">
  <p:tag name="KSO_WM_DIAGRAM_VIRTUALLY_FRAME" val="{&quot;height&quot;:102.0472412109375,&quot;left&quot;:66.23999999999998,&quot;top&quot;:140.4,&quot;width&quot;:845.9999212598425}"/>
</p:tagLst>
</file>

<file path=ppt/tags/tag157.xml><?xml version="1.0" encoding="utf-8"?>
<p:tagLst xmlns:p="http://schemas.openxmlformats.org/presentationml/2006/main">
  <p:tag name="KSO_WM_DIAGRAM_VIRTUALLY_FRAME" val="{&quot;height&quot;:102.0472412109375,&quot;left&quot;:66.23999999999998,&quot;top&quot;:140.4,&quot;width&quot;:845.9999212598425}"/>
</p:tagLst>
</file>

<file path=ppt/tags/tag158.xml><?xml version="1.0" encoding="utf-8"?>
<p:tagLst xmlns:p="http://schemas.openxmlformats.org/presentationml/2006/main">
  <p:tag name="KSO_WM_DIAGRAM_VIRTUALLY_FRAME" val="{&quot;height&quot;:102.0472412109375,&quot;left&quot;:66.23999999999998,&quot;top&quot;:140.4,&quot;width&quot;:845.9999212598425}"/>
</p:tagLst>
</file>

<file path=ppt/tags/tag159.xml><?xml version="1.0" encoding="utf-8"?>
<p:tagLst xmlns:p="http://schemas.openxmlformats.org/presentationml/2006/main">
  <p:tag name="KSO_WM_DIAGRAM_VIRTUALLY_FRAME" val="{&quot;height&quot;:102.0472412109375,&quot;left&quot;:66.23999999999998,&quot;top&quot;:140.4,&quot;width&quot;:845.9999212598425}"/>
</p:tagLst>
</file>

<file path=ppt/tags/tag160.xml><?xml version="1.0" encoding="utf-8"?>
<p:tagLst xmlns:p="http://schemas.openxmlformats.org/presentationml/2006/main">
  <p:tag name="KSO_WM_DIAGRAM_VIRTUALLY_FRAME" val="{&quot;height&quot;:102.0472412109375,&quot;left&quot;:66.23999999999998,&quot;top&quot;:140.4,&quot;width&quot;:845.9999212598425}"/>
</p:tagLst>
</file>

<file path=ppt/tags/tag161.xml><?xml version="1.0" encoding="utf-8"?>
<p:tagLst xmlns:p="http://schemas.openxmlformats.org/presentationml/2006/main">
  <p:tag name="KSO_WM_DIAGRAM_VIRTUALLY_FRAME" val="{&quot;height&quot;:102.0472412109375,&quot;left&quot;:66.23999999999998,&quot;top&quot;:140.4,&quot;width&quot;:845.9999212598425}"/>
</p:tagLst>
</file>

<file path=ppt/tags/tag162.xml><?xml version="1.0" encoding="utf-8"?>
<p:tagLst xmlns:p="http://schemas.openxmlformats.org/presentationml/2006/main">
  <p:tag name="KSO_WM_DIAGRAM_VIRTUALLY_FRAME" val="{&quot;height&quot;:102.0472412109375,&quot;left&quot;:66.23999999999998,&quot;top&quot;:140.4,&quot;width&quot;:845.9999212598425}"/>
</p:tagLst>
</file>

<file path=ppt/tags/tag163.xml><?xml version="1.0" encoding="utf-8"?>
<p:tagLst xmlns:p="http://schemas.openxmlformats.org/presentationml/2006/main">
  <p:tag name="KSO_WM_DIAGRAM_VIRTUALLY_FRAME" val="{&quot;height&quot;:102.0472412109375,&quot;left&quot;:66.23999999999998,&quot;top&quot;:140.4,&quot;width&quot;:845.9999212598425}"/>
</p:tagLst>
</file>

<file path=ppt/tags/tag164.xml><?xml version="1.0" encoding="utf-8"?>
<p:tagLst xmlns:p="http://schemas.openxmlformats.org/presentationml/2006/main">
  <p:tag name="KSO_WM_DIAGRAM_VIRTUALLY_FRAME" val="{&quot;height&quot;:102.0472412109375,&quot;left&quot;:66.23999999999998,&quot;top&quot;:140.4,&quot;width&quot;:845.9999212598425}"/>
</p:tagLst>
</file>

<file path=ppt/tags/tag165.xml><?xml version="1.0" encoding="utf-8"?>
<p:tagLst xmlns:p="http://schemas.openxmlformats.org/presentationml/2006/main">
  <p:tag name="KSO_WM_DIAGRAM_VIRTUALLY_FRAME" val="{&quot;height&quot;:102.0472412109375,&quot;left&quot;:66.23999999999998,&quot;top&quot;:140.4,&quot;width&quot;:845.9999212598425}"/>
</p:tagLst>
</file>

<file path=ppt/tags/tag166.xml><?xml version="1.0" encoding="utf-8"?>
<p:tagLst xmlns:p="http://schemas.openxmlformats.org/presentationml/2006/main">
  <p:tag name="KSO_WM_DIAGRAM_VIRTUALLY_FRAME" val="{&quot;height&quot;:102.0472412109375,&quot;left&quot;:66.23999999999998,&quot;top&quot;:140.4,&quot;width&quot;:845.9999212598425}"/>
</p:tagLst>
</file>

<file path=ppt/tags/tag167.xml><?xml version="1.0" encoding="utf-8"?>
<p:tagLst xmlns:p="http://schemas.openxmlformats.org/presentationml/2006/main">
  <p:tag name="KSO_WM_DIAGRAM_VIRTUALLY_FRAME" val="{&quot;height&quot;:102.0472412109375,&quot;left&quot;:66.23999999999998,&quot;top&quot;:140.4,&quot;width&quot;:845.9999212598425}"/>
</p:tagLst>
</file>

<file path=ppt/tags/tag168.xml><?xml version="1.0" encoding="utf-8"?>
<p:tagLst xmlns:p="http://schemas.openxmlformats.org/presentationml/2006/main">
  <p:tag name="KSO_WM_DIAGRAM_VIRTUALLY_FRAME" val="{&quot;height&quot;:102.0472412109375,&quot;left&quot;:66.23999999999998,&quot;top&quot;:140.4,&quot;width&quot;:845.9999212598425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6_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7_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2_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5_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1_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7841</Words>
  <Application>WPS 演示</Application>
  <PresentationFormat/>
  <Paragraphs>1022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9</vt:i4>
      </vt:variant>
      <vt:variant>
        <vt:lpstr>幻灯片标题</vt:lpstr>
      </vt:variant>
      <vt:variant>
        <vt:i4>29</vt:i4>
      </vt:variant>
    </vt:vector>
  </HeadingPairs>
  <TitlesOfParts>
    <vt:vector size="46" baseType="lpstr">
      <vt:lpstr>Arial</vt:lpstr>
      <vt:lpstr>宋体</vt:lpstr>
      <vt:lpstr>Wingdings</vt:lpstr>
      <vt:lpstr>Arial</vt:lpstr>
      <vt:lpstr>微软雅黑</vt:lpstr>
      <vt:lpstr>Calibri</vt:lpstr>
      <vt:lpstr>Noto Sans SC</vt:lpstr>
      <vt:lpstr>Arial Unicode MS</vt:lpstr>
      <vt:lpstr>Office 主题​​</vt:lpstr>
      <vt:lpstr>自定义主题</vt:lpstr>
      <vt:lpstr>Office Theme</vt:lpstr>
      <vt:lpstr>3_自定义主题</vt:lpstr>
      <vt:lpstr>6_自定义主题</vt:lpstr>
      <vt:lpstr>7_自定义主题</vt:lpstr>
      <vt:lpstr>2_自定义主题</vt:lpstr>
      <vt:lpstr>5_自定义主题</vt:lpstr>
      <vt:lpstr>1_自定义主题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中达集团绩效型薪酬管理宣导·岗位指标分解篇</dc:title>
  <dc:creator/>
  <cp:lastModifiedBy>Andrés จุ๊บ</cp:lastModifiedBy>
  <cp:revision>44</cp:revision>
  <dcterms:created xsi:type="dcterms:W3CDTF">2026-09-14T03:51:00Z</dcterms:created>
  <dcterms:modified xsi:type="dcterms:W3CDTF">2026-09-16T16:56:28Z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{"Label":"1","ContentProducer":"001191110102MACQD9K64010000","ProduceID":"7685233556696255675","ReservedCode1":"","ContentPropagator":"","PropagateID":"","ReservedCode2":""}</vt:lpwstr>
  </property>
  <property fmtid="{D5CDD505-2E9C-101B-9397-08002B2CF9AE}" pid="3" name="ICV">
    <vt:lpwstr>E2AA7AB84A2C490D9695AD052A8D2CAE_13</vt:lpwstr>
  </property>
  <property fmtid="{D5CDD505-2E9C-101B-9397-08002B2CF9AE}" pid="4" name="KSOProductBuildVer">
    <vt:lpwstr>2052-12.1.0.28505</vt:lpwstr>
  </property>
</Properties>
</file>