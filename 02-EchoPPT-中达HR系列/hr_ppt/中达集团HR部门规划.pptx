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开场：今天汇报三件事——HR的分工是什么、招聘和绩效两套标准流程怎么建、BP怎么贴到业务身边。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目录页：第一部分看公司，第二部分讲分工，第三部分是三套可落地的模块方案。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先对齐公司画像：四大板块、关键数字都来自官网。阶段判断是后面所有HR规划的出发点——公司进入二次增长期，组织要跟上。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四个现实：秋招已经启动、行业抢人、多据点管理半径、年轻队伍。HR规划就是回答这四件事。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回答『HR到底干啥』：COE造武器、HRBP上一线、SSC管后勤。三个支柱各司其职，后面的模块按这套分工展开。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招聘标准两层：第一层价值观红线（正道利他真实情义），第二层能力画像。不同序列侧重不同，校招看潜力。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社招一条线、校招一条线。给管理层的承诺是SLA：48小时启动、3天反馈、3天审批。校招8.31已发布，Q4全力冲刺。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四条理念：对齐业务、轻形式重反馈、激励向一线、发展导向。扁平年轻团队，绩效要轻但反馈不能少。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绩效五步闭环，每步都有动作和产出。落地节奏：先在直播团队试点（正逢大促季），12月修订，明年1月全员推行。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BP的定位：不做二传手，做业务身边的HR。四大角色对应四类日常动作，上岗有三条硬标准。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三步走：Q4先打赢秋招和大促两场仗，Q1把制度和标准立起来，Q2起形成完整体系。每阶段都有交付物可验收。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收尾：HR的所有工作最终指向一句话——成就幸福中达。谢谢，欢迎讨论。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32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B997B9">
              <a:alpha val="1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149840" y="2834640"/>
            <a:ext cx="3840480" cy="3840480"/>
          </a:xfrm>
          <a:prstGeom prst="ellipse">
            <a:avLst/>
          </a:prstGeom>
          <a:solidFill>
            <a:srgbClr val="C078A8">
              <a:alpha val="14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920240" y="4480560"/>
            <a:ext cx="4937760" cy="4937760"/>
          </a:xfrm>
          <a:prstGeom prst="ellipse">
            <a:avLst/>
          </a:prstGeom>
          <a:solidFill>
            <a:srgbClr val="B997B9">
              <a:alpha val="12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822960" y="1417320"/>
            <a:ext cx="3977640" cy="365760"/>
          </a:xfrm>
          <a:prstGeom prst="roundRect">
            <a:avLst>
              <a:gd name="adj" fmla="val 50000"/>
            </a:avLst>
          </a:prstGeom>
          <a:solidFill>
            <a:srgbClr val="5A4368"/>
          </a:solidFill>
        </p:spPr>
      </p:sp>
      <p:sp>
        <p:nvSpPr>
          <p:cNvPr id="6" name="Text 4"/>
          <p:cNvSpPr/>
          <p:nvPr/>
        </p:nvSpPr>
        <p:spPr>
          <a:xfrm>
            <a:off x="822960" y="1417320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D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XIAMEN ZHONGDA GROUP · HR DEPARTMENT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9659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厦门中达集团 · 人力资源部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HR部门工作规划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41248" y="37033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8C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看清分工 · 建好标准 · 贴近业务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41248" y="422452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A3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管理层汇报 ｜ 2026年9月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6035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正道 · 利他 · 真实 · 情义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0352" y="1828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30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3383280" y="1216152"/>
            <a:ext cx="1234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4800600" y="1161288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认识中达</a:t>
            </a:r>
            <a:endParaRPr lang="en-US" sz="24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4800600" y="1709928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我们在一家什么样的公司做HR：业务版图、发展阶段与当前处境</a:t>
            </a:r>
            <a:endParaRPr lang="en-US" sz="140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3383280" y="2514600"/>
            <a:ext cx="832104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3383280" y="2816352"/>
            <a:ext cx="1234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7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4800600" y="2761488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HR的</a:t>
            </a:r>
            <a:r>
              <a:rPr lang="zh-CN" altLang="en-US" sz="24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职能</a:t>
            </a:r>
            <a:endParaRPr lang="zh-CN" altLang="en-US" sz="2400" b="1" dirty="0">
              <a:solidFill>
                <a:srgbClr val="3A2F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4800600" y="3310128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三支柱内部分工：COE定规则 · HRBP贴业务 · SSC管事务</a:t>
            </a:r>
            <a:endParaRPr lang="en-US" sz="1400" dirty="0"/>
          </a:p>
        </p:txBody>
      </p:sp>
      <p:sp>
        <p:nvSpPr>
          <p:cNvPr id="11" name="Shape 9"/>
          <p:cNvSpPr/>
          <p:nvPr>
            <p:custDataLst>
              <p:tags r:id="rId8"/>
            </p:custDataLst>
          </p:nvPr>
        </p:nvSpPr>
        <p:spPr>
          <a:xfrm>
            <a:off x="3383280" y="4114800"/>
            <a:ext cx="832104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3383280" y="4416552"/>
            <a:ext cx="1234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800600" y="4361688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分模块规划</a:t>
            </a:r>
            <a:endParaRPr lang="en-US" sz="2400" dirty="0"/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4800600" y="4910328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招聘的标准与流程 · 绩效的理念与流程 · HRBP的标准与职责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认识中达：产研销一体的美妆电商集团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2014年成立，以电商产业园为载体、以品牌美妆为核心，深耕内容电商12年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2014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761488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集团成立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44368" y="201168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10万㎡+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944368" y="2761488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园区运营总面积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15亿+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4178808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自营年销售额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44368" y="342900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2000+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944368" y="4178808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服务数字企业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32120" y="2029968"/>
            <a:ext cx="128016" cy="128016"/>
          </a:xfrm>
          <a:prstGeom prst="ellipse">
            <a:avLst/>
          </a:prstGeom>
          <a:solidFill>
            <a:srgbClr val="C078A8"/>
          </a:solidFill>
        </p:spPr>
      </p:sp>
      <p:sp>
        <p:nvSpPr>
          <p:cNvPr id="15" name="Text 13"/>
          <p:cNvSpPr/>
          <p:nvPr/>
        </p:nvSpPr>
        <p:spPr>
          <a:xfrm>
            <a:off x="5806440" y="1938528"/>
            <a:ext cx="5852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中达电商园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806440" y="2286000"/>
            <a:ext cx="5852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双国家级基地，园区服务的起家盘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532120" y="2825496"/>
            <a:ext cx="128016" cy="128016"/>
          </a:xfrm>
          <a:prstGeom prst="ellipse">
            <a:avLst/>
          </a:prstGeom>
          <a:solidFill>
            <a:srgbClr val="C078A8"/>
          </a:solidFill>
        </p:spPr>
      </p:sp>
      <p:sp>
        <p:nvSpPr>
          <p:cNvPr id="18" name="Text 16"/>
          <p:cNvSpPr/>
          <p:nvPr/>
        </p:nvSpPr>
        <p:spPr>
          <a:xfrm>
            <a:off x="5806440" y="2734056"/>
            <a:ext cx="5852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云创直播小镇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806440" y="3081528"/>
            <a:ext cx="5852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厦门市重点项目，「短视频+直播」电商板块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532120" y="3621024"/>
            <a:ext cx="128016" cy="128016"/>
          </a:xfrm>
          <a:prstGeom prst="ellipse">
            <a:avLst/>
          </a:prstGeom>
          <a:solidFill>
            <a:srgbClr val="C078A8"/>
          </a:solidFill>
        </p:spPr>
      </p:sp>
      <p:sp>
        <p:nvSpPr>
          <p:cNvPr id="21" name="Text 19"/>
          <p:cNvSpPr/>
          <p:nvPr/>
        </p:nvSpPr>
        <p:spPr>
          <a:xfrm>
            <a:off x="5806440" y="3529584"/>
            <a:ext cx="5852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小树美 × 合拍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806440" y="3877056"/>
            <a:ext cx="5852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自有美妆品牌：抖音唇油榜TOP1 · 最快年销破3亿国货彩妆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532120" y="4416552"/>
            <a:ext cx="128016" cy="128016"/>
          </a:xfrm>
          <a:prstGeom prst="ellipse">
            <a:avLst/>
          </a:prstGeom>
          <a:solidFill>
            <a:srgbClr val="C078A8"/>
          </a:solidFill>
        </p:spPr>
      </p:sp>
      <p:sp>
        <p:nvSpPr>
          <p:cNvPr id="24" name="Text 22"/>
          <p:cNvSpPr/>
          <p:nvPr/>
        </p:nvSpPr>
        <p:spPr>
          <a:xfrm>
            <a:off x="5806440" y="4325112"/>
            <a:ext cx="5852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潼欣园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806440" y="4672584"/>
            <a:ext cx="5852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数字传媒星级服务商，信息服务年收入近11亿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5120640"/>
            <a:ext cx="11274552" cy="685800"/>
          </a:xfrm>
          <a:prstGeom prst="roundRect">
            <a:avLst>
              <a:gd name="adj" fmla="val 16000"/>
            </a:avLst>
          </a:prstGeom>
          <a:solidFill>
            <a:srgbClr val="B997B9"/>
          </a:solidFill>
        </p:spPr>
      </p:sp>
      <p:sp>
        <p:nvSpPr>
          <p:cNvPr id="27" name="Text 25"/>
          <p:cNvSpPr/>
          <p:nvPr/>
        </p:nvSpPr>
        <p:spPr>
          <a:xfrm>
            <a:off x="457200" y="512064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当前阶段：集团化二次增长期 —— 多品牌 × 多平台 × 多地点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资料来源：中达集团官网 xmzoda.com（2026年9月）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当前面对的四个现实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743200" cy="3977640"/>
          </a:xfrm>
          <a:prstGeom prst="roundRect">
            <a:avLst>
              <a:gd name="adj" fmla="val 4000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8745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2395728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秋招战役已打响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31272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D80018"/>
          </a:solidFill>
        </p:spPr>
      </p:sp>
      <p:sp>
        <p:nvSpPr>
          <p:cNvPr id="9" name="Text 7"/>
          <p:cNvSpPr/>
          <p:nvPr/>
        </p:nvSpPr>
        <p:spPr>
          <a:xfrm>
            <a:off x="713232" y="3127248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8.31 已启动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3611880"/>
            <a:ext cx="2267712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27届校招首批发8个岗位，覆盖厦门、广州、杭州、长沙，Q4是抢人窗口期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5029200"/>
            <a:ext cx="2267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抖音运营 · 天猫运营 · 直播运营 · 美妆产品开发…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01568" y="1600200"/>
            <a:ext cx="2743200" cy="3977640"/>
          </a:xfrm>
          <a:prstGeom prst="roundRect">
            <a:avLst>
              <a:gd name="adj" fmla="val 4000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18745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57600" y="2395728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人才争夺白热化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57600" y="3200400"/>
            <a:ext cx="2267712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抖音美妆红海竞争、头部排位动荡，运营与内容人才高流动，薪酬成长双比价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45936" y="1600200"/>
            <a:ext cx="2743200" cy="3977640"/>
          </a:xfrm>
          <a:prstGeom prst="roundRect">
            <a:avLst>
              <a:gd name="adj" fmla="val 4000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01968" y="18745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01968" y="2395728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管理半径拉长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01968" y="3200400"/>
            <a:ext cx="2267712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多品牌 × 多平台 × 4城据点，一线需要「贴身」的HR响应，不能凡事等总部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90304" y="1600200"/>
            <a:ext cx="2743200" cy="3977640"/>
          </a:xfrm>
          <a:prstGeom prst="roundRect">
            <a:avLst>
              <a:gd name="adj" fmla="val 4000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46336" y="18745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546336" y="2395728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队伍年轻 · 用工弹性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546336" y="3200400"/>
            <a:ext cx="2267712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直播大促节奏波动大，年轻人看重成长与氛围，保留激励与弹性用工成常态考题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58978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注：基于官网及公开信息的分析判断，供管理层讨论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HR到底干啥的：三支柱分工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上接战略 · 中接业务 · 下接员工 —— HR不是打杂的，是一套分工明确的支撑体系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12140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272491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定规则 · 专家中心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3154680"/>
            <a:ext cx="3017520" cy="0"/>
          </a:xfrm>
          <a:prstGeom prst="line">
            <a:avLst/>
          </a:prstGeom>
          <a:noFill/>
          <a:ln w="12700">
            <a:solidFill>
              <a:srgbClr val="DFD2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3465576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11" name="Text 9"/>
          <p:cNvSpPr/>
          <p:nvPr/>
        </p:nvSpPr>
        <p:spPr>
          <a:xfrm>
            <a:off x="969264" y="340156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招聘与绩效标准设计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" y="3922776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13" name="Text 11"/>
          <p:cNvSpPr/>
          <p:nvPr/>
        </p:nvSpPr>
        <p:spPr>
          <a:xfrm>
            <a:off x="969264" y="385876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薪酬激励方案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" y="4379976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15" name="Text 13"/>
          <p:cNvSpPr/>
          <p:nvPr/>
        </p:nvSpPr>
        <p:spPr>
          <a:xfrm>
            <a:off x="969264" y="431596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人才发展与晋升体系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473659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B997B9"/>
          </a:solidFill>
        </p:spPr>
      </p:sp>
      <p:sp>
        <p:nvSpPr>
          <p:cNvPr id="17" name="Text 15"/>
          <p:cNvSpPr/>
          <p:nvPr/>
        </p:nvSpPr>
        <p:spPr>
          <a:xfrm>
            <a:off x="749808" y="473659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造武器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88536" y="18745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81144" y="212140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7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HRBP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581144" y="272491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贴业务 · 业务伙伴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81144" y="3154680"/>
            <a:ext cx="3017520" cy="0"/>
          </a:xfrm>
          <a:prstGeom prst="line">
            <a:avLst/>
          </a:prstGeom>
          <a:noFill/>
          <a:ln w="12700">
            <a:solidFill>
              <a:srgbClr val="DFD2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9432" y="3465576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3" name="Text 21"/>
          <p:cNvSpPr/>
          <p:nvPr/>
        </p:nvSpPr>
        <p:spPr>
          <a:xfrm>
            <a:off x="4800600" y="340156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驻电商事业部与直播间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99432" y="3922776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5" name="Text 23"/>
          <p:cNvSpPr/>
          <p:nvPr/>
        </p:nvSpPr>
        <p:spPr>
          <a:xfrm>
            <a:off x="4800600" y="385876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政策落地与执行跟进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99432" y="4379976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7" name="Text 25"/>
          <p:cNvSpPr/>
          <p:nvPr/>
        </p:nvSpPr>
        <p:spPr>
          <a:xfrm>
            <a:off x="4800600" y="431596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一线声音反馈总部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81144" y="473659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C078A8"/>
          </a:solidFill>
        </p:spPr>
      </p:sp>
      <p:sp>
        <p:nvSpPr>
          <p:cNvPr id="29" name="Text 27"/>
          <p:cNvSpPr/>
          <p:nvPr/>
        </p:nvSpPr>
        <p:spPr>
          <a:xfrm>
            <a:off x="4581144" y="473659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上一线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16168" y="473659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7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本报告重点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19872" y="18745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12480" y="212140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SSC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8412480" y="272491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管事务 · 共享服务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412480" y="3154680"/>
            <a:ext cx="3017520" cy="0"/>
          </a:xfrm>
          <a:prstGeom prst="line">
            <a:avLst/>
          </a:prstGeom>
          <a:noFill/>
          <a:ln w="12700">
            <a:solidFill>
              <a:srgbClr val="DFD2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3465576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36" name="Text 34"/>
          <p:cNvSpPr/>
          <p:nvPr/>
        </p:nvSpPr>
        <p:spPr>
          <a:xfrm>
            <a:off x="8631936" y="340156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入离职与员工服务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430768" y="3922776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38" name="Text 36"/>
          <p:cNvSpPr/>
          <p:nvPr/>
        </p:nvSpPr>
        <p:spPr>
          <a:xfrm>
            <a:off x="8631936" y="385876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社保公积金与考勤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430768" y="4379976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40" name="Text 38"/>
          <p:cNvSpPr/>
          <p:nvPr/>
        </p:nvSpPr>
        <p:spPr>
          <a:xfrm>
            <a:off x="8631936" y="431596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人事数据与档案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412480" y="473659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B997B9"/>
          </a:solidFill>
        </p:spPr>
      </p:sp>
      <p:sp>
        <p:nvSpPr>
          <p:cNvPr id="42" name="Text 40"/>
          <p:cNvSpPr/>
          <p:nvPr/>
        </p:nvSpPr>
        <p:spPr>
          <a:xfrm>
            <a:off x="8412480" y="473659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管后勤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56235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三支柱协同：让每位员工从入职到成长都有人管、有标准、有回应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EEF5"/>
          </a:solidFill>
        </p:spPr>
      </p:sp>
      <p:sp>
        <p:nvSpPr>
          <p:cNvPr id="3" name="Text 1"/>
          <p:cNvSpPr/>
          <p:nvPr/>
        </p:nvSpPr>
        <p:spPr>
          <a:xfrm>
            <a:off x="457200" y="438912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模块一 · 招聘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招聘标准：先看价值观，再看能力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4160520" cy="2606040"/>
          </a:xfrm>
          <a:prstGeom prst="roundRect">
            <a:avLst>
              <a:gd name="adj" fmla="val 4211"/>
            </a:avLst>
          </a:prstGeom>
          <a:solidFill>
            <a:srgbClr val="453252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87452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第一标准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价值观匹配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3D2E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正道 · 利他 · 真实 · 情义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27355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3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面试必问 · 背调必查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7033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80018"/>
          </a:solidFill>
        </p:spPr>
      </p:sp>
      <p:sp>
        <p:nvSpPr>
          <p:cNvPr id="13" name="Text 11"/>
          <p:cNvSpPr/>
          <p:nvPr/>
        </p:nvSpPr>
        <p:spPr>
          <a:xfrm>
            <a:off x="777240" y="3703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不诚信：一票否决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人才画像（官网人才理念）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锐意进取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720840" y="21031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想打胜仗、能扛目标，跟得上大促节奏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2624328"/>
            <a:ext cx="667512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80720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求真务实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720840" y="28529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用数据说话、不玩虚的，结果导向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3374136"/>
            <a:ext cx="667512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557016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创造力强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720840" y="360273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内容与玩法的源头活水，匹配年轻团队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5EEF5"/>
          </a:solidFill>
        </p:spPr>
      </p:sp>
      <p:sp>
        <p:nvSpPr>
          <p:cNvPr id="24" name="Text 22"/>
          <p:cNvSpPr/>
          <p:nvPr/>
        </p:nvSpPr>
        <p:spPr>
          <a:xfrm>
            <a:off x="731520" y="47365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业务运营类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5138928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懂数据、懂平台玩法：抖音 / 天猫 / 拼多多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88536" y="45262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5EEF5"/>
          </a:solidFill>
        </p:spPr>
      </p:sp>
      <p:sp>
        <p:nvSpPr>
          <p:cNvPr id="27" name="Text 25"/>
          <p:cNvSpPr/>
          <p:nvPr/>
        </p:nvSpPr>
        <p:spPr>
          <a:xfrm>
            <a:off x="4562856" y="47365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品牌运营类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62856" y="5138928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懂审美、懂内容创意，做出品牌感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9872" y="45262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5EEF5"/>
          </a:solidFill>
        </p:spPr>
      </p:sp>
      <p:sp>
        <p:nvSpPr>
          <p:cNvPr id="30" name="Text 28"/>
          <p:cNvSpPr/>
          <p:nvPr/>
        </p:nvSpPr>
        <p:spPr>
          <a:xfrm>
            <a:off x="8394192" y="47365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校招批量化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94192" y="5138928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潜力＞经验，看文化契合与可塑性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EEF5"/>
          </a:solidFill>
        </p:spPr>
      </p:sp>
      <p:sp>
        <p:nvSpPr>
          <p:cNvPr id="3" name="Text 1"/>
          <p:cNvSpPr/>
          <p:nvPr/>
        </p:nvSpPr>
        <p:spPr>
          <a:xfrm>
            <a:off x="457200" y="438912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模块一 · 招聘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招聘流程：社招通用线 + 校招专线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2057400" cy="1645920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1810512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9" name="Text 7"/>
          <p:cNvSpPr/>
          <p:nvPr/>
        </p:nvSpPr>
        <p:spPr>
          <a:xfrm>
            <a:off x="694944" y="1810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" y="2286000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需求确认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94944" y="26517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编制与JD，业务负责人签认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23744" y="228600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61488" y="1627632"/>
            <a:ext cx="2057400" cy="1645920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99232" y="1810512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15" name="Text 13"/>
          <p:cNvSpPr/>
          <p:nvPr/>
        </p:nvSpPr>
        <p:spPr>
          <a:xfrm>
            <a:off x="2999232" y="1810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99232" y="2286000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寻访候选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999232" y="26517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内推 / 平台 / 猎头 / 校招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28032" y="228600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65776" y="1627632"/>
            <a:ext cx="2057400" cy="1645920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1810512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1" name="Text 19"/>
          <p:cNvSpPr/>
          <p:nvPr/>
        </p:nvSpPr>
        <p:spPr>
          <a:xfrm>
            <a:off x="5303520" y="1810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286000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面试评估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303520" y="26517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HR面+业务面，2轮闭环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32320" y="228600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370064" y="1627632"/>
            <a:ext cx="2057400" cy="1645920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07808" y="1810512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7" name="Text 25"/>
          <p:cNvSpPr/>
          <p:nvPr/>
        </p:nvSpPr>
        <p:spPr>
          <a:xfrm>
            <a:off x="7607808" y="1810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07808" y="2286000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Offer审批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607808" y="26517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3个工作日内完成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436608" y="228600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9674352" y="1627632"/>
            <a:ext cx="2057400" cy="1645920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912096" y="1810512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33" name="Text 31"/>
          <p:cNvSpPr/>
          <p:nvPr/>
        </p:nvSpPr>
        <p:spPr>
          <a:xfrm>
            <a:off x="9912096" y="1810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912096" y="2286000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入职融入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9912096" y="26517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背调后入职，导师带教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3456432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SLA承诺：需求确认48小时内启动 · 面试反馈3个工作日 · Offer审批3个工作日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7200" y="39776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C078A8"/>
          </a:solidFill>
        </p:spPr>
      </p:sp>
      <p:sp>
        <p:nvSpPr>
          <p:cNvPr id="38" name="Text 36"/>
          <p:cNvSpPr/>
          <p:nvPr/>
        </p:nvSpPr>
        <p:spPr>
          <a:xfrm>
            <a:off x="457200" y="3977640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27届校招专线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94560" y="397764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7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8个岗位 · 4城同步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14400" y="4956048"/>
            <a:ext cx="9966960" cy="0"/>
          </a:xfrm>
          <a:prstGeom prst="line">
            <a:avLst/>
          </a:prstGeom>
          <a:noFill/>
          <a:ln w="25400">
            <a:solidFill>
              <a:srgbClr val="B997B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" y="4873752"/>
            <a:ext cx="164592" cy="164592"/>
          </a:xfrm>
          <a:prstGeom prst="ellipse">
            <a:avLst/>
          </a:prstGeom>
          <a:solidFill>
            <a:srgbClr val="C078A8"/>
          </a:solidFill>
          <a:ln w="25400">
            <a:solidFill>
              <a:srgbClr val="C078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4988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7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8月底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0" y="513892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职位发布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2825496" y="48737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997B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93392" y="44988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9–10月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993392" y="513892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宣讲·笔试·面试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818888" y="48737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997B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86784" y="44988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11月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986784" y="513892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发放Offer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812280" y="48737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997B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0176" y="44988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寒假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980176" y="513892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实习见习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8805672" y="48737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997B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73568" y="44988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2027.7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973568" y="513892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入职报到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10799064" y="48737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997B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66960" y="44988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入职后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966960" y="513892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第7期集训营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457200" y="58064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校招集训营已连续举办6期，是中达校招培养的成熟打法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EEF5"/>
          </a:solidFill>
        </p:spPr>
      </p:sp>
      <p:sp>
        <p:nvSpPr>
          <p:cNvPr id="3" name="Text 1"/>
          <p:cNvSpPr/>
          <p:nvPr/>
        </p:nvSpPr>
        <p:spPr>
          <a:xfrm>
            <a:off x="457200" y="438912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模块二 · 绩效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绩效理念：跟着业务节奏走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/ 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37944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对齐业务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258568"/>
            <a:ext cx="7498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目标跟着GMV与大促节奏走，全员打同一场仗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15768"/>
            <a:ext cx="841248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16936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71600" y="2862072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轻形式 · 重反馈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337560"/>
            <a:ext cx="7498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扁平管理、拒绝繁文缛节，反馈月月有回音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41248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95928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71600" y="3941064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激励向一线倾斜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416552"/>
            <a:ext cx="7498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奖金提成向直播间与运营一线倾斜，多劳多得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873752"/>
            <a:ext cx="841248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074920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71600" y="5020056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发展导向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5495544"/>
            <a:ext cx="7498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绩效是成长的镜子，不是年终审判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464040" y="1920240"/>
            <a:ext cx="2267712" cy="3566160"/>
          </a:xfrm>
          <a:prstGeom prst="roundRect">
            <a:avLst>
              <a:gd name="adj" fmla="val 4839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46920" y="239572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7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1–2次/年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646920" y="303580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晋升述职通道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10928" y="347472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官网承诺的晋升节奏，绩效结果直接挂钩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829800" y="4645152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B997B9"/>
          </a:solidFill>
        </p:spPr>
      </p:sp>
      <p:sp>
        <p:nvSpPr>
          <p:cNvPr id="27" name="Text 25"/>
          <p:cNvSpPr/>
          <p:nvPr/>
        </p:nvSpPr>
        <p:spPr>
          <a:xfrm>
            <a:off x="9829800" y="4645152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事事有回应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EEF5"/>
          </a:solidFill>
        </p:spPr>
      </p:sp>
      <p:sp>
        <p:nvSpPr>
          <p:cNvPr id="3" name="Text 1"/>
          <p:cNvSpPr/>
          <p:nvPr/>
        </p:nvSpPr>
        <p:spPr>
          <a:xfrm>
            <a:off x="457200" y="438912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模块二 · 绩效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绩效流程：五步闭环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 / 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1938528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9" name="Text 7"/>
          <p:cNvSpPr/>
          <p:nvPr/>
        </p:nvSpPr>
        <p:spPr>
          <a:xfrm>
            <a:off x="694944" y="19385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" y="245059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目标设定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94944" y="2852928"/>
            <a:ext cx="16276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季度目标：OKR对齐 + KPI量化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23744" y="269748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61488" y="173736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99232" y="1938528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15" name="Text 13"/>
          <p:cNvSpPr/>
          <p:nvPr/>
        </p:nvSpPr>
        <p:spPr>
          <a:xfrm>
            <a:off x="2999232" y="19385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99232" y="245059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过程跟进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999232" y="2852928"/>
            <a:ext cx="16276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月度回顾，大促专项复盘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269748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65776" y="173736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1938528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1" name="Text 19"/>
          <p:cNvSpPr/>
          <p:nvPr/>
        </p:nvSpPr>
        <p:spPr>
          <a:xfrm>
            <a:off x="5303520" y="19385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45059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评估校准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303520" y="2852928"/>
            <a:ext cx="16276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自评+上级评，校准会拉齐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269748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370064" y="173736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07808" y="1938528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7" name="Text 25"/>
          <p:cNvSpPr/>
          <p:nvPr/>
        </p:nvSpPr>
        <p:spPr>
          <a:xfrm>
            <a:off x="7607808" y="19385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07808" y="245059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反馈面谈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607808" y="2852928"/>
            <a:ext cx="16276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一人一谈，面向成长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36608" y="269748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9674352" y="173736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912096" y="1938528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33" name="Text 31"/>
          <p:cNvSpPr/>
          <p:nvPr/>
        </p:nvSpPr>
        <p:spPr>
          <a:xfrm>
            <a:off x="9912096" y="19385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912096" y="245059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结果应用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912096" y="2852928"/>
            <a:ext cx="16276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奖金 / 调薪 / 晋升 / 淘汰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703052" y="4114800"/>
            <a:ext cx="0" cy="411480"/>
          </a:xfrm>
          <a:prstGeom prst="line">
            <a:avLst/>
          </a:prstGeom>
          <a:noFill/>
          <a:ln w="19050">
            <a:solidFill>
              <a:srgbClr val="B997B9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485900" y="4526280"/>
            <a:ext cx="9217152" cy="0"/>
          </a:xfrm>
          <a:prstGeom prst="line">
            <a:avLst/>
          </a:prstGeom>
          <a:noFill/>
          <a:ln w="19050">
            <a:solidFill>
              <a:srgbClr val="B997B9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485900" y="4114800"/>
            <a:ext cx="0" cy="411480"/>
          </a:xfrm>
          <a:prstGeom prst="line">
            <a:avLst/>
          </a:prstGeom>
          <a:noFill/>
          <a:ln w="19050">
            <a:solidFill>
              <a:srgbClr val="B997B9"/>
            </a:solidFill>
            <a:prstDash val="dash"/>
            <a:headEnd type="triangle"/>
          </a:ln>
        </p:spPr>
      </p:sp>
      <p:sp>
        <p:nvSpPr>
          <p:cNvPr id="39" name="Text 37"/>
          <p:cNvSpPr/>
          <p:nvPr/>
        </p:nvSpPr>
        <p:spPr>
          <a:xfrm>
            <a:off x="4956048" y="45902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进入下一绩效周期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525780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落地节奏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783080" y="5212080"/>
            <a:ext cx="3127248" cy="640080"/>
          </a:xfrm>
          <a:prstGeom prst="roundRect">
            <a:avLst>
              <a:gd name="adj" fmla="val 17143"/>
            </a:avLst>
          </a:prstGeom>
          <a:solidFill>
            <a:srgbClr val="F5EEF5"/>
          </a:solidFill>
        </p:spPr>
      </p:sp>
      <p:sp>
        <p:nvSpPr>
          <p:cNvPr id="42" name="Text 40"/>
          <p:cNvSpPr/>
          <p:nvPr/>
        </p:nvSpPr>
        <p:spPr>
          <a:xfrm>
            <a:off x="1783080" y="5212080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10–11月 直播团队试点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093208" y="5212080"/>
            <a:ext cx="3127248" cy="640080"/>
          </a:xfrm>
          <a:prstGeom prst="roundRect">
            <a:avLst>
              <a:gd name="adj" fmla="val 17143"/>
            </a:avLst>
          </a:prstGeom>
          <a:solidFill>
            <a:srgbClr val="F5EEF5"/>
          </a:solidFill>
        </p:spPr>
      </p:sp>
      <p:sp>
        <p:nvSpPr>
          <p:cNvPr id="44" name="Text 42"/>
          <p:cNvSpPr/>
          <p:nvPr/>
        </p:nvSpPr>
        <p:spPr>
          <a:xfrm>
            <a:off x="5093208" y="5212080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12月 复盘修订 V1.0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403336" y="5212080"/>
            <a:ext cx="3127248" cy="640080"/>
          </a:xfrm>
          <a:prstGeom prst="roundRect">
            <a:avLst>
              <a:gd name="adj" fmla="val 17143"/>
            </a:avLst>
          </a:prstGeom>
          <a:solidFill>
            <a:srgbClr val="B997B9"/>
          </a:solidFill>
        </p:spPr>
      </p:sp>
      <p:sp>
        <p:nvSpPr>
          <p:cNvPr id="46" name="Text 44"/>
          <p:cNvSpPr/>
          <p:nvPr/>
        </p:nvSpPr>
        <p:spPr>
          <a:xfrm>
            <a:off x="8403336" y="5212080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2027年1月 全员推行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EEF5"/>
          </a:solidFill>
        </p:spPr>
      </p:sp>
      <p:sp>
        <p:nvSpPr>
          <p:cNvPr id="3" name="Text 1"/>
          <p:cNvSpPr/>
          <p:nvPr/>
        </p:nvSpPr>
        <p:spPr>
          <a:xfrm>
            <a:off x="457200" y="438912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模块三 · HRBP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HRBP：业务身边的HR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453252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为什么需要BP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8096" y="2624328"/>
            <a:ext cx="91440" cy="91440"/>
          </a:xfrm>
          <a:prstGeom prst="ellipse">
            <a:avLst/>
          </a:prstGeom>
          <a:solidFill>
            <a:srgbClr val="C078A8"/>
          </a:solidFill>
        </p:spPr>
      </p:sp>
      <p:sp>
        <p:nvSpPr>
          <p:cNvPr id="10" name="Text 8"/>
          <p:cNvSpPr/>
          <p:nvPr/>
        </p:nvSpPr>
        <p:spPr>
          <a:xfrm>
            <a:off x="969264" y="2487168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DC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多品牌 × 多平台 × 4城据点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8096" y="3374136"/>
            <a:ext cx="91440" cy="91440"/>
          </a:xfrm>
          <a:prstGeom prst="ellipse">
            <a:avLst/>
          </a:prstGeom>
          <a:solidFill>
            <a:srgbClr val="C078A8"/>
          </a:solidFill>
        </p:spPr>
      </p:sp>
      <p:sp>
        <p:nvSpPr>
          <p:cNvPr id="12" name="Text 10"/>
          <p:cNvSpPr/>
          <p:nvPr/>
        </p:nvSpPr>
        <p:spPr>
          <a:xfrm>
            <a:off x="969264" y="3236976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DC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直播业务：日销 + 大促双节奏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8096" y="4123944"/>
            <a:ext cx="91440" cy="91440"/>
          </a:xfrm>
          <a:prstGeom prst="ellipse">
            <a:avLst/>
          </a:prstGeom>
          <a:solidFill>
            <a:srgbClr val="C078A8"/>
          </a:solidFill>
        </p:spPr>
      </p:sp>
      <p:sp>
        <p:nvSpPr>
          <p:cNvPr id="14" name="Text 12"/>
          <p:cNvSpPr/>
          <p:nvPr/>
        </p:nvSpPr>
        <p:spPr>
          <a:xfrm>
            <a:off x="969264" y="3986784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DC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一线要的是「听得懂业务」的HR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0" y="1627632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0" y="18288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战略伙伴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97680" y="2249424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参与业务规划，提前做人力盘点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73568" y="1627632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47888" y="18288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变革推动者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47888" y="2249424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新据点落地、组织调整的推动引擎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23360" y="3319272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97680" y="352044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员工支持者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297680" y="3941064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沟通关怀、留任与劳动关系第一责任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73568" y="3319272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47888" y="352044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流程守护者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47888" y="3941064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招聘绩效文化在一线落地不走样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507492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上岗标准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783080" y="5047488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5EEF5"/>
          </a:solidFill>
        </p:spPr>
      </p:sp>
      <p:sp>
        <p:nvSpPr>
          <p:cNvPr id="29" name="Text 27"/>
          <p:cNvSpPr/>
          <p:nvPr/>
        </p:nvSpPr>
        <p:spPr>
          <a:xfrm>
            <a:off x="1783080" y="5047488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懂业务 · 看得懂GMV·ROI·投放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93208" y="5047488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5EEF5"/>
          </a:solidFill>
        </p:spPr>
      </p:sp>
      <p:sp>
        <p:nvSpPr>
          <p:cNvPr id="31" name="Text 29"/>
          <p:cNvSpPr/>
          <p:nvPr/>
        </p:nvSpPr>
        <p:spPr>
          <a:xfrm>
            <a:off x="5093208" y="5047488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懂人心 · 听得了真话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403336" y="5047488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5EEF5"/>
          </a:solidFill>
        </p:spPr>
      </p:sp>
      <p:sp>
        <p:nvSpPr>
          <p:cNvPr id="33" name="Text 31"/>
          <p:cNvSpPr/>
          <p:nvPr/>
        </p:nvSpPr>
        <p:spPr>
          <a:xfrm>
            <a:off x="8403336" y="5047488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懂专业 · 模块功底扎实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57607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日常动作：周业务会必到 · 月度人才盘点 · 季度员工访谈全覆盖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推进节奏：三步走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5740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C078A8"/>
          </a:solidFill>
        </p:spPr>
      </p:sp>
      <p:sp>
        <p:nvSpPr>
          <p:cNvPr id="7" name="Text 5"/>
          <p:cNvSpPr/>
          <p:nvPr/>
        </p:nvSpPr>
        <p:spPr>
          <a:xfrm>
            <a:off x="749808" y="2057400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Q4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606040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打胜仗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68096" y="3538728"/>
            <a:ext cx="91440" cy="91440"/>
          </a:xfrm>
          <a:prstGeom prst="ellipse">
            <a:avLst/>
          </a:prstGeom>
          <a:solidFill>
            <a:srgbClr val="C078A8"/>
          </a:solidFill>
        </p:spPr>
      </p:sp>
      <p:sp>
        <p:nvSpPr>
          <p:cNvPr id="10" name="Text 8"/>
          <p:cNvSpPr/>
          <p:nvPr/>
        </p:nvSpPr>
        <p:spPr>
          <a:xfrm>
            <a:off x="969264" y="340156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27届校招冲刺：宣讲 · 笔面 · Offer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8096" y="4197096"/>
            <a:ext cx="91440" cy="91440"/>
          </a:xfrm>
          <a:prstGeom prst="ellipse">
            <a:avLst/>
          </a:prstGeom>
          <a:solidFill>
            <a:srgbClr val="C078A8"/>
          </a:solidFill>
        </p:spPr>
      </p:sp>
      <p:sp>
        <p:nvSpPr>
          <p:cNvPr id="12" name="Text 10"/>
          <p:cNvSpPr/>
          <p:nvPr/>
        </p:nvSpPr>
        <p:spPr>
          <a:xfrm>
            <a:off x="969264" y="405993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大促季绩效试点（直播团队）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8096" y="4855464"/>
            <a:ext cx="91440" cy="91440"/>
          </a:xfrm>
          <a:prstGeom prst="ellipse">
            <a:avLst/>
          </a:prstGeom>
          <a:solidFill>
            <a:srgbClr val="C078A8"/>
          </a:solidFill>
        </p:spPr>
      </p:sp>
      <p:sp>
        <p:nvSpPr>
          <p:cNvPr id="14" name="Text 12"/>
          <p:cNvSpPr/>
          <p:nvPr/>
        </p:nvSpPr>
        <p:spPr>
          <a:xfrm>
            <a:off x="969264" y="471830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4城据点HRBP全部到岗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69080" y="3383280"/>
            <a:ext cx="2377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88536" y="178308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81144" y="205740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B997B9"/>
          </a:solidFill>
        </p:spPr>
      </p:sp>
      <p:sp>
        <p:nvSpPr>
          <p:cNvPr id="18" name="Text 16"/>
          <p:cNvSpPr/>
          <p:nvPr/>
        </p:nvSpPr>
        <p:spPr>
          <a:xfrm>
            <a:off x="4581144" y="2057400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2027 Q1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81144" y="2606040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立规矩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99432" y="3538728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1" name="Text 19"/>
          <p:cNvSpPr/>
          <p:nvPr/>
        </p:nvSpPr>
        <p:spPr>
          <a:xfrm>
            <a:off x="4800600" y="340156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招聘标准手册发布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99432" y="4197096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3" name="Text 21"/>
          <p:cNvSpPr/>
          <p:nvPr/>
        </p:nvSpPr>
        <p:spPr>
          <a:xfrm>
            <a:off x="4800600" y="405993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绩效方案V1.0全员推行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99432" y="4855464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5" name="Text 23"/>
          <p:cNvSpPr/>
          <p:nvPr/>
        </p:nvSpPr>
        <p:spPr>
          <a:xfrm>
            <a:off x="4800600" y="471830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SSC一站式员工服务上线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00416" y="3383280"/>
            <a:ext cx="2377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997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119872" y="178308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12480" y="205740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B997B9"/>
          </a:solidFill>
        </p:spPr>
      </p:sp>
      <p:sp>
        <p:nvSpPr>
          <p:cNvPr id="29" name="Text 27"/>
          <p:cNvSpPr/>
          <p:nvPr/>
        </p:nvSpPr>
        <p:spPr>
          <a:xfrm>
            <a:off x="8412480" y="2057400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2027 Q2起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0" y="2606040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成体系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8430768" y="3538728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32" name="Text 30"/>
          <p:cNvSpPr/>
          <p:nvPr/>
        </p:nvSpPr>
        <p:spPr>
          <a:xfrm>
            <a:off x="8631936" y="340156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BP驻场4城全覆盖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430768" y="4197096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34" name="Text 32"/>
          <p:cNvSpPr/>
          <p:nvPr/>
        </p:nvSpPr>
        <p:spPr>
          <a:xfrm>
            <a:off x="8631936" y="405993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人才盘点 + 晋升述职跑通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430768" y="4855464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36" name="Text 34"/>
          <p:cNvSpPr/>
          <p:nvPr/>
        </p:nvSpPr>
        <p:spPr>
          <a:xfrm>
            <a:off x="8631936" y="471830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F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校招集训营第7期开营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58978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5E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先打仗、再建制、后成体系——每一步都有可验收的交付物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32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B997B9">
              <a:alpha val="1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149840" y="2834640"/>
            <a:ext cx="3840480" cy="3840480"/>
          </a:xfrm>
          <a:prstGeom prst="ellipse">
            <a:avLst/>
          </a:prstGeom>
          <a:solidFill>
            <a:srgbClr val="C078A8">
              <a:alpha val="14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920240" y="4480560"/>
            <a:ext cx="4937760" cy="4937760"/>
          </a:xfrm>
          <a:prstGeom prst="ellipse">
            <a:avLst/>
          </a:prstGeom>
          <a:solidFill>
            <a:srgbClr val="B997B9">
              <a:alpha val="12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成就幸福中达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200" dirty="0">
                <a:solidFill>
                  <a:srgbClr val="C9B3C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Achieve Happiness in Zhongda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75888" y="4114800"/>
            <a:ext cx="1078992" cy="475488"/>
          </a:xfrm>
          <a:prstGeom prst="roundRect">
            <a:avLst>
              <a:gd name="adj" fmla="val 50000"/>
            </a:avLst>
          </a:prstGeom>
          <a:solidFill>
            <a:srgbClr val="5A4368"/>
          </a:solidFill>
        </p:spPr>
      </p:sp>
      <p:sp>
        <p:nvSpPr>
          <p:cNvPr id="8" name="Text 6"/>
          <p:cNvSpPr/>
          <p:nvPr/>
        </p:nvSpPr>
        <p:spPr>
          <a:xfrm>
            <a:off x="3675888" y="4114800"/>
            <a:ext cx="107899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D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74336" y="4114800"/>
            <a:ext cx="1078992" cy="475488"/>
          </a:xfrm>
          <a:prstGeom prst="roundRect">
            <a:avLst>
              <a:gd name="adj" fmla="val 50000"/>
            </a:avLst>
          </a:prstGeom>
          <a:solidFill>
            <a:srgbClr val="5A4368"/>
          </a:solidFill>
        </p:spPr>
      </p:sp>
      <p:sp>
        <p:nvSpPr>
          <p:cNvPr id="10" name="Text 8"/>
          <p:cNvSpPr/>
          <p:nvPr/>
        </p:nvSpPr>
        <p:spPr>
          <a:xfrm>
            <a:off x="4974336" y="4114800"/>
            <a:ext cx="107899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D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72784" y="4114800"/>
            <a:ext cx="1078992" cy="475488"/>
          </a:xfrm>
          <a:prstGeom prst="roundRect">
            <a:avLst>
              <a:gd name="adj" fmla="val 50000"/>
            </a:avLst>
          </a:prstGeom>
          <a:solidFill>
            <a:srgbClr val="5A4368"/>
          </a:solidFill>
        </p:spPr>
      </p:sp>
      <p:sp>
        <p:nvSpPr>
          <p:cNvPr id="12" name="Text 10"/>
          <p:cNvSpPr/>
          <p:nvPr/>
        </p:nvSpPr>
        <p:spPr>
          <a:xfrm>
            <a:off x="6272784" y="4114800"/>
            <a:ext cx="107899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D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71232" y="4114800"/>
            <a:ext cx="1078992" cy="475488"/>
          </a:xfrm>
          <a:prstGeom prst="roundRect">
            <a:avLst>
              <a:gd name="adj" fmla="val 50000"/>
            </a:avLst>
          </a:prstGeom>
          <a:solidFill>
            <a:srgbClr val="5A4368"/>
          </a:solidFill>
        </p:spPr>
      </p:sp>
      <p:sp>
        <p:nvSpPr>
          <p:cNvPr id="14" name="Text 12"/>
          <p:cNvSpPr/>
          <p:nvPr/>
        </p:nvSpPr>
        <p:spPr>
          <a:xfrm>
            <a:off x="7571232" y="4114800"/>
            <a:ext cx="107899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D8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A3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厦门中达集团 人力资源部 · 2026年9月</a:t>
            </a:r>
            <a:endParaRPr lang="en-US" sz="13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1.19999999999993,&quot;left&quot;:266.4,&quot;top&quot;:91.44,&quot;width&quot;:655.2}"/>
</p:tagLst>
</file>

<file path=ppt/tags/tag2.xml><?xml version="1.0" encoding="utf-8"?>
<p:tagLst xmlns:p="http://schemas.openxmlformats.org/presentationml/2006/main">
  <p:tag name="KSO_WM_DIAGRAM_VIRTUALLY_FRAME" val="{&quot;height&quot;:331.19999999999993,&quot;left&quot;:266.4,&quot;top&quot;:91.44,&quot;width&quot;:655.2}"/>
</p:tagLst>
</file>

<file path=ppt/tags/tag3.xml><?xml version="1.0" encoding="utf-8"?>
<p:tagLst xmlns:p="http://schemas.openxmlformats.org/presentationml/2006/main">
  <p:tag name="KSO_WM_DIAGRAM_VIRTUALLY_FRAME" val="{&quot;height&quot;:331.19999999999993,&quot;left&quot;:266.4,&quot;top&quot;:91.44,&quot;width&quot;:655.2}"/>
</p:tagLst>
</file>

<file path=ppt/tags/tag4.xml><?xml version="1.0" encoding="utf-8"?>
<p:tagLst xmlns:p="http://schemas.openxmlformats.org/presentationml/2006/main">
  <p:tag name="KSO_WM_DIAGRAM_VIRTUALLY_FRAME" val="{&quot;height&quot;:331.19999999999993,&quot;left&quot;:266.4,&quot;top&quot;:91.44,&quot;width&quot;:655.2}"/>
</p:tagLst>
</file>

<file path=ppt/tags/tag5.xml><?xml version="1.0" encoding="utf-8"?>
<p:tagLst xmlns:p="http://schemas.openxmlformats.org/presentationml/2006/main">
  <p:tag name="KSO_WM_DIAGRAM_VIRTUALLY_FRAME" val="{&quot;height&quot;:331.19999999999993,&quot;left&quot;:266.4,&quot;top&quot;:91.44,&quot;width&quot;:655.2}"/>
</p:tagLst>
</file>

<file path=ppt/tags/tag6.xml><?xml version="1.0" encoding="utf-8"?>
<p:tagLst xmlns:p="http://schemas.openxmlformats.org/presentationml/2006/main">
  <p:tag name="KSO_WM_DIAGRAM_VIRTUALLY_FRAME" val="{&quot;height&quot;:331.19999999999993,&quot;left&quot;:266.4,&quot;top&quot;:91.44,&quot;width&quot;:655.2}"/>
</p:tagLst>
</file>

<file path=ppt/tags/tag7.xml><?xml version="1.0" encoding="utf-8"?>
<p:tagLst xmlns:p="http://schemas.openxmlformats.org/presentationml/2006/main">
  <p:tag name="KSO_WM_DIAGRAM_VIRTUALLY_FRAME" val="{&quot;height&quot;:331.19999999999993,&quot;left&quot;:266.4,&quot;top&quot;:91.44,&quot;width&quot;:655.2}"/>
</p:tagLst>
</file>

<file path=ppt/tags/tag8.xml><?xml version="1.0" encoding="utf-8"?>
<p:tagLst xmlns:p="http://schemas.openxmlformats.org/presentationml/2006/main">
  <p:tag name="KSO_WM_DIAGRAM_VIRTUALLY_FRAME" val="{&quot;height&quot;:331.19999999999993,&quot;left&quot;:266.4,&quot;top&quot;:91.44,&quot;width&quot;:655.2}"/>
</p:tagLst>
</file>

<file path=ppt/tags/tag9.xml><?xml version="1.0" encoding="utf-8"?>
<p:tagLst xmlns:p="http://schemas.openxmlformats.org/presentationml/2006/main">
  <p:tag name="KSO_WM_DIAGRAM_VIRTUALLY_FRAME" val="{&quot;height&quot;:331.19999999999993,&quot;left&quot;:266.4,&quot;top&quot;:91.44,&quot;width&quot;:655.2}"/>
</p:tagLst>
</file>

<file path=ppt/tags/tag10.xml><?xml version="1.0" encoding="utf-8"?>
<p:tagLst xmlns:p="http://schemas.openxmlformats.org/presentationml/2006/main">
  <p:tag name="KSO_WM_DIAGRAM_VIRTUALLY_FRAME" val="{&quot;height&quot;:331.19999999999993,&quot;left&quot;:266.4,&quot;top&quot;:91.44,&quot;width&quot;:655.2}"/>
</p:tagLst>
</file>

<file path=ppt/tags/tag11.xml><?xml version="1.0" encoding="utf-8"?>
<p:tagLst xmlns:p="http://schemas.openxmlformats.org/presentationml/2006/main">
  <p:tag name="KSO_WM_DIAGRAM_VIRTUALLY_FRAME" val="{&quot;height&quot;:331.19999999999993,&quot;left&quot;:266.4,&quot;top&quot;:91.44,&quot;width&quot;:655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2475</Words>
  <Application>WPS 演示</Application>
  <PresentationFormat>On-screen Show (16:9)</PresentationFormat>
  <Paragraphs>482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Zhongda Group HR Plan</dc:title>
  <dc:creator>HR Department</dc:creator>
  <dc:subject>PptxGenJS Presentation</dc:subject>
  <cp:lastModifiedBy>Andrés จุ๊บ</cp:lastModifiedBy>
  <cp:revision>2</cp:revision>
  <dcterms:created xsi:type="dcterms:W3CDTF">2026-09-01T14:06:00Z</dcterms:created>
  <dcterms:modified xsi:type="dcterms:W3CDTF">2026-09-02T01:23:11Z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08C84884A1F744CF88E32C8A3497DF4F_12</vt:lpwstr>
  </property>
  <property fmtid="{D5CDD505-2E9C-101B-9397-08002B2CF9AE}" pid="3" name="KSOProductBuildVer">
    <vt:lpwstr>2052-12.1.0.23125</vt:lpwstr>
  </property>
</Properties>
</file>